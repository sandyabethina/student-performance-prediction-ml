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4" r:id="rId1"/>
  </p:sldMasterIdLst>
  <p:notesMasterIdLst>
    <p:notesMasterId r:id="rId50"/>
  </p:notesMasterIdLst>
  <p:sldIdLst>
    <p:sldId id="256" r:id="rId2"/>
    <p:sldId id="304" r:id="rId3"/>
    <p:sldId id="305" r:id="rId4"/>
    <p:sldId id="257" r:id="rId5"/>
    <p:sldId id="258" r:id="rId6"/>
    <p:sldId id="259" r:id="rId7"/>
    <p:sldId id="260" r:id="rId8"/>
    <p:sldId id="262" r:id="rId9"/>
    <p:sldId id="306" r:id="rId10"/>
    <p:sldId id="263" r:id="rId11"/>
    <p:sldId id="264" r:id="rId12"/>
    <p:sldId id="265" r:id="rId13"/>
    <p:sldId id="266" r:id="rId14"/>
    <p:sldId id="307" r:id="rId15"/>
    <p:sldId id="267" r:id="rId16"/>
    <p:sldId id="268" r:id="rId17"/>
    <p:sldId id="269" r:id="rId18"/>
    <p:sldId id="270" r:id="rId19"/>
    <p:sldId id="271" r:id="rId20"/>
    <p:sldId id="282" r:id="rId21"/>
    <p:sldId id="312" r:id="rId22"/>
    <p:sldId id="308" r:id="rId23"/>
    <p:sldId id="284" r:id="rId24"/>
    <p:sldId id="285" r:id="rId25"/>
    <p:sldId id="297" r:id="rId26"/>
    <p:sldId id="286" r:id="rId27"/>
    <p:sldId id="287" r:id="rId28"/>
    <p:sldId id="298" r:id="rId29"/>
    <p:sldId id="288" r:id="rId30"/>
    <p:sldId id="289" r:id="rId31"/>
    <p:sldId id="299" r:id="rId32"/>
    <p:sldId id="290" r:id="rId33"/>
    <p:sldId id="291" r:id="rId34"/>
    <p:sldId id="300" r:id="rId35"/>
    <p:sldId id="292" r:id="rId36"/>
    <p:sldId id="293" r:id="rId37"/>
    <p:sldId id="301" r:id="rId38"/>
    <p:sldId id="309" r:id="rId39"/>
    <p:sldId id="294" r:id="rId40"/>
    <p:sldId id="295" r:id="rId41"/>
    <p:sldId id="296" r:id="rId42"/>
    <p:sldId id="302" r:id="rId43"/>
    <p:sldId id="303" r:id="rId44"/>
    <p:sldId id="310" r:id="rId45"/>
    <p:sldId id="311" r:id="rId46"/>
    <p:sldId id="277" r:id="rId47"/>
    <p:sldId id="278" r:id="rId48"/>
    <p:sldId id="281"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7.svg"/></Relationships>
</file>

<file path=ppt/diagrams/_rels/data8.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7.svg"/></Relationships>
</file>

<file path=ppt/diagrams/_rels/drawing8.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D0174E-EE7F-4445-92E1-32E2AF632A6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3499C89-F1EF-49F3-A767-62D66D3F43F3}">
      <dgm:prSet/>
      <dgm:spPr/>
      <dgm:t>
        <a:bodyPr/>
        <a:lstStyle/>
        <a:p>
          <a:pPr>
            <a:lnSpc>
              <a:spcPct val="100000"/>
            </a:lnSpc>
          </a:pPr>
          <a:r>
            <a:rPr lang="en-US" dirty="0">
              <a:latin typeface="Times New Roman" panose="02020603050405020304" pitchFamily="18" charset="0"/>
              <a:cs typeface="Times New Roman" panose="02020603050405020304" pitchFamily="18" charset="0"/>
            </a:rPr>
            <a:t>1. Data Collection &amp; Analysis: Gather and analyze student data (attendance, grades, participation) to find key performance trends.</a:t>
          </a:r>
        </a:p>
      </dgm:t>
    </dgm:pt>
    <dgm:pt modelId="{96551517-5F54-48B1-9D09-89DE942F1D4A}" type="parTrans" cxnId="{9C291DD7-104C-4917-B812-5C5C97396E35}">
      <dgm:prSet/>
      <dgm:spPr/>
      <dgm:t>
        <a:bodyPr/>
        <a:lstStyle/>
        <a:p>
          <a:endParaRPr lang="en-US"/>
        </a:p>
      </dgm:t>
    </dgm:pt>
    <dgm:pt modelId="{56D6A618-0EFB-4A36-949D-63A531F5F00D}" type="sibTrans" cxnId="{9C291DD7-104C-4917-B812-5C5C97396E35}">
      <dgm:prSet/>
      <dgm:spPr/>
      <dgm:t>
        <a:bodyPr/>
        <a:lstStyle/>
        <a:p>
          <a:endParaRPr lang="en-US"/>
        </a:p>
      </dgm:t>
    </dgm:pt>
    <dgm:pt modelId="{91D7C862-CEC8-4BFF-A3C3-C47B678361CD}">
      <dgm:prSet/>
      <dgm:spPr/>
      <dgm:t>
        <a:bodyPr/>
        <a:lstStyle/>
        <a:p>
          <a:pPr>
            <a:lnSpc>
              <a:spcPct val="100000"/>
            </a:lnSpc>
          </a:pPr>
          <a:r>
            <a:rPr lang="en-US" dirty="0">
              <a:latin typeface="Times New Roman" panose="02020603050405020304" pitchFamily="18" charset="0"/>
              <a:cs typeface="Times New Roman" panose="02020603050405020304" pitchFamily="18" charset="0"/>
            </a:rPr>
            <a:t>2. Model Development: Build ML models to predict student outcomes and identify at-risk students early.</a:t>
          </a:r>
        </a:p>
      </dgm:t>
    </dgm:pt>
    <dgm:pt modelId="{20FE5E36-F37D-42B3-823B-AC2D4823B08F}" type="parTrans" cxnId="{D5DA9AAC-38AF-438C-92F7-29789DE6622F}">
      <dgm:prSet/>
      <dgm:spPr/>
      <dgm:t>
        <a:bodyPr/>
        <a:lstStyle/>
        <a:p>
          <a:endParaRPr lang="en-US"/>
        </a:p>
      </dgm:t>
    </dgm:pt>
    <dgm:pt modelId="{687CF398-B40E-42E2-A00A-2E878C0EAF00}" type="sibTrans" cxnId="{D5DA9AAC-38AF-438C-92F7-29789DE6622F}">
      <dgm:prSet/>
      <dgm:spPr/>
      <dgm:t>
        <a:bodyPr/>
        <a:lstStyle/>
        <a:p>
          <a:endParaRPr lang="en-US"/>
        </a:p>
      </dgm:t>
    </dgm:pt>
    <dgm:pt modelId="{81D56D32-B084-4C9A-9A78-5A0F8E216265}">
      <dgm:prSet/>
      <dgm:spPr/>
      <dgm:t>
        <a:bodyPr/>
        <a:lstStyle/>
        <a:p>
          <a:pPr>
            <a:lnSpc>
              <a:spcPct val="100000"/>
            </a:lnSpc>
          </a:pPr>
          <a:r>
            <a:rPr lang="en-US" dirty="0">
              <a:latin typeface="Times New Roman" panose="02020603050405020304" pitchFamily="18" charset="0"/>
              <a:cs typeface="Times New Roman" panose="02020603050405020304" pitchFamily="18" charset="0"/>
            </a:rPr>
            <a:t>3. Personalized Interventions: Provide insights for tailored support to improve student success.</a:t>
          </a:r>
        </a:p>
      </dgm:t>
    </dgm:pt>
    <dgm:pt modelId="{FEC6DA0A-EEC2-45D5-8DA2-C97CBD2BD1D3}" type="parTrans" cxnId="{010A7F18-B92E-4589-A073-84FC371D2E0D}">
      <dgm:prSet/>
      <dgm:spPr/>
      <dgm:t>
        <a:bodyPr/>
        <a:lstStyle/>
        <a:p>
          <a:endParaRPr lang="en-US"/>
        </a:p>
      </dgm:t>
    </dgm:pt>
    <dgm:pt modelId="{203827C3-11A9-4622-9A3C-FC6DE981495C}" type="sibTrans" cxnId="{010A7F18-B92E-4589-A073-84FC371D2E0D}">
      <dgm:prSet/>
      <dgm:spPr/>
      <dgm:t>
        <a:bodyPr/>
        <a:lstStyle/>
        <a:p>
          <a:endParaRPr lang="en-US"/>
        </a:p>
      </dgm:t>
    </dgm:pt>
    <dgm:pt modelId="{A55BB4DE-6B6D-4648-9368-4BE17F47A016}">
      <dgm:prSet/>
      <dgm:spPr/>
      <dgm:t>
        <a:bodyPr/>
        <a:lstStyle/>
        <a:p>
          <a:pPr>
            <a:lnSpc>
              <a:spcPct val="100000"/>
            </a:lnSpc>
          </a:pPr>
          <a:r>
            <a:rPr lang="en-US" dirty="0">
              <a:latin typeface="Times New Roman" panose="02020603050405020304" pitchFamily="18" charset="0"/>
              <a:cs typeface="Times New Roman" panose="02020603050405020304" pitchFamily="18" charset="0"/>
            </a:rPr>
            <a:t>4. System Integration: Embed predictive tools into learning platforms for real-time feedback.</a:t>
          </a:r>
        </a:p>
      </dgm:t>
    </dgm:pt>
    <dgm:pt modelId="{29FA0FA7-A378-46CA-ACDE-3EB9C0AB6011}" type="parTrans" cxnId="{F10E26AB-E080-464A-A42D-6CA2E1439C8F}">
      <dgm:prSet/>
      <dgm:spPr/>
      <dgm:t>
        <a:bodyPr/>
        <a:lstStyle/>
        <a:p>
          <a:endParaRPr lang="en-US"/>
        </a:p>
      </dgm:t>
    </dgm:pt>
    <dgm:pt modelId="{D357752B-E689-4BF9-AF0B-D97453F4F9F6}" type="sibTrans" cxnId="{F10E26AB-E080-464A-A42D-6CA2E1439C8F}">
      <dgm:prSet/>
      <dgm:spPr/>
      <dgm:t>
        <a:bodyPr/>
        <a:lstStyle/>
        <a:p>
          <a:endParaRPr lang="en-US"/>
        </a:p>
      </dgm:t>
    </dgm:pt>
    <dgm:pt modelId="{4A98A68A-4BE3-4BE0-81DC-B3CF3673EB28}">
      <dgm:prSet/>
      <dgm:spPr/>
      <dgm:t>
        <a:bodyPr/>
        <a:lstStyle/>
        <a:p>
          <a:pPr>
            <a:lnSpc>
              <a:spcPct val="100000"/>
            </a:lnSpc>
          </a:pPr>
          <a:r>
            <a:rPr lang="en-US" dirty="0">
              <a:latin typeface="Times New Roman" panose="02020603050405020304" pitchFamily="18" charset="0"/>
              <a:cs typeface="Times New Roman" panose="02020603050405020304" pitchFamily="18" charset="0"/>
            </a:rPr>
            <a:t>5. Continuous Improvement: Evaluate and refine models and strategies for better accuracy and impact.</a:t>
          </a:r>
        </a:p>
      </dgm:t>
    </dgm:pt>
    <dgm:pt modelId="{74DFAA1B-7581-4B6D-997C-D0710F97AA5F}" type="parTrans" cxnId="{167CE520-22A3-4344-A2C2-FEBE0D6CCDA8}">
      <dgm:prSet/>
      <dgm:spPr/>
      <dgm:t>
        <a:bodyPr/>
        <a:lstStyle/>
        <a:p>
          <a:endParaRPr lang="en-US"/>
        </a:p>
      </dgm:t>
    </dgm:pt>
    <dgm:pt modelId="{0382174B-E865-4154-839E-4B53BB62D881}" type="sibTrans" cxnId="{167CE520-22A3-4344-A2C2-FEBE0D6CCDA8}">
      <dgm:prSet/>
      <dgm:spPr/>
      <dgm:t>
        <a:bodyPr/>
        <a:lstStyle/>
        <a:p>
          <a:endParaRPr lang="en-US"/>
        </a:p>
      </dgm:t>
    </dgm:pt>
    <dgm:pt modelId="{BB810171-714F-4F77-9733-58892DD06E38}" type="pres">
      <dgm:prSet presAssocID="{B5D0174E-EE7F-4445-92E1-32E2AF632A6B}" presName="root" presStyleCnt="0">
        <dgm:presLayoutVars>
          <dgm:dir/>
          <dgm:resizeHandles val="exact"/>
        </dgm:presLayoutVars>
      </dgm:prSet>
      <dgm:spPr/>
    </dgm:pt>
    <dgm:pt modelId="{25CD818F-3A13-43D6-8923-9900080AA7F9}" type="pres">
      <dgm:prSet presAssocID="{A3499C89-F1EF-49F3-A767-62D66D3F43F3}" presName="compNode" presStyleCnt="0"/>
      <dgm:spPr/>
    </dgm:pt>
    <dgm:pt modelId="{CD4F7BAE-365C-4A83-9C62-4B0F5DF2E14E}" type="pres">
      <dgm:prSet presAssocID="{A3499C89-F1EF-49F3-A767-62D66D3F43F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assroom"/>
        </a:ext>
      </dgm:extLst>
    </dgm:pt>
    <dgm:pt modelId="{B9C2092D-3524-487E-B4D6-A4E9AED772D1}" type="pres">
      <dgm:prSet presAssocID="{A3499C89-F1EF-49F3-A767-62D66D3F43F3}" presName="spaceRect" presStyleCnt="0"/>
      <dgm:spPr/>
    </dgm:pt>
    <dgm:pt modelId="{DE855FC2-6C1A-4430-B1AF-43B286BF3812}" type="pres">
      <dgm:prSet presAssocID="{A3499C89-F1EF-49F3-A767-62D66D3F43F3}" presName="textRect" presStyleLbl="revTx" presStyleIdx="0" presStyleCnt="5">
        <dgm:presLayoutVars>
          <dgm:chMax val="1"/>
          <dgm:chPref val="1"/>
        </dgm:presLayoutVars>
      </dgm:prSet>
      <dgm:spPr/>
    </dgm:pt>
    <dgm:pt modelId="{2ECA1702-CAB9-480A-9FC8-9F08EDF2DF75}" type="pres">
      <dgm:prSet presAssocID="{56D6A618-0EFB-4A36-949D-63A531F5F00D}" presName="sibTrans" presStyleCnt="0"/>
      <dgm:spPr/>
    </dgm:pt>
    <dgm:pt modelId="{873F312B-4536-4F2C-9A80-F9DDC27B8D85}" type="pres">
      <dgm:prSet presAssocID="{91D7C862-CEC8-4BFF-A3C3-C47B678361CD}" presName="compNode" presStyleCnt="0"/>
      <dgm:spPr/>
    </dgm:pt>
    <dgm:pt modelId="{11015AC8-FAAD-4C41-AEDA-C7B46C00B7F7}" type="pres">
      <dgm:prSet presAssocID="{91D7C862-CEC8-4BFF-A3C3-C47B678361C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0D2BCE21-60B4-4F4B-AB91-6C62A1D1B05E}" type="pres">
      <dgm:prSet presAssocID="{91D7C862-CEC8-4BFF-A3C3-C47B678361CD}" presName="spaceRect" presStyleCnt="0"/>
      <dgm:spPr/>
    </dgm:pt>
    <dgm:pt modelId="{0638EDCA-F35B-44B3-829A-364D7016605E}" type="pres">
      <dgm:prSet presAssocID="{91D7C862-CEC8-4BFF-A3C3-C47B678361CD}" presName="textRect" presStyleLbl="revTx" presStyleIdx="1" presStyleCnt="5">
        <dgm:presLayoutVars>
          <dgm:chMax val="1"/>
          <dgm:chPref val="1"/>
        </dgm:presLayoutVars>
      </dgm:prSet>
      <dgm:spPr/>
    </dgm:pt>
    <dgm:pt modelId="{82477762-74D4-432D-A7D6-B70E6972AB9F}" type="pres">
      <dgm:prSet presAssocID="{687CF398-B40E-42E2-A00A-2E878C0EAF00}" presName="sibTrans" presStyleCnt="0"/>
      <dgm:spPr/>
    </dgm:pt>
    <dgm:pt modelId="{B54FDECF-DB8A-4CE7-AFAA-B3C8E30238CA}" type="pres">
      <dgm:prSet presAssocID="{81D56D32-B084-4C9A-9A78-5A0F8E216265}" presName="compNode" presStyleCnt="0"/>
      <dgm:spPr/>
    </dgm:pt>
    <dgm:pt modelId="{F2DDD9B7-04BD-406C-B08F-3D92833BF98F}" type="pres">
      <dgm:prSet presAssocID="{81D56D32-B084-4C9A-9A78-5A0F8E21626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ploma Roll"/>
        </a:ext>
      </dgm:extLst>
    </dgm:pt>
    <dgm:pt modelId="{39E90899-1935-4C76-B664-87FCEE93CB93}" type="pres">
      <dgm:prSet presAssocID="{81D56D32-B084-4C9A-9A78-5A0F8E216265}" presName="spaceRect" presStyleCnt="0"/>
      <dgm:spPr/>
    </dgm:pt>
    <dgm:pt modelId="{7CB3AA45-E9CD-4410-B6F0-83E759AEB0AB}" type="pres">
      <dgm:prSet presAssocID="{81D56D32-B084-4C9A-9A78-5A0F8E216265}" presName="textRect" presStyleLbl="revTx" presStyleIdx="2" presStyleCnt="5">
        <dgm:presLayoutVars>
          <dgm:chMax val="1"/>
          <dgm:chPref val="1"/>
        </dgm:presLayoutVars>
      </dgm:prSet>
      <dgm:spPr/>
    </dgm:pt>
    <dgm:pt modelId="{3D776215-4BE7-471E-ADB3-36D86A45395A}" type="pres">
      <dgm:prSet presAssocID="{203827C3-11A9-4622-9A3C-FC6DE981495C}" presName="sibTrans" presStyleCnt="0"/>
      <dgm:spPr/>
    </dgm:pt>
    <dgm:pt modelId="{250EF0D1-53C5-4D68-9696-7A3CF54E31B5}" type="pres">
      <dgm:prSet presAssocID="{A55BB4DE-6B6D-4648-9368-4BE17F47A016}" presName="compNode" presStyleCnt="0"/>
      <dgm:spPr/>
    </dgm:pt>
    <dgm:pt modelId="{9111BEAB-0BC5-45AA-B6FE-E58DAD54FFC2}" type="pres">
      <dgm:prSet presAssocID="{A55BB4DE-6B6D-4648-9368-4BE17F47A01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15257F8D-E8DC-440E-A291-4C10621541C0}" type="pres">
      <dgm:prSet presAssocID="{A55BB4DE-6B6D-4648-9368-4BE17F47A016}" presName="spaceRect" presStyleCnt="0"/>
      <dgm:spPr/>
    </dgm:pt>
    <dgm:pt modelId="{A998C228-2A57-41C6-8AE1-4161CDC91A4E}" type="pres">
      <dgm:prSet presAssocID="{A55BB4DE-6B6D-4648-9368-4BE17F47A016}" presName="textRect" presStyleLbl="revTx" presStyleIdx="3" presStyleCnt="5">
        <dgm:presLayoutVars>
          <dgm:chMax val="1"/>
          <dgm:chPref val="1"/>
        </dgm:presLayoutVars>
      </dgm:prSet>
      <dgm:spPr/>
    </dgm:pt>
    <dgm:pt modelId="{859C9B23-4735-4982-A101-5B158AF0E3E9}" type="pres">
      <dgm:prSet presAssocID="{D357752B-E689-4BF9-AF0B-D97453F4F9F6}" presName="sibTrans" presStyleCnt="0"/>
      <dgm:spPr/>
    </dgm:pt>
    <dgm:pt modelId="{4F3377A3-F536-4B62-AA2E-410975214B29}" type="pres">
      <dgm:prSet presAssocID="{4A98A68A-4BE3-4BE0-81DC-B3CF3673EB28}" presName="compNode" presStyleCnt="0"/>
      <dgm:spPr/>
    </dgm:pt>
    <dgm:pt modelId="{94DE9358-E7B1-4DCE-89FB-0E5C6062685D}" type="pres">
      <dgm:prSet presAssocID="{4A98A68A-4BE3-4BE0-81DC-B3CF3673EB2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Target"/>
        </a:ext>
      </dgm:extLst>
    </dgm:pt>
    <dgm:pt modelId="{EFD6CFF3-89B7-496A-8208-6718BA9DBD8B}" type="pres">
      <dgm:prSet presAssocID="{4A98A68A-4BE3-4BE0-81DC-B3CF3673EB28}" presName="spaceRect" presStyleCnt="0"/>
      <dgm:spPr/>
    </dgm:pt>
    <dgm:pt modelId="{DD11940C-2F2A-4B88-A7D0-CEFA488A28E0}" type="pres">
      <dgm:prSet presAssocID="{4A98A68A-4BE3-4BE0-81DC-B3CF3673EB28}" presName="textRect" presStyleLbl="revTx" presStyleIdx="4" presStyleCnt="5">
        <dgm:presLayoutVars>
          <dgm:chMax val="1"/>
          <dgm:chPref val="1"/>
        </dgm:presLayoutVars>
      </dgm:prSet>
      <dgm:spPr/>
    </dgm:pt>
  </dgm:ptLst>
  <dgm:cxnLst>
    <dgm:cxn modelId="{010A7F18-B92E-4589-A073-84FC371D2E0D}" srcId="{B5D0174E-EE7F-4445-92E1-32E2AF632A6B}" destId="{81D56D32-B084-4C9A-9A78-5A0F8E216265}" srcOrd="2" destOrd="0" parTransId="{FEC6DA0A-EEC2-45D5-8DA2-C97CBD2BD1D3}" sibTransId="{203827C3-11A9-4622-9A3C-FC6DE981495C}"/>
    <dgm:cxn modelId="{28255720-4CBC-4FB1-AC2A-F775B7C27CEB}" type="presOf" srcId="{4A98A68A-4BE3-4BE0-81DC-B3CF3673EB28}" destId="{DD11940C-2F2A-4B88-A7D0-CEFA488A28E0}" srcOrd="0" destOrd="0" presId="urn:microsoft.com/office/officeart/2018/2/layout/IconLabelList"/>
    <dgm:cxn modelId="{167CE520-22A3-4344-A2C2-FEBE0D6CCDA8}" srcId="{B5D0174E-EE7F-4445-92E1-32E2AF632A6B}" destId="{4A98A68A-4BE3-4BE0-81DC-B3CF3673EB28}" srcOrd="4" destOrd="0" parTransId="{74DFAA1B-7581-4B6D-997C-D0710F97AA5F}" sibTransId="{0382174B-E865-4154-839E-4B53BB62D881}"/>
    <dgm:cxn modelId="{09F3C934-55AD-42E8-BFA4-2613BC66F7EC}" type="presOf" srcId="{B5D0174E-EE7F-4445-92E1-32E2AF632A6B}" destId="{BB810171-714F-4F77-9733-58892DD06E38}" srcOrd="0" destOrd="0" presId="urn:microsoft.com/office/officeart/2018/2/layout/IconLabelList"/>
    <dgm:cxn modelId="{25AB713E-3439-48EA-92B1-C15096A67DB6}" type="presOf" srcId="{A3499C89-F1EF-49F3-A767-62D66D3F43F3}" destId="{DE855FC2-6C1A-4430-B1AF-43B286BF3812}" srcOrd="0" destOrd="0" presId="urn:microsoft.com/office/officeart/2018/2/layout/IconLabelList"/>
    <dgm:cxn modelId="{AF117A3E-67A3-458D-8AE3-70E77C7584FC}" type="presOf" srcId="{91D7C862-CEC8-4BFF-A3C3-C47B678361CD}" destId="{0638EDCA-F35B-44B3-829A-364D7016605E}" srcOrd="0" destOrd="0" presId="urn:microsoft.com/office/officeart/2018/2/layout/IconLabelList"/>
    <dgm:cxn modelId="{F10E26AB-E080-464A-A42D-6CA2E1439C8F}" srcId="{B5D0174E-EE7F-4445-92E1-32E2AF632A6B}" destId="{A55BB4DE-6B6D-4648-9368-4BE17F47A016}" srcOrd="3" destOrd="0" parTransId="{29FA0FA7-A378-46CA-ACDE-3EB9C0AB6011}" sibTransId="{D357752B-E689-4BF9-AF0B-D97453F4F9F6}"/>
    <dgm:cxn modelId="{D5DA9AAC-38AF-438C-92F7-29789DE6622F}" srcId="{B5D0174E-EE7F-4445-92E1-32E2AF632A6B}" destId="{91D7C862-CEC8-4BFF-A3C3-C47B678361CD}" srcOrd="1" destOrd="0" parTransId="{20FE5E36-F37D-42B3-823B-AC2D4823B08F}" sibTransId="{687CF398-B40E-42E2-A00A-2E878C0EAF00}"/>
    <dgm:cxn modelId="{8098A2C7-B4DA-4945-A7FE-CEB0D3252821}" type="presOf" srcId="{A55BB4DE-6B6D-4648-9368-4BE17F47A016}" destId="{A998C228-2A57-41C6-8AE1-4161CDC91A4E}" srcOrd="0" destOrd="0" presId="urn:microsoft.com/office/officeart/2018/2/layout/IconLabelList"/>
    <dgm:cxn modelId="{AF1742CE-EA0D-48C8-A7BA-8B01BBD7C5FB}" type="presOf" srcId="{81D56D32-B084-4C9A-9A78-5A0F8E216265}" destId="{7CB3AA45-E9CD-4410-B6F0-83E759AEB0AB}" srcOrd="0" destOrd="0" presId="urn:microsoft.com/office/officeart/2018/2/layout/IconLabelList"/>
    <dgm:cxn modelId="{9C291DD7-104C-4917-B812-5C5C97396E35}" srcId="{B5D0174E-EE7F-4445-92E1-32E2AF632A6B}" destId="{A3499C89-F1EF-49F3-A767-62D66D3F43F3}" srcOrd="0" destOrd="0" parTransId="{96551517-5F54-48B1-9D09-89DE942F1D4A}" sibTransId="{56D6A618-0EFB-4A36-949D-63A531F5F00D}"/>
    <dgm:cxn modelId="{DD03B1D0-CE81-4EA8-994A-1B6B85347AE9}" type="presParOf" srcId="{BB810171-714F-4F77-9733-58892DD06E38}" destId="{25CD818F-3A13-43D6-8923-9900080AA7F9}" srcOrd="0" destOrd="0" presId="urn:microsoft.com/office/officeart/2018/2/layout/IconLabelList"/>
    <dgm:cxn modelId="{D39247F3-40D0-4010-8AB0-7577862336CE}" type="presParOf" srcId="{25CD818F-3A13-43D6-8923-9900080AA7F9}" destId="{CD4F7BAE-365C-4A83-9C62-4B0F5DF2E14E}" srcOrd="0" destOrd="0" presId="urn:microsoft.com/office/officeart/2018/2/layout/IconLabelList"/>
    <dgm:cxn modelId="{033A8AD0-1958-4894-9BB6-2C5BA4B5FAFA}" type="presParOf" srcId="{25CD818F-3A13-43D6-8923-9900080AA7F9}" destId="{B9C2092D-3524-487E-B4D6-A4E9AED772D1}" srcOrd="1" destOrd="0" presId="urn:microsoft.com/office/officeart/2018/2/layout/IconLabelList"/>
    <dgm:cxn modelId="{D80C332E-78CE-4F68-AD77-F7E8BCF13DC1}" type="presParOf" srcId="{25CD818F-3A13-43D6-8923-9900080AA7F9}" destId="{DE855FC2-6C1A-4430-B1AF-43B286BF3812}" srcOrd="2" destOrd="0" presId="urn:microsoft.com/office/officeart/2018/2/layout/IconLabelList"/>
    <dgm:cxn modelId="{30D0433E-024E-43ED-BFA4-33177E68D0C6}" type="presParOf" srcId="{BB810171-714F-4F77-9733-58892DD06E38}" destId="{2ECA1702-CAB9-480A-9FC8-9F08EDF2DF75}" srcOrd="1" destOrd="0" presId="urn:microsoft.com/office/officeart/2018/2/layout/IconLabelList"/>
    <dgm:cxn modelId="{65E85FF2-5785-4B6F-A6A0-37697CA682FC}" type="presParOf" srcId="{BB810171-714F-4F77-9733-58892DD06E38}" destId="{873F312B-4536-4F2C-9A80-F9DDC27B8D85}" srcOrd="2" destOrd="0" presId="urn:microsoft.com/office/officeart/2018/2/layout/IconLabelList"/>
    <dgm:cxn modelId="{9DE84872-68D0-404E-B0A0-92994CC80754}" type="presParOf" srcId="{873F312B-4536-4F2C-9A80-F9DDC27B8D85}" destId="{11015AC8-FAAD-4C41-AEDA-C7B46C00B7F7}" srcOrd="0" destOrd="0" presId="urn:microsoft.com/office/officeart/2018/2/layout/IconLabelList"/>
    <dgm:cxn modelId="{2E80A7ED-F1D1-4A32-B765-C54C43034FB5}" type="presParOf" srcId="{873F312B-4536-4F2C-9A80-F9DDC27B8D85}" destId="{0D2BCE21-60B4-4F4B-AB91-6C62A1D1B05E}" srcOrd="1" destOrd="0" presId="urn:microsoft.com/office/officeart/2018/2/layout/IconLabelList"/>
    <dgm:cxn modelId="{A7C11F24-F155-48F0-A11F-1EA9EF3A1C20}" type="presParOf" srcId="{873F312B-4536-4F2C-9A80-F9DDC27B8D85}" destId="{0638EDCA-F35B-44B3-829A-364D7016605E}" srcOrd="2" destOrd="0" presId="urn:microsoft.com/office/officeart/2018/2/layout/IconLabelList"/>
    <dgm:cxn modelId="{28AADCC7-00B0-43BC-9A0E-750C77843D05}" type="presParOf" srcId="{BB810171-714F-4F77-9733-58892DD06E38}" destId="{82477762-74D4-432D-A7D6-B70E6972AB9F}" srcOrd="3" destOrd="0" presId="urn:microsoft.com/office/officeart/2018/2/layout/IconLabelList"/>
    <dgm:cxn modelId="{FCF7B5ED-6052-4450-8F99-78FB06CB3065}" type="presParOf" srcId="{BB810171-714F-4F77-9733-58892DD06E38}" destId="{B54FDECF-DB8A-4CE7-AFAA-B3C8E30238CA}" srcOrd="4" destOrd="0" presId="urn:microsoft.com/office/officeart/2018/2/layout/IconLabelList"/>
    <dgm:cxn modelId="{57F641C6-2228-4978-B7C2-38930A0B21A7}" type="presParOf" srcId="{B54FDECF-DB8A-4CE7-AFAA-B3C8E30238CA}" destId="{F2DDD9B7-04BD-406C-B08F-3D92833BF98F}" srcOrd="0" destOrd="0" presId="urn:microsoft.com/office/officeart/2018/2/layout/IconLabelList"/>
    <dgm:cxn modelId="{E546B3CB-6CB8-4802-951E-AFAE47E710BD}" type="presParOf" srcId="{B54FDECF-DB8A-4CE7-AFAA-B3C8E30238CA}" destId="{39E90899-1935-4C76-B664-87FCEE93CB93}" srcOrd="1" destOrd="0" presId="urn:microsoft.com/office/officeart/2018/2/layout/IconLabelList"/>
    <dgm:cxn modelId="{853D3C79-89C0-471F-BAD3-4EFD703E1A3A}" type="presParOf" srcId="{B54FDECF-DB8A-4CE7-AFAA-B3C8E30238CA}" destId="{7CB3AA45-E9CD-4410-B6F0-83E759AEB0AB}" srcOrd="2" destOrd="0" presId="urn:microsoft.com/office/officeart/2018/2/layout/IconLabelList"/>
    <dgm:cxn modelId="{918BD0E3-7733-4726-908B-0E7242BB32C7}" type="presParOf" srcId="{BB810171-714F-4F77-9733-58892DD06E38}" destId="{3D776215-4BE7-471E-ADB3-36D86A45395A}" srcOrd="5" destOrd="0" presId="urn:microsoft.com/office/officeart/2018/2/layout/IconLabelList"/>
    <dgm:cxn modelId="{2E06DF4F-90EF-4313-8BDF-CB49021196BD}" type="presParOf" srcId="{BB810171-714F-4F77-9733-58892DD06E38}" destId="{250EF0D1-53C5-4D68-9696-7A3CF54E31B5}" srcOrd="6" destOrd="0" presId="urn:microsoft.com/office/officeart/2018/2/layout/IconLabelList"/>
    <dgm:cxn modelId="{7C72E265-FB18-43F6-80AD-9EAAB7E5174C}" type="presParOf" srcId="{250EF0D1-53C5-4D68-9696-7A3CF54E31B5}" destId="{9111BEAB-0BC5-45AA-B6FE-E58DAD54FFC2}" srcOrd="0" destOrd="0" presId="urn:microsoft.com/office/officeart/2018/2/layout/IconLabelList"/>
    <dgm:cxn modelId="{D3ADC668-65A8-46F1-84AB-D467AF89B2C0}" type="presParOf" srcId="{250EF0D1-53C5-4D68-9696-7A3CF54E31B5}" destId="{15257F8D-E8DC-440E-A291-4C10621541C0}" srcOrd="1" destOrd="0" presId="urn:microsoft.com/office/officeart/2018/2/layout/IconLabelList"/>
    <dgm:cxn modelId="{90471DE3-7445-4524-AF09-04EB15853AB6}" type="presParOf" srcId="{250EF0D1-53C5-4D68-9696-7A3CF54E31B5}" destId="{A998C228-2A57-41C6-8AE1-4161CDC91A4E}" srcOrd="2" destOrd="0" presId="urn:microsoft.com/office/officeart/2018/2/layout/IconLabelList"/>
    <dgm:cxn modelId="{FBA879A7-9ABC-479A-A499-D2A41C4E4208}" type="presParOf" srcId="{BB810171-714F-4F77-9733-58892DD06E38}" destId="{859C9B23-4735-4982-A101-5B158AF0E3E9}" srcOrd="7" destOrd="0" presId="urn:microsoft.com/office/officeart/2018/2/layout/IconLabelList"/>
    <dgm:cxn modelId="{F3EC0905-EE05-4D04-93F8-BAA12A95DD21}" type="presParOf" srcId="{BB810171-714F-4F77-9733-58892DD06E38}" destId="{4F3377A3-F536-4B62-AA2E-410975214B29}" srcOrd="8" destOrd="0" presId="urn:microsoft.com/office/officeart/2018/2/layout/IconLabelList"/>
    <dgm:cxn modelId="{BF449B65-37D9-45DC-AD76-B9CD32FA3421}" type="presParOf" srcId="{4F3377A3-F536-4B62-AA2E-410975214B29}" destId="{94DE9358-E7B1-4DCE-89FB-0E5C6062685D}" srcOrd="0" destOrd="0" presId="urn:microsoft.com/office/officeart/2018/2/layout/IconLabelList"/>
    <dgm:cxn modelId="{96A38474-4BC4-43AD-B5E3-DC57E843CEC7}" type="presParOf" srcId="{4F3377A3-F536-4B62-AA2E-410975214B29}" destId="{EFD6CFF3-89B7-496A-8208-6718BA9DBD8B}" srcOrd="1" destOrd="0" presId="urn:microsoft.com/office/officeart/2018/2/layout/IconLabelList"/>
    <dgm:cxn modelId="{9890BD74-4C09-4AB8-8B24-1DB4048E4AE7}" type="presParOf" srcId="{4F3377A3-F536-4B62-AA2E-410975214B29}" destId="{DD11940C-2F2A-4B88-A7D0-CEFA488A28E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03FD47-4E0C-404B-80A5-40C1DC9C9496}"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6227BE6F-DDE9-42FD-A66D-DF8AC5F6D504}">
      <dgm:prSet custT="1"/>
      <dgm:spPr/>
      <dgm:t>
        <a:bodyPr/>
        <a:lstStyle/>
        <a:p>
          <a:pPr algn="ctr"/>
          <a:r>
            <a:rPr lang="en-US" sz="1200" dirty="0">
              <a:latin typeface="Times New Roman" panose="02020603050405020304" pitchFamily="18" charset="0"/>
              <a:cs typeface="Times New Roman" panose="02020603050405020304" pitchFamily="18" charset="0"/>
            </a:rPr>
            <a:t>1. Student Data Integration: Combine attendance, grades, participation, and demographics into one dataset for analysis.</a:t>
          </a:r>
        </a:p>
      </dgm:t>
    </dgm:pt>
    <dgm:pt modelId="{8CD70208-5963-4EDD-A7F7-79E2704E391D}" type="parTrans" cxnId="{27278F43-AAAE-416D-9FE8-4B3657D64754}">
      <dgm:prSet/>
      <dgm:spPr/>
      <dgm:t>
        <a:bodyPr/>
        <a:lstStyle/>
        <a:p>
          <a:endParaRPr lang="en-US"/>
        </a:p>
      </dgm:t>
    </dgm:pt>
    <dgm:pt modelId="{4ED5DB55-EAA9-4F60-9AE7-B5F3EBBA287C}" type="sibTrans" cxnId="{27278F43-AAAE-416D-9FE8-4B3657D64754}">
      <dgm:prSet phldrT="1" phldr="0"/>
      <dgm:spPr/>
      <dgm:t>
        <a:bodyPr/>
        <a:lstStyle/>
        <a:p>
          <a:r>
            <a:rPr lang="en-US"/>
            <a:t>1</a:t>
          </a:r>
        </a:p>
      </dgm:t>
    </dgm:pt>
    <dgm:pt modelId="{CA3902E1-B366-4DEF-955F-B0CDE13AE70A}">
      <dgm:prSet custT="1"/>
      <dgm:spPr/>
      <dgm:t>
        <a:bodyPr/>
        <a:lstStyle/>
        <a:p>
          <a:pPr algn="ctr"/>
          <a:r>
            <a:rPr lang="en-US" sz="1200" dirty="0">
              <a:latin typeface="Times New Roman" panose="02020603050405020304" pitchFamily="18" charset="0"/>
              <a:cs typeface="Times New Roman" panose="02020603050405020304" pitchFamily="18" charset="0"/>
            </a:rPr>
            <a:t>2. Predictive Modeling: Develop machine learning models to predict student performance and key success factors.</a:t>
          </a:r>
        </a:p>
      </dgm:t>
    </dgm:pt>
    <dgm:pt modelId="{5DE7E999-D939-466F-8DC8-6AB8AD2155D4}" type="parTrans" cxnId="{4E8BE3EC-5713-4676-B7EB-627DE7BE7B7F}">
      <dgm:prSet/>
      <dgm:spPr/>
      <dgm:t>
        <a:bodyPr/>
        <a:lstStyle/>
        <a:p>
          <a:endParaRPr lang="en-US"/>
        </a:p>
      </dgm:t>
    </dgm:pt>
    <dgm:pt modelId="{14816046-6E5E-4841-975F-15BBF13ECF55}" type="sibTrans" cxnId="{4E8BE3EC-5713-4676-B7EB-627DE7BE7B7F}">
      <dgm:prSet phldrT="2" phldr="0"/>
      <dgm:spPr/>
      <dgm:t>
        <a:bodyPr/>
        <a:lstStyle/>
        <a:p>
          <a:r>
            <a:rPr lang="en-US"/>
            <a:t>2</a:t>
          </a:r>
        </a:p>
      </dgm:t>
    </dgm:pt>
    <dgm:pt modelId="{0415E408-FEB8-424C-B763-377E80717585}">
      <dgm:prSet custT="1"/>
      <dgm:spPr/>
      <dgm:t>
        <a:bodyPr/>
        <a:lstStyle/>
        <a:p>
          <a:pPr algn="ctr"/>
          <a:r>
            <a:rPr lang="en-US" sz="1200" dirty="0">
              <a:latin typeface="Times New Roman" panose="02020603050405020304" pitchFamily="18" charset="0"/>
              <a:cs typeface="Times New Roman" panose="02020603050405020304" pitchFamily="18" charset="0"/>
            </a:rPr>
            <a:t>3. Intervention Strategies: Create practical support methods to help students identified as at risk.</a:t>
          </a:r>
        </a:p>
      </dgm:t>
    </dgm:pt>
    <dgm:pt modelId="{49FF3E72-D68D-41F2-86F9-051E3EB6B051}" type="parTrans" cxnId="{102EEC0D-A5F9-4D02-AC4E-7586755339BC}">
      <dgm:prSet/>
      <dgm:spPr/>
      <dgm:t>
        <a:bodyPr/>
        <a:lstStyle/>
        <a:p>
          <a:endParaRPr lang="en-US"/>
        </a:p>
      </dgm:t>
    </dgm:pt>
    <dgm:pt modelId="{7C592C95-D24F-4045-B157-4A403CD0092D}" type="sibTrans" cxnId="{102EEC0D-A5F9-4D02-AC4E-7586755339BC}">
      <dgm:prSet phldrT="3" phldr="0"/>
      <dgm:spPr/>
      <dgm:t>
        <a:bodyPr/>
        <a:lstStyle/>
        <a:p>
          <a:r>
            <a:rPr lang="en-US"/>
            <a:t>3</a:t>
          </a:r>
        </a:p>
      </dgm:t>
    </dgm:pt>
    <dgm:pt modelId="{10218827-F6ED-4723-A174-F8A3BDE9D888}">
      <dgm:prSet custT="1"/>
      <dgm:spPr/>
      <dgm:t>
        <a:bodyPr/>
        <a:lstStyle/>
        <a:p>
          <a:pPr algn="ctr"/>
          <a:r>
            <a:rPr lang="en-US" sz="1200" dirty="0">
              <a:latin typeface="Times New Roman" panose="02020603050405020304" pitchFamily="18" charset="0"/>
              <a:cs typeface="Times New Roman" panose="02020603050405020304" pitchFamily="18" charset="0"/>
            </a:rPr>
            <a:t>4. Real-time Feedback: Provide instant insights for teachers and students to improve learning outcomes.</a:t>
          </a:r>
        </a:p>
      </dgm:t>
    </dgm:pt>
    <dgm:pt modelId="{C8F32CE3-1E2F-40DF-847E-5370E7C690D3}" type="parTrans" cxnId="{192D6507-714F-4D34-8D9E-A64065D38A61}">
      <dgm:prSet/>
      <dgm:spPr/>
      <dgm:t>
        <a:bodyPr/>
        <a:lstStyle/>
        <a:p>
          <a:endParaRPr lang="en-US"/>
        </a:p>
      </dgm:t>
    </dgm:pt>
    <dgm:pt modelId="{AA3CCE2B-CCD7-41A9-B29F-353AFE4D12C2}" type="sibTrans" cxnId="{192D6507-714F-4D34-8D9E-A64065D38A61}">
      <dgm:prSet phldrT="4" phldr="0"/>
      <dgm:spPr/>
      <dgm:t>
        <a:bodyPr/>
        <a:lstStyle/>
        <a:p>
          <a:r>
            <a:rPr lang="en-US"/>
            <a:t>4</a:t>
          </a:r>
        </a:p>
      </dgm:t>
    </dgm:pt>
    <dgm:pt modelId="{EB60E311-BEFB-40EF-966C-212620A2C656}" type="pres">
      <dgm:prSet presAssocID="{F803FD47-4E0C-404B-80A5-40C1DC9C9496}" presName="linearFlow" presStyleCnt="0">
        <dgm:presLayoutVars>
          <dgm:dir/>
          <dgm:animLvl val="lvl"/>
          <dgm:resizeHandles val="exact"/>
        </dgm:presLayoutVars>
      </dgm:prSet>
      <dgm:spPr/>
    </dgm:pt>
    <dgm:pt modelId="{B9ED953F-47F0-455F-B655-F05840C2BB54}" type="pres">
      <dgm:prSet presAssocID="{6227BE6F-DDE9-42FD-A66D-DF8AC5F6D504}" presName="compositeNode" presStyleCnt="0"/>
      <dgm:spPr/>
    </dgm:pt>
    <dgm:pt modelId="{1D63088F-8E55-49B9-9F93-6F16F3AB601A}" type="pres">
      <dgm:prSet presAssocID="{6227BE6F-DDE9-42FD-A66D-DF8AC5F6D504}" presName="parTx" presStyleLbl="node1" presStyleIdx="0" presStyleCnt="0">
        <dgm:presLayoutVars>
          <dgm:chMax val="0"/>
          <dgm:chPref val="0"/>
          <dgm:bulletEnabled val="1"/>
        </dgm:presLayoutVars>
      </dgm:prSet>
      <dgm:spPr/>
    </dgm:pt>
    <dgm:pt modelId="{C03D6FDD-EC57-416A-9B02-AA6621C8CE24}" type="pres">
      <dgm:prSet presAssocID="{6227BE6F-DDE9-42FD-A66D-DF8AC5F6D504}" presName="parSh" presStyleCnt="0"/>
      <dgm:spPr/>
    </dgm:pt>
    <dgm:pt modelId="{BAA3D87B-80E2-41CA-8AFF-AB12B3B9ABAC}" type="pres">
      <dgm:prSet presAssocID="{6227BE6F-DDE9-42FD-A66D-DF8AC5F6D504}" presName="lineNode" presStyleLbl="alignAccFollowNode1" presStyleIdx="0" presStyleCnt="12"/>
      <dgm:spPr/>
    </dgm:pt>
    <dgm:pt modelId="{52862B07-1726-4BE2-AE84-16CC37C6FEA0}" type="pres">
      <dgm:prSet presAssocID="{6227BE6F-DDE9-42FD-A66D-DF8AC5F6D504}" presName="lineArrowNode" presStyleLbl="alignAccFollowNode1" presStyleIdx="1" presStyleCnt="12"/>
      <dgm:spPr/>
    </dgm:pt>
    <dgm:pt modelId="{9308387B-BCC6-4934-9D9C-1D780D0EAA02}" type="pres">
      <dgm:prSet presAssocID="{4ED5DB55-EAA9-4F60-9AE7-B5F3EBBA287C}" presName="sibTransNodeCircle" presStyleLbl="alignNode1" presStyleIdx="0" presStyleCnt="4">
        <dgm:presLayoutVars>
          <dgm:chMax val="0"/>
          <dgm:bulletEnabled/>
        </dgm:presLayoutVars>
      </dgm:prSet>
      <dgm:spPr/>
    </dgm:pt>
    <dgm:pt modelId="{E21BD175-58EA-4C44-8E83-D24AF234ABDA}" type="pres">
      <dgm:prSet presAssocID="{4ED5DB55-EAA9-4F60-9AE7-B5F3EBBA287C}" presName="spacerBetweenCircleAndCallout" presStyleCnt="0">
        <dgm:presLayoutVars/>
      </dgm:prSet>
      <dgm:spPr/>
    </dgm:pt>
    <dgm:pt modelId="{5DE0FB11-DEE5-454E-9BE3-7E1040EBCEEB}" type="pres">
      <dgm:prSet presAssocID="{6227BE6F-DDE9-42FD-A66D-DF8AC5F6D504}" presName="nodeText" presStyleLbl="alignAccFollowNode1" presStyleIdx="2" presStyleCnt="12">
        <dgm:presLayoutVars>
          <dgm:bulletEnabled val="1"/>
        </dgm:presLayoutVars>
      </dgm:prSet>
      <dgm:spPr/>
    </dgm:pt>
    <dgm:pt modelId="{7F6A4734-A34F-4C92-9B00-20360DE69FC2}" type="pres">
      <dgm:prSet presAssocID="{4ED5DB55-EAA9-4F60-9AE7-B5F3EBBA287C}" presName="sibTransComposite" presStyleCnt="0"/>
      <dgm:spPr/>
    </dgm:pt>
    <dgm:pt modelId="{0011186A-47DB-4D4E-952A-71DAFB1FBFE6}" type="pres">
      <dgm:prSet presAssocID="{CA3902E1-B366-4DEF-955F-B0CDE13AE70A}" presName="compositeNode" presStyleCnt="0"/>
      <dgm:spPr/>
    </dgm:pt>
    <dgm:pt modelId="{5EC45F54-A1F4-4748-A45D-A016FB08A0BB}" type="pres">
      <dgm:prSet presAssocID="{CA3902E1-B366-4DEF-955F-B0CDE13AE70A}" presName="parTx" presStyleLbl="node1" presStyleIdx="0" presStyleCnt="0">
        <dgm:presLayoutVars>
          <dgm:chMax val="0"/>
          <dgm:chPref val="0"/>
          <dgm:bulletEnabled val="1"/>
        </dgm:presLayoutVars>
      </dgm:prSet>
      <dgm:spPr/>
    </dgm:pt>
    <dgm:pt modelId="{98CF7CE6-7D33-4BCA-81EC-9632C6B829A8}" type="pres">
      <dgm:prSet presAssocID="{CA3902E1-B366-4DEF-955F-B0CDE13AE70A}" presName="parSh" presStyleCnt="0"/>
      <dgm:spPr/>
    </dgm:pt>
    <dgm:pt modelId="{1AD49FF0-4BCC-4ACE-B5F9-DAD4E613E262}" type="pres">
      <dgm:prSet presAssocID="{CA3902E1-B366-4DEF-955F-B0CDE13AE70A}" presName="lineNode" presStyleLbl="alignAccFollowNode1" presStyleIdx="3" presStyleCnt="12"/>
      <dgm:spPr/>
    </dgm:pt>
    <dgm:pt modelId="{1D63E496-2B9B-4710-82CA-293FA55CDC24}" type="pres">
      <dgm:prSet presAssocID="{CA3902E1-B366-4DEF-955F-B0CDE13AE70A}" presName="lineArrowNode" presStyleLbl="alignAccFollowNode1" presStyleIdx="4" presStyleCnt="12"/>
      <dgm:spPr/>
    </dgm:pt>
    <dgm:pt modelId="{E2468629-A442-47EB-BC65-1E26C644734B}" type="pres">
      <dgm:prSet presAssocID="{14816046-6E5E-4841-975F-15BBF13ECF55}" presName="sibTransNodeCircle" presStyleLbl="alignNode1" presStyleIdx="1" presStyleCnt="4">
        <dgm:presLayoutVars>
          <dgm:chMax val="0"/>
          <dgm:bulletEnabled/>
        </dgm:presLayoutVars>
      </dgm:prSet>
      <dgm:spPr/>
    </dgm:pt>
    <dgm:pt modelId="{C1BFDA90-3DAE-45DD-8099-28B4B317A217}" type="pres">
      <dgm:prSet presAssocID="{14816046-6E5E-4841-975F-15BBF13ECF55}" presName="spacerBetweenCircleAndCallout" presStyleCnt="0">
        <dgm:presLayoutVars/>
      </dgm:prSet>
      <dgm:spPr/>
    </dgm:pt>
    <dgm:pt modelId="{FAF30BCF-0BAB-42FA-8970-0854B55C908A}" type="pres">
      <dgm:prSet presAssocID="{CA3902E1-B366-4DEF-955F-B0CDE13AE70A}" presName="nodeText" presStyleLbl="alignAccFollowNode1" presStyleIdx="5" presStyleCnt="12">
        <dgm:presLayoutVars>
          <dgm:bulletEnabled val="1"/>
        </dgm:presLayoutVars>
      </dgm:prSet>
      <dgm:spPr/>
    </dgm:pt>
    <dgm:pt modelId="{2CAB844A-9282-4EC8-9C51-B7B6BA921AFF}" type="pres">
      <dgm:prSet presAssocID="{14816046-6E5E-4841-975F-15BBF13ECF55}" presName="sibTransComposite" presStyleCnt="0"/>
      <dgm:spPr/>
    </dgm:pt>
    <dgm:pt modelId="{E642AC23-9827-4CC1-9B1B-B475A242F59B}" type="pres">
      <dgm:prSet presAssocID="{0415E408-FEB8-424C-B763-377E80717585}" presName="compositeNode" presStyleCnt="0"/>
      <dgm:spPr/>
    </dgm:pt>
    <dgm:pt modelId="{3B3CE171-EB57-42A6-A564-9A576EEE9D1B}" type="pres">
      <dgm:prSet presAssocID="{0415E408-FEB8-424C-B763-377E80717585}" presName="parTx" presStyleLbl="node1" presStyleIdx="0" presStyleCnt="0">
        <dgm:presLayoutVars>
          <dgm:chMax val="0"/>
          <dgm:chPref val="0"/>
          <dgm:bulletEnabled val="1"/>
        </dgm:presLayoutVars>
      </dgm:prSet>
      <dgm:spPr/>
    </dgm:pt>
    <dgm:pt modelId="{49361F7A-3D22-44EB-8579-5F9489843FB0}" type="pres">
      <dgm:prSet presAssocID="{0415E408-FEB8-424C-B763-377E80717585}" presName="parSh" presStyleCnt="0"/>
      <dgm:spPr/>
    </dgm:pt>
    <dgm:pt modelId="{13A5ADDC-3F18-49A3-BF9E-B89D78BA8557}" type="pres">
      <dgm:prSet presAssocID="{0415E408-FEB8-424C-B763-377E80717585}" presName="lineNode" presStyleLbl="alignAccFollowNode1" presStyleIdx="6" presStyleCnt="12"/>
      <dgm:spPr/>
    </dgm:pt>
    <dgm:pt modelId="{829CA607-DA92-4F29-A2A1-D0875A8C8AE8}" type="pres">
      <dgm:prSet presAssocID="{0415E408-FEB8-424C-B763-377E80717585}" presName="lineArrowNode" presStyleLbl="alignAccFollowNode1" presStyleIdx="7" presStyleCnt="12"/>
      <dgm:spPr/>
    </dgm:pt>
    <dgm:pt modelId="{E36BE4AF-AAF2-42EF-B976-674A274B1E30}" type="pres">
      <dgm:prSet presAssocID="{7C592C95-D24F-4045-B157-4A403CD0092D}" presName="sibTransNodeCircle" presStyleLbl="alignNode1" presStyleIdx="2" presStyleCnt="4">
        <dgm:presLayoutVars>
          <dgm:chMax val="0"/>
          <dgm:bulletEnabled/>
        </dgm:presLayoutVars>
      </dgm:prSet>
      <dgm:spPr/>
    </dgm:pt>
    <dgm:pt modelId="{CC7F5709-BF1B-4BA7-9541-A6D20A135B3A}" type="pres">
      <dgm:prSet presAssocID="{7C592C95-D24F-4045-B157-4A403CD0092D}" presName="spacerBetweenCircleAndCallout" presStyleCnt="0">
        <dgm:presLayoutVars/>
      </dgm:prSet>
      <dgm:spPr/>
    </dgm:pt>
    <dgm:pt modelId="{48DFBE4C-D389-48DC-80E4-D85AB5F44ADD}" type="pres">
      <dgm:prSet presAssocID="{0415E408-FEB8-424C-B763-377E80717585}" presName="nodeText" presStyleLbl="alignAccFollowNode1" presStyleIdx="8" presStyleCnt="12">
        <dgm:presLayoutVars>
          <dgm:bulletEnabled val="1"/>
        </dgm:presLayoutVars>
      </dgm:prSet>
      <dgm:spPr/>
    </dgm:pt>
    <dgm:pt modelId="{56BE2609-720E-4B44-9C3D-2A13B080C48A}" type="pres">
      <dgm:prSet presAssocID="{7C592C95-D24F-4045-B157-4A403CD0092D}" presName="sibTransComposite" presStyleCnt="0"/>
      <dgm:spPr/>
    </dgm:pt>
    <dgm:pt modelId="{9F881AFC-990D-4865-8208-B6C0E8BBCBF0}" type="pres">
      <dgm:prSet presAssocID="{10218827-F6ED-4723-A174-F8A3BDE9D888}" presName="compositeNode" presStyleCnt="0"/>
      <dgm:spPr/>
    </dgm:pt>
    <dgm:pt modelId="{96EDC840-D518-4639-8B51-A236BAED49FD}" type="pres">
      <dgm:prSet presAssocID="{10218827-F6ED-4723-A174-F8A3BDE9D888}" presName="parTx" presStyleLbl="node1" presStyleIdx="0" presStyleCnt="0">
        <dgm:presLayoutVars>
          <dgm:chMax val="0"/>
          <dgm:chPref val="0"/>
          <dgm:bulletEnabled val="1"/>
        </dgm:presLayoutVars>
      </dgm:prSet>
      <dgm:spPr/>
    </dgm:pt>
    <dgm:pt modelId="{6D5C4710-584F-4AE6-9339-2F0011DFF246}" type="pres">
      <dgm:prSet presAssocID="{10218827-F6ED-4723-A174-F8A3BDE9D888}" presName="parSh" presStyleCnt="0"/>
      <dgm:spPr/>
    </dgm:pt>
    <dgm:pt modelId="{1FDFCE32-98EE-44B5-A243-5C016689E1A3}" type="pres">
      <dgm:prSet presAssocID="{10218827-F6ED-4723-A174-F8A3BDE9D888}" presName="lineNode" presStyleLbl="alignAccFollowNode1" presStyleIdx="9" presStyleCnt="12"/>
      <dgm:spPr/>
    </dgm:pt>
    <dgm:pt modelId="{61BB57A6-B3D7-418C-A4FB-9BF445C1DA1C}" type="pres">
      <dgm:prSet presAssocID="{10218827-F6ED-4723-A174-F8A3BDE9D888}" presName="lineArrowNode" presStyleLbl="alignAccFollowNode1" presStyleIdx="10" presStyleCnt="12"/>
      <dgm:spPr/>
    </dgm:pt>
    <dgm:pt modelId="{E17741EF-3BC6-47B9-846C-AF46EC845D0D}" type="pres">
      <dgm:prSet presAssocID="{AA3CCE2B-CCD7-41A9-B29F-353AFE4D12C2}" presName="sibTransNodeCircle" presStyleLbl="alignNode1" presStyleIdx="3" presStyleCnt="4">
        <dgm:presLayoutVars>
          <dgm:chMax val="0"/>
          <dgm:bulletEnabled/>
        </dgm:presLayoutVars>
      </dgm:prSet>
      <dgm:spPr/>
    </dgm:pt>
    <dgm:pt modelId="{309F24D1-63CC-457A-B8DD-7447732607CA}" type="pres">
      <dgm:prSet presAssocID="{AA3CCE2B-CCD7-41A9-B29F-353AFE4D12C2}" presName="spacerBetweenCircleAndCallout" presStyleCnt="0">
        <dgm:presLayoutVars/>
      </dgm:prSet>
      <dgm:spPr/>
    </dgm:pt>
    <dgm:pt modelId="{D9DABF81-F5C8-4ADA-94FC-3A4907EC7A9D}" type="pres">
      <dgm:prSet presAssocID="{10218827-F6ED-4723-A174-F8A3BDE9D888}" presName="nodeText" presStyleLbl="alignAccFollowNode1" presStyleIdx="11" presStyleCnt="12" custLinFactNeighborX="-2864" custLinFactNeighborY="-1661">
        <dgm:presLayoutVars>
          <dgm:bulletEnabled val="1"/>
        </dgm:presLayoutVars>
      </dgm:prSet>
      <dgm:spPr/>
    </dgm:pt>
  </dgm:ptLst>
  <dgm:cxnLst>
    <dgm:cxn modelId="{8AD3AF01-8F74-45FC-9529-8B0DCEF91EBE}" type="presOf" srcId="{14816046-6E5E-4841-975F-15BBF13ECF55}" destId="{E2468629-A442-47EB-BC65-1E26C644734B}" srcOrd="0" destOrd="0" presId="urn:microsoft.com/office/officeart/2016/7/layout/LinearArrowProcessNumbered"/>
    <dgm:cxn modelId="{192D6507-714F-4D34-8D9E-A64065D38A61}" srcId="{F803FD47-4E0C-404B-80A5-40C1DC9C9496}" destId="{10218827-F6ED-4723-A174-F8A3BDE9D888}" srcOrd="3" destOrd="0" parTransId="{C8F32CE3-1E2F-40DF-847E-5370E7C690D3}" sibTransId="{AA3CCE2B-CCD7-41A9-B29F-353AFE4D12C2}"/>
    <dgm:cxn modelId="{102EEC0D-A5F9-4D02-AC4E-7586755339BC}" srcId="{F803FD47-4E0C-404B-80A5-40C1DC9C9496}" destId="{0415E408-FEB8-424C-B763-377E80717585}" srcOrd="2" destOrd="0" parTransId="{49FF3E72-D68D-41F2-86F9-051E3EB6B051}" sibTransId="{7C592C95-D24F-4045-B157-4A403CD0092D}"/>
    <dgm:cxn modelId="{27278F43-AAAE-416D-9FE8-4B3657D64754}" srcId="{F803FD47-4E0C-404B-80A5-40C1DC9C9496}" destId="{6227BE6F-DDE9-42FD-A66D-DF8AC5F6D504}" srcOrd="0" destOrd="0" parTransId="{8CD70208-5963-4EDD-A7F7-79E2704E391D}" sibTransId="{4ED5DB55-EAA9-4F60-9AE7-B5F3EBBA287C}"/>
    <dgm:cxn modelId="{C6237264-814A-4A02-9CC7-42A96C1042A4}" type="presOf" srcId="{CA3902E1-B366-4DEF-955F-B0CDE13AE70A}" destId="{FAF30BCF-0BAB-42FA-8970-0854B55C908A}" srcOrd="0" destOrd="0" presId="urn:microsoft.com/office/officeart/2016/7/layout/LinearArrowProcessNumbered"/>
    <dgm:cxn modelId="{36319269-A32A-4F67-B1AA-4DFD353A7943}" type="presOf" srcId="{AA3CCE2B-CCD7-41A9-B29F-353AFE4D12C2}" destId="{E17741EF-3BC6-47B9-846C-AF46EC845D0D}" srcOrd="0" destOrd="0" presId="urn:microsoft.com/office/officeart/2016/7/layout/LinearArrowProcessNumbered"/>
    <dgm:cxn modelId="{BF68589F-D3CE-4278-9C94-2061EB493647}" type="presOf" srcId="{0415E408-FEB8-424C-B763-377E80717585}" destId="{48DFBE4C-D389-48DC-80E4-D85AB5F44ADD}" srcOrd="0" destOrd="0" presId="urn:microsoft.com/office/officeart/2016/7/layout/LinearArrowProcessNumbered"/>
    <dgm:cxn modelId="{338783CB-397A-4BAE-B60A-CEAD476E0D91}" type="presOf" srcId="{4ED5DB55-EAA9-4F60-9AE7-B5F3EBBA287C}" destId="{9308387B-BCC6-4934-9D9C-1D780D0EAA02}" srcOrd="0" destOrd="0" presId="urn:microsoft.com/office/officeart/2016/7/layout/LinearArrowProcessNumbered"/>
    <dgm:cxn modelId="{37B035CF-793F-4A71-BDE1-FB37DFE46987}" type="presOf" srcId="{F803FD47-4E0C-404B-80A5-40C1DC9C9496}" destId="{EB60E311-BEFB-40EF-966C-212620A2C656}" srcOrd="0" destOrd="0" presId="urn:microsoft.com/office/officeart/2016/7/layout/LinearArrowProcessNumbered"/>
    <dgm:cxn modelId="{D05619E0-D329-4962-BE26-59D8A2F878D9}" type="presOf" srcId="{7C592C95-D24F-4045-B157-4A403CD0092D}" destId="{E36BE4AF-AAF2-42EF-B976-674A274B1E30}" srcOrd="0" destOrd="0" presId="urn:microsoft.com/office/officeart/2016/7/layout/LinearArrowProcessNumbered"/>
    <dgm:cxn modelId="{4E8BE3EC-5713-4676-B7EB-627DE7BE7B7F}" srcId="{F803FD47-4E0C-404B-80A5-40C1DC9C9496}" destId="{CA3902E1-B366-4DEF-955F-B0CDE13AE70A}" srcOrd="1" destOrd="0" parTransId="{5DE7E999-D939-466F-8DC8-6AB8AD2155D4}" sibTransId="{14816046-6E5E-4841-975F-15BBF13ECF55}"/>
    <dgm:cxn modelId="{DFCB2BF9-D9F8-4117-B3E6-9AD678C5B210}" type="presOf" srcId="{6227BE6F-DDE9-42FD-A66D-DF8AC5F6D504}" destId="{5DE0FB11-DEE5-454E-9BE3-7E1040EBCEEB}" srcOrd="0" destOrd="0" presId="urn:microsoft.com/office/officeart/2016/7/layout/LinearArrowProcessNumbered"/>
    <dgm:cxn modelId="{7C5B9AFE-7238-4DF3-AF83-85829459915B}" type="presOf" srcId="{10218827-F6ED-4723-A174-F8A3BDE9D888}" destId="{D9DABF81-F5C8-4ADA-94FC-3A4907EC7A9D}" srcOrd="0" destOrd="0" presId="urn:microsoft.com/office/officeart/2016/7/layout/LinearArrowProcessNumbered"/>
    <dgm:cxn modelId="{898A4E65-6D47-48F7-81A2-4BEFBD8EFE35}" type="presParOf" srcId="{EB60E311-BEFB-40EF-966C-212620A2C656}" destId="{B9ED953F-47F0-455F-B655-F05840C2BB54}" srcOrd="0" destOrd="0" presId="urn:microsoft.com/office/officeart/2016/7/layout/LinearArrowProcessNumbered"/>
    <dgm:cxn modelId="{ED4B8242-56AF-4D56-A514-1C6D826626A9}" type="presParOf" srcId="{B9ED953F-47F0-455F-B655-F05840C2BB54}" destId="{1D63088F-8E55-49B9-9F93-6F16F3AB601A}" srcOrd="0" destOrd="0" presId="urn:microsoft.com/office/officeart/2016/7/layout/LinearArrowProcessNumbered"/>
    <dgm:cxn modelId="{CEB10D2B-500C-4576-917C-BA13730BB988}" type="presParOf" srcId="{B9ED953F-47F0-455F-B655-F05840C2BB54}" destId="{C03D6FDD-EC57-416A-9B02-AA6621C8CE24}" srcOrd="1" destOrd="0" presId="urn:microsoft.com/office/officeart/2016/7/layout/LinearArrowProcessNumbered"/>
    <dgm:cxn modelId="{F8A37BC5-0D74-468F-8178-493741C5A475}" type="presParOf" srcId="{C03D6FDD-EC57-416A-9B02-AA6621C8CE24}" destId="{BAA3D87B-80E2-41CA-8AFF-AB12B3B9ABAC}" srcOrd="0" destOrd="0" presId="urn:microsoft.com/office/officeart/2016/7/layout/LinearArrowProcessNumbered"/>
    <dgm:cxn modelId="{9E4A4ACF-0C56-47A4-8B97-D5179BAEDE0C}" type="presParOf" srcId="{C03D6FDD-EC57-416A-9B02-AA6621C8CE24}" destId="{52862B07-1726-4BE2-AE84-16CC37C6FEA0}" srcOrd="1" destOrd="0" presId="urn:microsoft.com/office/officeart/2016/7/layout/LinearArrowProcessNumbered"/>
    <dgm:cxn modelId="{6017B6EA-EE30-47B9-BCB8-9FAE5E94D63E}" type="presParOf" srcId="{C03D6FDD-EC57-416A-9B02-AA6621C8CE24}" destId="{9308387B-BCC6-4934-9D9C-1D780D0EAA02}" srcOrd="2" destOrd="0" presId="urn:microsoft.com/office/officeart/2016/7/layout/LinearArrowProcessNumbered"/>
    <dgm:cxn modelId="{01D9A4EA-E119-423C-82A2-6ADFCF382B81}" type="presParOf" srcId="{C03D6FDD-EC57-416A-9B02-AA6621C8CE24}" destId="{E21BD175-58EA-4C44-8E83-D24AF234ABDA}" srcOrd="3" destOrd="0" presId="urn:microsoft.com/office/officeart/2016/7/layout/LinearArrowProcessNumbered"/>
    <dgm:cxn modelId="{CADE4C0D-89B9-474D-AC0D-9149381D5226}" type="presParOf" srcId="{B9ED953F-47F0-455F-B655-F05840C2BB54}" destId="{5DE0FB11-DEE5-454E-9BE3-7E1040EBCEEB}" srcOrd="2" destOrd="0" presId="urn:microsoft.com/office/officeart/2016/7/layout/LinearArrowProcessNumbered"/>
    <dgm:cxn modelId="{D113C3AE-A570-4D33-A5C6-6FDF26CD4468}" type="presParOf" srcId="{EB60E311-BEFB-40EF-966C-212620A2C656}" destId="{7F6A4734-A34F-4C92-9B00-20360DE69FC2}" srcOrd="1" destOrd="0" presId="urn:microsoft.com/office/officeart/2016/7/layout/LinearArrowProcessNumbered"/>
    <dgm:cxn modelId="{B1A40CA2-97D9-4C0A-84C6-1D2E08054F2E}" type="presParOf" srcId="{EB60E311-BEFB-40EF-966C-212620A2C656}" destId="{0011186A-47DB-4D4E-952A-71DAFB1FBFE6}" srcOrd="2" destOrd="0" presId="urn:microsoft.com/office/officeart/2016/7/layout/LinearArrowProcessNumbered"/>
    <dgm:cxn modelId="{12FBB0B3-3B4F-48F0-912E-5D4123495FB4}" type="presParOf" srcId="{0011186A-47DB-4D4E-952A-71DAFB1FBFE6}" destId="{5EC45F54-A1F4-4748-A45D-A016FB08A0BB}" srcOrd="0" destOrd="0" presId="urn:microsoft.com/office/officeart/2016/7/layout/LinearArrowProcessNumbered"/>
    <dgm:cxn modelId="{D21AAEE5-F1D0-4FE3-84B3-42A67709DDD7}" type="presParOf" srcId="{0011186A-47DB-4D4E-952A-71DAFB1FBFE6}" destId="{98CF7CE6-7D33-4BCA-81EC-9632C6B829A8}" srcOrd="1" destOrd="0" presId="urn:microsoft.com/office/officeart/2016/7/layout/LinearArrowProcessNumbered"/>
    <dgm:cxn modelId="{C9AAC66A-61D0-4B74-8B98-E715D7B1A7F1}" type="presParOf" srcId="{98CF7CE6-7D33-4BCA-81EC-9632C6B829A8}" destId="{1AD49FF0-4BCC-4ACE-B5F9-DAD4E613E262}" srcOrd="0" destOrd="0" presId="urn:microsoft.com/office/officeart/2016/7/layout/LinearArrowProcessNumbered"/>
    <dgm:cxn modelId="{88FD2805-2D2C-4E2E-A373-28C60C646A2A}" type="presParOf" srcId="{98CF7CE6-7D33-4BCA-81EC-9632C6B829A8}" destId="{1D63E496-2B9B-4710-82CA-293FA55CDC24}" srcOrd="1" destOrd="0" presId="urn:microsoft.com/office/officeart/2016/7/layout/LinearArrowProcessNumbered"/>
    <dgm:cxn modelId="{1503570B-286F-447F-978D-F2966DCB5FC0}" type="presParOf" srcId="{98CF7CE6-7D33-4BCA-81EC-9632C6B829A8}" destId="{E2468629-A442-47EB-BC65-1E26C644734B}" srcOrd="2" destOrd="0" presId="urn:microsoft.com/office/officeart/2016/7/layout/LinearArrowProcessNumbered"/>
    <dgm:cxn modelId="{F6B18C54-400C-4B1A-A709-15DE5EBFA539}" type="presParOf" srcId="{98CF7CE6-7D33-4BCA-81EC-9632C6B829A8}" destId="{C1BFDA90-3DAE-45DD-8099-28B4B317A217}" srcOrd="3" destOrd="0" presId="urn:microsoft.com/office/officeart/2016/7/layout/LinearArrowProcessNumbered"/>
    <dgm:cxn modelId="{35926D3C-2DCB-444C-878F-C59A389C34C1}" type="presParOf" srcId="{0011186A-47DB-4D4E-952A-71DAFB1FBFE6}" destId="{FAF30BCF-0BAB-42FA-8970-0854B55C908A}" srcOrd="2" destOrd="0" presId="urn:microsoft.com/office/officeart/2016/7/layout/LinearArrowProcessNumbered"/>
    <dgm:cxn modelId="{B1D4E22B-3949-43E9-ACA8-B069DB014689}" type="presParOf" srcId="{EB60E311-BEFB-40EF-966C-212620A2C656}" destId="{2CAB844A-9282-4EC8-9C51-B7B6BA921AFF}" srcOrd="3" destOrd="0" presId="urn:microsoft.com/office/officeart/2016/7/layout/LinearArrowProcessNumbered"/>
    <dgm:cxn modelId="{8C8938E1-FAB6-480E-A287-AF56743A0988}" type="presParOf" srcId="{EB60E311-BEFB-40EF-966C-212620A2C656}" destId="{E642AC23-9827-4CC1-9B1B-B475A242F59B}" srcOrd="4" destOrd="0" presId="urn:microsoft.com/office/officeart/2016/7/layout/LinearArrowProcessNumbered"/>
    <dgm:cxn modelId="{55136579-02FE-4D9A-808D-706A1CA52F68}" type="presParOf" srcId="{E642AC23-9827-4CC1-9B1B-B475A242F59B}" destId="{3B3CE171-EB57-42A6-A564-9A576EEE9D1B}" srcOrd="0" destOrd="0" presId="urn:microsoft.com/office/officeart/2016/7/layout/LinearArrowProcessNumbered"/>
    <dgm:cxn modelId="{FC9E9FCB-476C-4409-8853-5525353B5CB1}" type="presParOf" srcId="{E642AC23-9827-4CC1-9B1B-B475A242F59B}" destId="{49361F7A-3D22-44EB-8579-5F9489843FB0}" srcOrd="1" destOrd="0" presId="urn:microsoft.com/office/officeart/2016/7/layout/LinearArrowProcessNumbered"/>
    <dgm:cxn modelId="{00BB0990-1849-4107-909D-10C0C516268A}" type="presParOf" srcId="{49361F7A-3D22-44EB-8579-5F9489843FB0}" destId="{13A5ADDC-3F18-49A3-BF9E-B89D78BA8557}" srcOrd="0" destOrd="0" presId="urn:microsoft.com/office/officeart/2016/7/layout/LinearArrowProcessNumbered"/>
    <dgm:cxn modelId="{15A75224-80FE-4259-A0FB-CD5CFF1F0BB2}" type="presParOf" srcId="{49361F7A-3D22-44EB-8579-5F9489843FB0}" destId="{829CA607-DA92-4F29-A2A1-D0875A8C8AE8}" srcOrd="1" destOrd="0" presId="urn:microsoft.com/office/officeart/2016/7/layout/LinearArrowProcessNumbered"/>
    <dgm:cxn modelId="{21337D09-AE12-4EFC-BD6D-371543F4F410}" type="presParOf" srcId="{49361F7A-3D22-44EB-8579-5F9489843FB0}" destId="{E36BE4AF-AAF2-42EF-B976-674A274B1E30}" srcOrd="2" destOrd="0" presId="urn:microsoft.com/office/officeart/2016/7/layout/LinearArrowProcessNumbered"/>
    <dgm:cxn modelId="{82048487-33C2-4BC0-8D81-2A305759C9A5}" type="presParOf" srcId="{49361F7A-3D22-44EB-8579-5F9489843FB0}" destId="{CC7F5709-BF1B-4BA7-9541-A6D20A135B3A}" srcOrd="3" destOrd="0" presId="urn:microsoft.com/office/officeart/2016/7/layout/LinearArrowProcessNumbered"/>
    <dgm:cxn modelId="{82BE51E4-C45F-4FB8-8526-598F43E5A0AB}" type="presParOf" srcId="{E642AC23-9827-4CC1-9B1B-B475A242F59B}" destId="{48DFBE4C-D389-48DC-80E4-D85AB5F44ADD}" srcOrd="2" destOrd="0" presId="urn:microsoft.com/office/officeart/2016/7/layout/LinearArrowProcessNumbered"/>
    <dgm:cxn modelId="{F3DF205F-213D-4F76-B114-FC993A6DF2E1}" type="presParOf" srcId="{EB60E311-BEFB-40EF-966C-212620A2C656}" destId="{56BE2609-720E-4B44-9C3D-2A13B080C48A}" srcOrd="5" destOrd="0" presId="urn:microsoft.com/office/officeart/2016/7/layout/LinearArrowProcessNumbered"/>
    <dgm:cxn modelId="{D4C75287-873A-45FC-BFDF-36ED1E87EF30}" type="presParOf" srcId="{EB60E311-BEFB-40EF-966C-212620A2C656}" destId="{9F881AFC-990D-4865-8208-B6C0E8BBCBF0}" srcOrd="6" destOrd="0" presId="urn:microsoft.com/office/officeart/2016/7/layout/LinearArrowProcessNumbered"/>
    <dgm:cxn modelId="{AAEC0921-6BF3-4EDE-B1B7-0B839E83B7AF}" type="presParOf" srcId="{9F881AFC-990D-4865-8208-B6C0E8BBCBF0}" destId="{96EDC840-D518-4639-8B51-A236BAED49FD}" srcOrd="0" destOrd="0" presId="urn:microsoft.com/office/officeart/2016/7/layout/LinearArrowProcessNumbered"/>
    <dgm:cxn modelId="{1478E834-E08B-429E-97AA-59BD67849283}" type="presParOf" srcId="{9F881AFC-990D-4865-8208-B6C0E8BBCBF0}" destId="{6D5C4710-584F-4AE6-9339-2F0011DFF246}" srcOrd="1" destOrd="0" presId="urn:microsoft.com/office/officeart/2016/7/layout/LinearArrowProcessNumbered"/>
    <dgm:cxn modelId="{85DA6DA5-EEBF-4253-8A79-807204EEDAE9}" type="presParOf" srcId="{6D5C4710-584F-4AE6-9339-2F0011DFF246}" destId="{1FDFCE32-98EE-44B5-A243-5C016689E1A3}" srcOrd="0" destOrd="0" presId="urn:microsoft.com/office/officeart/2016/7/layout/LinearArrowProcessNumbered"/>
    <dgm:cxn modelId="{7554D9A5-62F7-453C-8B07-FFCED22B5FE2}" type="presParOf" srcId="{6D5C4710-584F-4AE6-9339-2F0011DFF246}" destId="{61BB57A6-B3D7-418C-A4FB-9BF445C1DA1C}" srcOrd="1" destOrd="0" presId="urn:microsoft.com/office/officeart/2016/7/layout/LinearArrowProcessNumbered"/>
    <dgm:cxn modelId="{1BC1FAC7-3422-4902-BBCD-AFC3742EF0E7}" type="presParOf" srcId="{6D5C4710-584F-4AE6-9339-2F0011DFF246}" destId="{E17741EF-3BC6-47B9-846C-AF46EC845D0D}" srcOrd="2" destOrd="0" presId="urn:microsoft.com/office/officeart/2016/7/layout/LinearArrowProcessNumbered"/>
    <dgm:cxn modelId="{3DD70570-202C-40EF-B313-CF29378F6570}" type="presParOf" srcId="{6D5C4710-584F-4AE6-9339-2F0011DFF246}" destId="{309F24D1-63CC-457A-B8DD-7447732607CA}" srcOrd="3" destOrd="0" presId="urn:microsoft.com/office/officeart/2016/7/layout/LinearArrowProcessNumbered"/>
    <dgm:cxn modelId="{5E3D7ABE-59D1-48F4-920E-6BCB64953068}" type="presParOf" srcId="{9F881AFC-990D-4865-8208-B6C0E8BBCBF0}" destId="{D9DABF81-F5C8-4ADA-94FC-3A4907EC7A9D}"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2B3E7D-CE47-4064-951D-F1D02EDAEB7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8AE1CED-873C-409D-9DB8-74802E5AEBD0}">
      <dgm:prSet custT="1"/>
      <dgm:spPr/>
      <dgm:t>
        <a:bodyPr/>
        <a:lstStyle/>
        <a:p>
          <a:r>
            <a:rPr lang="en-US" sz="1800" dirty="0">
              <a:latin typeface="Times New Roman" panose="02020603050405020304" pitchFamily="18" charset="0"/>
              <a:cs typeface="Times New Roman" panose="02020603050405020304" pitchFamily="18" charset="0"/>
            </a:rPr>
            <a:t>The OULAD student dataset includes demographics, education, and academic outcomes for 32,593 students.</a:t>
          </a:r>
        </a:p>
      </dgm:t>
    </dgm:pt>
    <dgm:pt modelId="{8CEA21C9-297A-4791-AE11-85C8A1B3C9F6}" type="parTrans" cxnId="{12B4AD05-FDEF-4858-8FD0-68905A48B9BA}">
      <dgm:prSet/>
      <dgm:spPr/>
      <dgm:t>
        <a:bodyPr/>
        <a:lstStyle/>
        <a:p>
          <a:endParaRPr lang="en-US"/>
        </a:p>
      </dgm:t>
    </dgm:pt>
    <dgm:pt modelId="{E832E574-9114-41F9-85B6-2312A80792BB}" type="sibTrans" cxnId="{12B4AD05-FDEF-4858-8FD0-68905A48B9BA}">
      <dgm:prSet/>
      <dgm:spPr/>
      <dgm:t>
        <a:bodyPr/>
        <a:lstStyle/>
        <a:p>
          <a:endParaRPr lang="en-US"/>
        </a:p>
      </dgm:t>
    </dgm:pt>
    <dgm:pt modelId="{9D00E391-0BDA-42E0-B03E-56FFB27D8309}">
      <dgm:prSet custT="1"/>
      <dgm:spPr/>
      <dgm:t>
        <a:bodyPr/>
        <a:lstStyle/>
        <a:p>
          <a:r>
            <a:rPr lang="en-US" sz="1800" dirty="0">
              <a:latin typeface="Times New Roman" panose="02020603050405020304" pitchFamily="18" charset="0"/>
              <a:cs typeface="Times New Roman" panose="02020603050405020304" pitchFamily="18" charset="0"/>
            </a:rPr>
            <a:t>Key features cover gender, region, age band, highest education level, and disability status.</a:t>
          </a:r>
        </a:p>
      </dgm:t>
    </dgm:pt>
    <dgm:pt modelId="{BF1387E4-F711-42A7-8421-A2F9D82FBB69}" type="parTrans" cxnId="{DF26D5E5-EA0D-49B0-AF31-94E544D703A8}">
      <dgm:prSet/>
      <dgm:spPr/>
      <dgm:t>
        <a:bodyPr/>
        <a:lstStyle/>
        <a:p>
          <a:endParaRPr lang="en-US"/>
        </a:p>
      </dgm:t>
    </dgm:pt>
    <dgm:pt modelId="{8A887015-3768-4CCE-8CC2-5271E95B5205}" type="sibTrans" cxnId="{DF26D5E5-EA0D-49B0-AF31-94E544D703A8}">
      <dgm:prSet/>
      <dgm:spPr/>
      <dgm:t>
        <a:bodyPr/>
        <a:lstStyle/>
        <a:p>
          <a:endParaRPr lang="en-US"/>
        </a:p>
      </dgm:t>
    </dgm:pt>
    <dgm:pt modelId="{82563CBE-A3F9-4342-ABBE-2D1119CA68A1}">
      <dgm:prSet custT="1"/>
      <dgm:spPr/>
      <dgm:t>
        <a:bodyPr/>
        <a:lstStyle/>
        <a:p>
          <a:r>
            <a:rPr lang="en-US" sz="1800" dirty="0">
              <a:latin typeface="Times New Roman" panose="02020603050405020304" pitchFamily="18" charset="0"/>
              <a:cs typeface="Times New Roman" panose="02020603050405020304" pitchFamily="18" charset="0"/>
            </a:rPr>
            <a:t>The</a:t>
          </a:r>
          <a:r>
            <a:rPr lang="en-US" sz="500" dirty="0"/>
            <a:t> "</a:t>
          </a:r>
          <a:r>
            <a:rPr lang="en-US" sz="1800" dirty="0">
              <a:latin typeface="Times New Roman" panose="02020603050405020304" pitchFamily="18" charset="0"/>
              <a:cs typeface="Times New Roman" panose="02020603050405020304" pitchFamily="18" charset="0"/>
            </a:rPr>
            <a:t>imd_band" feature shows socio-economic status, with some missing values.</a:t>
          </a:r>
        </a:p>
      </dgm:t>
    </dgm:pt>
    <dgm:pt modelId="{F7EB48C3-8329-4111-A9B3-E2F71CF2D230}" type="parTrans" cxnId="{50430F54-83BA-4DE6-B328-DCA9408E53E4}">
      <dgm:prSet/>
      <dgm:spPr/>
      <dgm:t>
        <a:bodyPr/>
        <a:lstStyle/>
        <a:p>
          <a:endParaRPr lang="en-US"/>
        </a:p>
      </dgm:t>
    </dgm:pt>
    <dgm:pt modelId="{A926BDB7-078D-4CE4-89DC-F2BA5D952FC4}" type="sibTrans" cxnId="{50430F54-83BA-4DE6-B328-DCA9408E53E4}">
      <dgm:prSet/>
      <dgm:spPr/>
      <dgm:t>
        <a:bodyPr/>
        <a:lstStyle/>
        <a:p>
          <a:endParaRPr lang="en-US"/>
        </a:p>
      </dgm:t>
    </dgm:pt>
    <dgm:pt modelId="{A90B03ED-5027-44C0-AC39-876B1219357E}">
      <dgm:prSet custT="1"/>
      <dgm:spPr/>
      <dgm:t>
        <a:bodyPr/>
        <a:lstStyle/>
        <a:p>
          <a:r>
            <a:rPr lang="en-US" sz="1800" dirty="0">
              <a:latin typeface="Times New Roman" panose="02020603050405020304" pitchFamily="18" charset="0"/>
              <a:cs typeface="Times New Roman" panose="02020603050405020304" pitchFamily="18" charset="0"/>
            </a:rPr>
            <a:t>num_of_prev_attempts" reflects prior attempts, potentially predicting student performance.</a:t>
          </a:r>
        </a:p>
      </dgm:t>
    </dgm:pt>
    <dgm:pt modelId="{860B7418-8B6E-4945-91A6-8273F2A22ED9}" type="parTrans" cxnId="{A7A611FD-B0D0-4F09-B3D5-04B7892CC05E}">
      <dgm:prSet/>
      <dgm:spPr/>
      <dgm:t>
        <a:bodyPr/>
        <a:lstStyle/>
        <a:p>
          <a:endParaRPr lang="en-US"/>
        </a:p>
      </dgm:t>
    </dgm:pt>
    <dgm:pt modelId="{4DEA5604-E3F7-4CCE-9560-E6DBAFB68072}" type="sibTrans" cxnId="{A7A611FD-B0D0-4F09-B3D5-04B7892CC05E}">
      <dgm:prSet/>
      <dgm:spPr/>
      <dgm:t>
        <a:bodyPr/>
        <a:lstStyle/>
        <a:p>
          <a:endParaRPr lang="en-US"/>
        </a:p>
      </dgm:t>
    </dgm:pt>
    <dgm:pt modelId="{7819A1CC-1FD1-4F13-9B91-0A319D5463CF}">
      <dgm:prSet custT="1"/>
      <dgm:spPr/>
      <dgm:t>
        <a:bodyPr/>
        <a:lstStyle/>
        <a:p>
          <a:r>
            <a:rPr lang="en-US" sz="1800" dirty="0">
              <a:latin typeface="Times New Roman" panose="02020603050405020304" pitchFamily="18" charset="0"/>
              <a:cs typeface="Times New Roman" panose="02020603050405020304" pitchFamily="18" charset="0"/>
            </a:rPr>
            <a:t>final_result" categorizes outcomes (Pass, Fail, Withdrawn, Distinction), aiding in academic success analysis.</a:t>
          </a:r>
        </a:p>
      </dgm:t>
    </dgm:pt>
    <dgm:pt modelId="{8EAB75E1-0018-47D5-9D1E-CDE61288F669}" type="parTrans" cxnId="{418F02DD-7320-412B-B884-7D1B2C92F642}">
      <dgm:prSet/>
      <dgm:spPr/>
      <dgm:t>
        <a:bodyPr/>
        <a:lstStyle/>
        <a:p>
          <a:endParaRPr lang="en-US"/>
        </a:p>
      </dgm:t>
    </dgm:pt>
    <dgm:pt modelId="{0047A261-8291-4C9F-AAB5-C86CEC327015}" type="sibTrans" cxnId="{418F02DD-7320-412B-B884-7D1B2C92F642}">
      <dgm:prSet/>
      <dgm:spPr/>
      <dgm:t>
        <a:bodyPr/>
        <a:lstStyle/>
        <a:p>
          <a:endParaRPr lang="en-US"/>
        </a:p>
      </dgm:t>
    </dgm:pt>
    <dgm:pt modelId="{DA05F18A-A6DF-4684-973A-7AF3F57E8FCF}" type="pres">
      <dgm:prSet presAssocID="{C72B3E7D-CE47-4064-951D-F1D02EDAEB76}" presName="linear" presStyleCnt="0">
        <dgm:presLayoutVars>
          <dgm:animLvl val="lvl"/>
          <dgm:resizeHandles val="exact"/>
        </dgm:presLayoutVars>
      </dgm:prSet>
      <dgm:spPr/>
    </dgm:pt>
    <dgm:pt modelId="{4EFBB39E-2CCA-4E26-BB61-D923003C6C72}" type="pres">
      <dgm:prSet presAssocID="{88AE1CED-873C-409D-9DB8-74802E5AEBD0}" presName="parentText" presStyleLbl="node1" presStyleIdx="0" presStyleCnt="5">
        <dgm:presLayoutVars>
          <dgm:chMax val="0"/>
          <dgm:bulletEnabled val="1"/>
        </dgm:presLayoutVars>
      </dgm:prSet>
      <dgm:spPr/>
    </dgm:pt>
    <dgm:pt modelId="{53F9CA4E-7D16-4E3A-B5FE-7ED8E4B012D7}" type="pres">
      <dgm:prSet presAssocID="{E832E574-9114-41F9-85B6-2312A80792BB}" presName="spacer" presStyleCnt="0"/>
      <dgm:spPr/>
    </dgm:pt>
    <dgm:pt modelId="{635B74BC-0B1C-4C68-B5A2-031CF1A664B1}" type="pres">
      <dgm:prSet presAssocID="{9D00E391-0BDA-42E0-B03E-56FFB27D8309}" presName="parentText" presStyleLbl="node1" presStyleIdx="1" presStyleCnt="5" custLinFactNeighborY="75597">
        <dgm:presLayoutVars>
          <dgm:chMax val="0"/>
          <dgm:bulletEnabled val="1"/>
        </dgm:presLayoutVars>
      </dgm:prSet>
      <dgm:spPr/>
    </dgm:pt>
    <dgm:pt modelId="{B957754D-C76B-4DB5-A3FA-4064D1761484}" type="pres">
      <dgm:prSet presAssocID="{8A887015-3768-4CCE-8CC2-5271E95B5205}" presName="spacer" presStyleCnt="0"/>
      <dgm:spPr/>
    </dgm:pt>
    <dgm:pt modelId="{4D486877-8A85-4C38-9DF2-054AC4AF4C76}" type="pres">
      <dgm:prSet presAssocID="{82563CBE-A3F9-4342-ABBE-2D1119CA68A1}" presName="parentText" presStyleLbl="node1" presStyleIdx="2" presStyleCnt="5">
        <dgm:presLayoutVars>
          <dgm:chMax val="0"/>
          <dgm:bulletEnabled val="1"/>
        </dgm:presLayoutVars>
      </dgm:prSet>
      <dgm:spPr/>
    </dgm:pt>
    <dgm:pt modelId="{B2B85558-9345-413E-A16C-CCFD03236AC3}" type="pres">
      <dgm:prSet presAssocID="{A926BDB7-078D-4CE4-89DC-F2BA5D952FC4}" presName="spacer" presStyleCnt="0"/>
      <dgm:spPr/>
    </dgm:pt>
    <dgm:pt modelId="{E251B368-EB1F-4B6C-8B5C-00665C9741CC}" type="pres">
      <dgm:prSet presAssocID="{A90B03ED-5027-44C0-AC39-876B1219357E}" presName="parentText" presStyleLbl="node1" presStyleIdx="3" presStyleCnt="5">
        <dgm:presLayoutVars>
          <dgm:chMax val="0"/>
          <dgm:bulletEnabled val="1"/>
        </dgm:presLayoutVars>
      </dgm:prSet>
      <dgm:spPr/>
    </dgm:pt>
    <dgm:pt modelId="{CA45B590-4E42-4B39-B1AE-88953036BBCA}" type="pres">
      <dgm:prSet presAssocID="{4DEA5604-E3F7-4CCE-9560-E6DBAFB68072}" presName="spacer" presStyleCnt="0"/>
      <dgm:spPr/>
    </dgm:pt>
    <dgm:pt modelId="{5B204235-8222-43C8-9798-27EF5EFE66CE}" type="pres">
      <dgm:prSet presAssocID="{7819A1CC-1FD1-4F13-9B91-0A319D5463CF}" presName="parentText" presStyleLbl="node1" presStyleIdx="4" presStyleCnt="5">
        <dgm:presLayoutVars>
          <dgm:chMax val="0"/>
          <dgm:bulletEnabled val="1"/>
        </dgm:presLayoutVars>
      </dgm:prSet>
      <dgm:spPr/>
    </dgm:pt>
  </dgm:ptLst>
  <dgm:cxnLst>
    <dgm:cxn modelId="{12B4AD05-FDEF-4858-8FD0-68905A48B9BA}" srcId="{C72B3E7D-CE47-4064-951D-F1D02EDAEB76}" destId="{88AE1CED-873C-409D-9DB8-74802E5AEBD0}" srcOrd="0" destOrd="0" parTransId="{8CEA21C9-297A-4791-AE11-85C8A1B3C9F6}" sibTransId="{E832E574-9114-41F9-85B6-2312A80792BB}"/>
    <dgm:cxn modelId="{50430F54-83BA-4DE6-B328-DCA9408E53E4}" srcId="{C72B3E7D-CE47-4064-951D-F1D02EDAEB76}" destId="{82563CBE-A3F9-4342-ABBE-2D1119CA68A1}" srcOrd="2" destOrd="0" parTransId="{F7EB48C3-8329-4111-A9B3-E2F71CF2D230}" sibTransId="{A926BDB7-078D-4CE4-89DC-F2BA5D952FC4}"/>
    <dgm:cxn modelId="{B0F08F9C-4773-46A8-AB2E-AE30383533B4}" type="presOf" srcId="{C72B3E7D-CE47-4064-951D-F1D02EDAEB76}" destId="{DA05F18A-A6DF-4684-973A-7AF3F57E8FCF}" srcOrd="0" destOrd="0" presId="urn:microsoft.com/office/officeart/2005/8/layout/vList2"/>
    <dgm:cxn modelId="{6AEA8E9D-64DA-40BB-A3D7-6A2B4BBC372F}" type="presOf" srcId="{A90B03ED-5027-44C0-AC39-876B1219357E}" destId="{E251B368-EB1F-4B6C-8B5C-00665C9741CC}" srcOrd="0" destOrd="0" presId="urn:microsoft.com/office/officeart/2005/8/layout/vList2"/>
    <dgm:cxn modelId="{69D6C6A8-88AF-427E-87E8-7FA48CC154C8}" type="presOf" srcId="{82563CBE-A3F9-4342-ABBE-2D1119CA68A1}" destId="{4D486877-8A85-4C38-9DF2-054AC4AF4C76}" srcOrd="0" destOrd="0" presId="urn:microsoft.com/office/officeart/2005/8/layout/vList2"/>
    <dgm:cxn modelId="{74BFC2BF-4233-40A5-8E97-031AD298FCC2}" type="presOf" srcId="{7819A1CC-1FD1-4F13-9B91-0A319D5463CF}" destId="{5B204235-8222-43C8-9798-27EF5EFE66CE}" srcOrd="0" destOrd="0" presId="urn:microsoft.com/office/officeart/2005/8/layout/vList2"/>
    <dgm:cxn modelId="{C5CC67CE-4DB1-4E8F-8ECB-001CDA2B3743}" type="presOf" srcId="{88AE1CED-873C-409D-9DB8-74802E5AEBD0}" destId="{4EFBB39E-2CCA-4E26-BB61-D923003C6C72}" srcOrd="0" destOrd="0" presId="urn:microsoft.com/office/officeart/2005/8/layout/vList2"/>
    <dgm:cxn modelId="{418F02DD-7320-412B-B884-7D1B2C92F642}" srcId="{C72B3E7D-CE47-4064-951D-F1D02EDAEB76}" destId="{7819A1CC-1FD1-4F13-9B91-0A319D5463CF}" srcOrd="4" destOrd="0" parTransId="{8EAB75E1-0018-47D5-9D1E-CDE61288F669}" sibTransId="{0047A261-8291-4C9F-AAB5-C86CEC327015}"/>
    <dgm:cxn modelId="{89B125E5-C6D2-471B-AF11-2226B8C76D8B}" type="presOf" srcId="{9D00E391-0BDA-42E0-B03E-56FFB27D8309}" destId="{635B74BC-0B1C-4C68-B5A2-031CF1A664B1}" srcOrd="0" destOrd="0" presId="urn:microsoft.com/office/officeart/2005/8/layout/vList2"/>
    <dgm:cxn modelId="{DF26D5E5-EA0D-49B0-AF31-94E544D703A8}" srcId="{C72B3E7D-CE47-4064-951D-F1D02EDAEB76}" destId="{9D00E391-0BDA-42E0-B03E-56FFB27D8309}" srcOrd="1" destOrd="0" parTransId="{BF1387E4-F711-42A7-8421-A2F9D82FBB69}" sibTransId="{8A887015-3768-4CCE-8CC2-5271E95B5205}"/>
    <dgm:cxn modelId="{A7A611FD-B0D0-4F09-B3D5-04B7892CC05E}" srcId="{C72B3E7D-CE47-4064-951D-F1D02EDAEB76}" destId="{A90B03ED-5027-44C0-AC39-876B1219357E}" srcOrd="3" destOrd="0" parTransId="{860B7418-8B6E-4945-91A6-8273F2A22ED9}" sibTransId="{4DEA5604-E3F7-4CCE-9560-E6DBAFB68072}"/>
    <dgm:cxn modelId="{8F23DDA8-CFAB-4FE4-BC81-760874BA3AC0}" type="presParOf" srcId="{DA05F18A-A6DF-4684-973A-7AF3F57E8FCF}" destId="{4EFBB39E-2CCA-4E26-BB61-D923003C6C72}" srcOrd="0" destOrd="0" presId="urn:microsoft.com/office/officeart/2005/8/layout/vList2"/>
    <dgm:cxn modelId="{B1B4240D-44CC-48DA-8479-2DB997A48C63}" type="presParOf" srcId="{DA05F18A-A6DF-4684-973A-7AF3F57E8FCF}" destId="{53F9CA4E-7D16-4E3A-B5FE-7ED8E4B012D7}" srcOrd="1" destOrd="0" presId="urn:microsoft.com/office/officeart/2005/8/layout/vList2"/>
    <dgm:cxn modelId="{C6A94001-8F42-4CFE-B712-DDFD7484D327}" type="presParOf" srcId="{DA05F18A-A6DF-4684-973A-7AF3F57E8FCF}" destId="{635B74BC-0B1C-4C68-B5A2-031CF1A664B1}" srcOrd="2" destOrd="0" presId="urn:microsoft.com/office/officeart/2005/8/layout/vList2"/>
    <dgm:cxn modelId="{2B63A901-7B9E-497D-9461-0703087010DB}" type="presParOf" srcId="{DA05F18A-A6DF-4684-973A-7AF3F57E8FCF}" destId="{B957754D-C76B-4DB5-A3FA-4064D1761484}" srcOrd="3" destOrd="0" presId="urn:microsoft.com/office/officeart/2005/8/layout/vList2"/>
    <dgm:cxn modelId="{8EFB8714-9515-401E-B32F-11B3AEE33876}" type="presParOf" srcId="{DA05F18A-A6DF-4684-973A-7AF3F57E8FCF}" destId="{4D486877-8A85-4C38-9DF2-054AC4AF4C76}" srcOrd="4" destOrd="0" presId="urn:microsoft.com/office/officeart/2005/8/layout/vList2"/>
    <dgm:cxn modelId="{21A62569-7D46-4D15-9981-880E99362FBF}" type="presParOf" srcId="{DA05F18A-A6DF-4684-973A-7AF3F57E8FCF}" destId="{B2B85558-9345-413E-A16C-CCFD03236AC3}" srcOrd="5" destOrd="0" presId="urn:microsoft.com/office/officeart/2005/8/layout/vList2"/>
    <dgm:cxn modelId="{B492AB3E-7FAA-4CA2-A9A3-AC2FB1B28467}" type="presParOf" srcId="{DA05F18A-A6DF-4684-973A-7AF3F57E8FCF}" destId="{E251B368-EB1F-4B6C-8B5C-00665C9741CC}" srcOrd="6" destOrd="0" presId="urn:microsoft.com/office/officeart/2005/8/layout/vList2"/>
    <dgm:cxn modelId="{8DF8BB58-5D4D-45AD-9B25-555A9F321934}" type="presParOf" srcId="{DA05F18A-A6DF-4684-973A-7AF3F57E8FCF}" destId="{CA45B590-4E42-4B39-B1AE-88953036BBCA}" srcOrd="7" destOrd="0" presId="urn:microsoft.com/office/officeart/2005/8/layout/vList2"/>
    <dgm:cxn modelId="{69403380-BE73-4F66-8D48-AF7FC2DBB344}" type="presParOf" srcId="{DA05F18A-A6DF-4684-973A-7AF3F57E8FCF}" destId="{5B204235-8222-43C8-9798-27EF5EFE66C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DAFC68-884B-4E7B-906D-3DF63F5393E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0E342F5-CCB4-48A7-9ECB-743122D18B95}">
      <dgm:prSet custT="1"/>
      <dgm:spPr/>
      <dgm:t>
        <a:bodyPr/>
        <a:lstStyle/>
        <a:p>
          <a:r>
            <a:rPr lang="en-US" sz="1800" dirty="0">
              <a:latin typeface="Times New Roman" panose="02020603050405020304" pitchFamily="18" charset="0"/>
              <a:cs typeface="Times New Roman" panose="02020603050405020304" pitchFamily="18" charset="0"/>
            </a:rPr>
            <a:t>The student ID system is unique, with large average values not trend-related</a:t>
          </a:r>
          <a:r>
            <a:rPr lang="en-US" sz="1600" dirty="0"/>
            <a:t>.</a:t>
          </a:r>
        </a:p>
      </dgm:t>
    </dgm:pt>
    <dgm:pt modelId="{C79990DB-2EB4-4CE5-BFAF-B95912A0CF32}" type="parTrans" cxnId="{CC77A39D-719E-4FDF-82D3-7B83B1B488CE}">
      <dgm:prSet/>
      <dgm:spPr/>
      <dgm:t>
        <a:bodyPr/>
        <a:lstStyle/>
        <a:p>
          <a:endParaRPr lang="en-US"/>
        </a:p>
      </dgm:t>
    </dgm:pt>
    <dgm:pt modelId="{6CD0BF92-05C5-4544-8B46-51F83222F4DB}" type="sibTrans" cxnId="{CC77A39D-719E-4FDF-82D3-7B83B1B488CE}">
      <dgm:prSet/>
      <dgm:spPr/>
      <dgm:t>
        <a:bodyPr/>
        <a:lstStyle/>
        <a:p>
          <a:endParaRPr lang="en-US"/>
        </a:p>
      </dgm:t>
    </dgm:pt>
    <dgm:pt modelId="{C46311FB-A435-4085-B70A-4C33C6E832E1}">
      <dgm:prSet custT="1"/>
      <dgm:spPr/>
      <dgm:t>
        <a:bodyPr/>
        <a:lstStyle/>
        <a:p>
          <a:r>
            <a:rPr lang="en-US" sz="1800" dirty="0">
              <a:latin typeface="Times New Roman" panose="02020603050405020304" pitchFamily="18" charset="0"/>
              <a:cs typeface="Times New Roman" panose="02020603050405020304" pitchFamily="18" charset="0"/>
            </a:rPr>
            <a:t>Most students (median 0 attempts) are taking the course for the first time.</a:t>
          </a:r>
        </a:p>
      </dgm:t>
    </dgm:pt>
    <dgm:pt modelId="{C4040065-BA12-4044-A69C-B2EA3C7B4EC0}" type="parTrans" cxnId="{27E4DE72-0DF8-43EE-9A86-6AE286C04CAD}">
      <dgm:prSet/>
      <dgm:spPr/>
      <dgm:t>
        <a:bodyPr/>
        <a:lstStyle/>
        <a:p>
          <a:endParaRPr lang="en-US"/>
        </a:p>
      </dgm:t>
    </dgm:pt>
    <dgm:pt modelId="{E792AF84-BF02-4664-89C1-ACF5D56A5972}" type="sibTrans" cxnId="{27E4DE72-0DF8-43EE-9A86-6AE286C04CAD}">
      <dgm:prSet/>
      <dgm:spPr/>
      <dgm:t>
        <a:bodyPr/>
        <a:lstStyle/>
        <a:p>
          <a:endParaRPr lang="en-US"/>
        </a:p>
      </dgm:t>
    </dgm:pt>
    <dgm:pt modelId="{EC0E21CD-00D1-4EF5-9B95-027DDCA4B2C7}">
      <dgm:prSet custT="1"/>
      <dgm:spPr/>
      <dgm:t>
        <a:bodyPr/>
        <a:lstStyle/>
        <a:p>
          <a:r>
            <a:rPr lang="en-US" sz="1800" dirty="0">
              <a:latin typeface="Times New Roman" panose="02020603050405020304" pitchFamily="18" charset="0"/>
              <a:cs typeface="Times New Roman" panose="02020603050405020304" pitchFamily="18" charset="0"/>
            </a:rPr>
            <a:t>A few students attempted multiple times, with a maximum of six attempts.</a:t>
          </a:r>
        </a:p>
      </dgm:t>
    </dgm:pt>
    <dgm:pt modelId="{5B454472-F11F-46D1-A0F3-9E819C6DDFC1}" type="parTrans" cxnId="{8251DF21-ADE9-4D81-A3E7-C807E3F8F1BE}">
      <dgm:prSet/>
      <dgm:spPr/>
      <dgm:t>
        <a:bodyPr/>
        <a:lstStyle/>
        <a:p>
          <a:endParaRPr lang="en-US"/>
        </a:p>
      </dgm:t>
    </dgm:pt>
    <dgm:pt modelId="{D02AC926-EEB4-47FC-BBDE-C8B926CC319B}" type="sibTrans" cxnId="{8251DF21-ADE9-4D81-A3E7-C807E3F8F1BE}">
      <dgm:prSet/>
      <dgm:spPr/>
      <dgm:t>
        <a:bodyPr/>
        <a:lstStyle/>
        <a:p>
          <a:endParaRPr lang="en-US"/>
        </a:p>
      </dgm:t>
    </dgm:pt>
    <dgm:pt modelId="{9FD91171-14D7-40F7-8506-4108C5DEA23F}">
      <dgm:prSet custT="1"/>
      <dgm:spPr/>
      <dgm:t>
        <a:bodyPr/>
        <a:lstStyle/>
        <a:p>
          <a:r>
            <a:rPr lang="en-US" sz="1800" dirty="0">
              <a:latin typeface="Times New Roman" panose="02020603050405020304" pitchFamily="18" charset="0"/>
              <a:cs typeface="Times New Roman" panose="02020603050405020304" pitchFamily="18" charset="0"/>
            </a:rPr>
            <a:t>Average credits studied is 80, with a wide range of values observed.</a:t>
          </a:r>
        </a:p>
      </dgm:t>
    </dgm:pt>
    <dgm:pt modelId="{965297F5-2343-4BD4-B612-F6BA480FD2BB}" type="parTrans" cxnId="{83F34A7E-6F8C-42FF-8DE5-79E1A1154E5B}">
      <dgm:prSet/>
      <dgm:spPr/>
      <dgm:t>
        <a:bodyPr/>
        <a:lstStyle/>
        <a:p>
          <a:endParaRPr lang="en-US"/>
        </a:p>
      </dgm:t>
    </dgm:pt>
    <dgm:pt modelId="{67F1D22A-5BA7-4B33-9D11-B01449E17213}" type="sibTrans" cxnId="{83F34A7E-6F8C-42FF-8DE5-79E1A1154E5B}">
      <dgm:prSet/>
      <dgm:spPr/>
      <dgm:t>
        <a:bodyPr/>
        <a:lstStyle/>
        <a:p>
          <a:endParaRPr lang="en-US"/>
        </a:p>
      </dgm:t>
    </dgm:pt>
    <dgm:pt modelId="{292818EA-ABD2-459C-829A-AC91E713B47C}">
      <dgm:prSet custT="1"/>
      <dgm:spPr/>
      <dgm:t>
        <a:bodyPr/>
        <a:lstStyle/>
        <a:p>
          <a:r>
            <a:rPr lang="en-US" sz="1800" dirty="0">
              <a:latin typeface="Times New Roman" panose="02020603050405020304" pitchFamily="18" charset="0"/>
              <a:cs typeface="Times New Roman" panose="02020603050405020304" pitchFamily="18" charset="0"/>
            </a:rPr>
            <a:t>Maximum credits at 655 likely represent multiple modules or data outliers.</a:t>
          </a:r>
        </a:p>
      </dgm:t>
    </dgm:pt>
    <dgm:pt modelId="{DBBB491D-B513-4E6D-8405-7DF0CDCABC3A}" type="parTrans" cxnId="{C4872EFB-D474-4EB0-BB5F-16434621640C}">
      <dgm:prSet/>
      <dgm:spPr/>
      <dgm:t>
        <a:bodyPr/>
        <a:lstStyle/>
        <a:p>
          <a:endParaRPr lang="en-US"/>
        </a:p>
      </dgm:t>
    </dgm:pt>
    <dgm:pt modelId="{7BC5B9F2-DFCB-4D2F-A4AC-672088A5B064}" type="sibTrans" cxnId="{C4872EFB-D474-4EB0-BB5F-16434621640C}">
      <dgm:prSet/>
      <dgm:spPr/>
      <dgm:t>
        <a:bodyPr/>
        <a:lstStyle/>
        <a:p>
          <a:endParaRPr lang="en-US"/>
        </a:p>
      </dgm:t>
    </dgm:pt>
    <dgm:pt modelId="{9C26CB46-82F9-4DDE-9DC0-DBDC977623CF}" type="pres">
      <dgm:prSet presAssocID="{D1DAFC68-884B-4E7B-906D-3DF63F5393E7}" presName="linear" presStyleCnt="0">
        <dgm:presLayoutVars>
          <dgm:animLvl val="lvl"/>
          <dgm:resizeHandles val="exact"/>
        </dgm:presLayoutVars>
      </dgm:prSet>
      <dgm:spPr/>
    </dgm:pt>
    <dgm:pt modelId="{6C44B10D-88D0-45B0-A994-EFD548131C01}" type="pres">
      <dgm:prSet presAssocID="{30E342F5-CCB4-48A7-9ECB-743122D18B95}" presName="parentText" presStyleLbl="node1" presStyleIdx="0" presStyleCnt="5">
        <dgm:presLayoutVars>
          <dgm:chMax val="0"/>
          <dgm:bulletEnabled val="1"/>
        </dgm:presLayoutVars>
      </dgm:prSet>
      <dgm:spPr/>
    </dgm:pt>
    <dgm:pt modelId="{46711E8A-A0F9-42B7-811F-1E59E68DBC57}" type="pres">
      <dgm:prSet presAssocID="{6CD0BF92-05C5-4544-8B46-51F83222F4DB}" presName="spacer" presStyleCnt="0"/>
      <dgm:spPr/>
    </dgm:pt>
    <dgm:pt modelId="{5C6548BA-320D-450E-84C2-861B7863CF5E}" type="pres">
      <dgm:prSet presAssocID="{C46311FB-A435-4085-B70A-4C33C6E832E1}" presName="parentText" presStyleLbl="node1" presStyleIdx="1" presStyleCnt="5">
        <dgm:presLayoutVars>
          <dgm:chMax val="0"/>
          <dgm:bulletEnabled val="1"/>
        </dgm:presLayoutVars>
      </dgm:prSet>
      <dgm:spPr/>
    </dgm:pt>
    <dgm:pt modelId="{6649FD77-424F-4209-922B-F98BCEDEE096}" type="pres">
      <dgm:prSet presAssocID="{E792AF84-BF02-4664-89C1-ACF5D56A5972}" presName="spacer" presStyleCnt="0"/>
      <dgm:spPr/>
    </dgm:pt>
    <dgm:pt modelId="{6053EC38-0F25-436B-9FAC-8DED5CE295C0}" type="pres">
      <dgm:prSet presAssocID="{EC0E21CD-00D1-4EF5-9B95-027DDCA4B2C7}" presName="parentText" presStyleLbl="node1" presStyleIdx="2" presStyleCnt="5">
        <dgm:presLayoutVars>
          <dgm:chMax val="0"/>
          <dgm:bulletEnabled val="1"/>
        </dgm:presLayoutVars>
      </dgm:prSet>
      <dgm:spPr/>
    </dgm:pt>
    <dgm:pt modelId="{1DA485CF-5F4C-4425-962F-2B609D9D47AC}" type="pres">
      <dgm:prSet presAssocID="{D02AC926-EEB4-47FC-BBDE-C8B926CC319B}" presName="spacer" presStyleCnt="0"/>
      <dgm:spPr/>
    </dgm:pt>
    <dgm:pt modelId="{DFFE42B4-86A7-43C2-B2DF-AD6FA49977AD}" type="pres">
      <dgm:prSet presAssocID="{9FD91171-14D7-40F7-8506-4108C5DEA23F}" presName="parentText" presStyleLbl="node1" presStyleIdx="3" presStyleCnt="5">
        <dgm:presLayoutVars>
          <dgm:chMax val="0"/>
          <dgm:bulletEnabled val="1"/>
        </dgm:presLayoutVars>
      </dgm:prSet>
      <dgm:spPr/>
    </dgm:pt>
    <dgm:pt modelId="{580DD753-E9D1-47A5-A43E-D22B6E4F1419}" type="pres">
      <dgm:prSet presAssocID="{67F1D22A-5BA7-4B33-9D11-B01449E17213}" presName="spacer" presStyleCnt="0"/>
      <dgm:spPr/>
    </dgm:pt>
    <dgm:pt modelId="{B8F069D3-40C3-4D64-8F45-F8A7A3534891}" type="pres">
      <dgm:prSet presAssocID="{292818EA-ABD2-459C-829A-AC91E713B47C}" presName="parentText" presStyleLbl="node1" presStyleIdx="4" presStyleCnt="5">
        <dgm:presLayoutVars>
          <dgm:chMax val="0"/>
          <dgm:bulletEnabled val="1"/>
        </dgm:presLayoutVars>
      </dgm:prSet>
      <dgm:spPr/>
    </dgm:pt>
  </dgm:ptLst>
  <dgm:cxnLst>
    <dgm:cxn modelId="{A3A6D312-64E2-4C31-9F40-B8FF792C48C5}" type="presOf" srcId="{EC0E21CD-00D1-4EF5-9B95-027DDCA4B2C7}" destId="{6053EC38-0F25-436B-9FAC-8DED5CE295C0}" srcOrd="0" destOrd="0" presId="urn:microsoft.com/office/officeart/2005/8/layout/vList2"/>
    <dgm:cxn modelId="{8251DF21-ADE9-4D81-A3E7-C807E3F8F1BE}" srcId="{D1DAFC68-884B-4E7B-906D-3DF63F5393E7}" destId="{EC0E21CD-00D1-4EF5-9B95-027DDCA4B2C7}" srcOrd="2" destOrd="0" parTransId="{5B454472-F11F-46D1-A0F3-9E819C6DDFC1}" sibTransId="{D02AC926-EEB4-47FC-BBDE-C8B926CC319B}"/>
    <dgm:cxn modelId="{F9D1F862-D8A3-404B-9AD1-5D92FA4FA941}" type="presOf" srcId="{9FD91171-14D7-40F7-8506-4108C5DEA23F}" destId="{DFFE42B4-86A7-43C2-B2DF-AD6FA49977AD}" srcOrd="0" destOrd="0" presId="urn:microsoft.com/office/officeart/2005/8/layout/vList2"/>
    <dgm:cxn modelId="{27E4DE72-0DF8-43EE-9A86-6AE286C04CAD}" srcId="{D1DAFC68-884B-4E7B-906D-3DF63F5393E7}" destId="{C46311FB-A435-4085-B70A-4C33C6E832E1}" srcOrd="1" destOrd="0" parTransId="{C4040065-BA12-4044-A69C-B2EA3C7B4EC0}" sibTransId="{E792AF84-BF02-4664-89C1-ACF5D56A5972}"/>
    <dgm:cxn modelId="{83F34A7E-6F8C-42FF-8DE5-79E1A1154E5B}" srcId="{D1DAFC68-884B-4E7B-906D-3DF63F5393E7}" destId="{9FD91171-14D7-40F7-8506-4108C5DEA23F}" srcOrd="3" destOrd="0" parTransId="{965297F5-2343-4BD4-B612-F6BA480FD2BB}" sibTransId="{67F1D22A-5BA7-4B33-9D11-B01449E17213}"/>
    <dgm:cxn modelId="{20B8F385-1E3F-4A7E-8D38-A0C81849501B}" type="presOf" srcId="{D1DAFC68-884B-4E7B-906D-3DF63F5393E7}" destId="{9C26CB46-82F9-4DDE-9DC0-DBDC977623CF}" srcOrd="0" destOrd="0" presId="urn:microsoft.com/office/officeart/2005/8/layout/vList2"/>
    <dgm:cxn modelId="{97F52D8E-6F11-48FF-96C2-651F15F98A57}" type="presOf" srcId="{30E342F5-CCB4-48A7-9ECB-743122D18B95}" destId="{6C44B10D-88D0-45B0-A994-EFD548131C01}" srcOrd="0" destOrd="0" presId="urn:microsoft.com/office/officeart/2005/8/layout/vList2"/>
    <dgm:cxn modelId="{F971B192-58DB-4E27-A1F0-456AF45E0E3D}" type="presOf" srcId="{C46311FB-A435-4085-B70A-4C33C6E832E1}" destId="{5C6548BA-320D-450E-84C2-861B7863CF5E}" srcOrd="0" destOrd="0" presId="urn:microsoft.com/office/officeart/2005/8/layout/vList2"/>
    <dgm:cxn modelId="{CC77A39D-719E-4FDF-82D3-7B83B1B488CE}" srcId="{D1DAFC68-884B-4E7B-906D-3DF63F5393E7}" destId="{30E342F5-CCB4-48A7-9ECB-743122D18B95}" srcOrd="0" destOrd="0" parTransId="{C79990DB-2EB4-4CE5-BFAF-B95912A0CF32}" sibTransId="{6CD0BF92-05C5-4544-8B46-51F83222F4DB}"/>
    <dgm:cxn modelId="{450D8ADD-5C50-4B96-A06E-969909C8E04B}" type="presOf" srcId="{292818EA-ABD2-459C-829A-AC91E713B47C}" destId="{B8F069D3-40C3-4D64-8F45-F8A7A3534891}" srcOrd="0" destOrd="0" presId="urn:microsoft.com/office/officeart/2005/8/layout/vList2"/>
    <dgm:cxn modelId="{C4872EFB-D474-4EB0-BB5F-16434621640C}" srcId="{D1DAFC68-884B-4E7B-906D-3DF63F5393E7}" destId="{292818EA-ABD2-459C-829A-AC91E713B47C}" srcOrd="4" destOrd="0" parTransId="{DBBB491D-B513-4E6D-8405-7DF0CDCABC3A}" sibTransId="{7BC5B9F2-DFCB-4D2F-A4AC-672088A5B064}"/>
    <dgm:cxn modelId="{B91ACB81-8A2D-4ECE-9FB5-EA6E2DAE3668}" type="presParOf" srcId="{9C26CB46-82F9-4DDE-9DC0-DBDC977623CF}" destId="{6C44B10D-88D0-45B0-A994-EFD548131C01}" srcOrd="0" destOrd="0" presId="urn:microsoft.com/office/officeart/2005/8/layout/vList2"/>
    <dgm:cxn modelId="{B2E2EFCB-8233-4655-9DFD-B90C4DB6C288}" type="presParOf" srcId="{9C26CB46-82F9-4DDE-9DC0-DBDC977623CF}" destId="{46711E8A-A0F9-42B7-811F-1E59E68DBC57}" srcOrd="1" destOrd="0" presId="urn:microsoft.com/office/officeart/2005/8/layout/vList2"/>
    <dgm:cxn modelId="{C6D6D781-038B-48BC-9BF3-6B94CBACCB94}" type="presParOf" srcId="{9C26CB46-82F9-4DDE-9DC0-DBDC977623CF}" destId="{5C6548BA-320D-450E-84C2-861B7863CF5E}" srcOrd="2" destOrd="0" presId="urn:microsoft.com/office/officeart/2005/8/layout/vList2"/>
    <dgm:cxn modelId="{294EF415-9797-4D2D-B2C9-B41632A9DB66}" type="presParOf" srcId="{9C26CB46-82F9-4DDE-9DC0-DBDC977623CF}" destId="{6649FD77-424F-4209-922B-F98BCEDEE096}" srcOrd="3" destOrd="0" presId="urn:microsoft.com/office/officeart/2005/8/layout/vList2"/>
    <dgm:cxn modelId="{77EFB538-3C23-4E0E-82E1-63EEE87D2E4E}" type="presParOf" srcId="{9C26CB46-82F9-4DDE-9DC0-DBDC977623CF}" destId="{6053EC38-0F25-436B-9FAC-8DED5CE295C0}" srcOrd="4" destOrd="0" presId="urn:microsoft.com/office/officeart/2005/8/layout/vList2"/>
    <dgm:cxn modelId="{01E3C13C-E192-46E7-9560-C2BF3F86EA4A}" type="presParOf" srcId="{9C26CB46-82F9-4DDE-9DC0-DBDC977623CF}" destId="{1DA485CF-5F4C-4425-962F-2B609D9D47AC}" srcOrd="5" destOrd="0" presId="urn:microsoft.com/office/officeart/2005/8/layout/vList2"/>
    <dgm:cxn modelId="{E56426A5-C946-4379-AAD8-4BC368F781AE}" type="presParOf" srcId="{9C26CB46-82F9-4DDE-9DC0-DBDC977623CF}" destId="{DFFE42B4-86A7-43C2-B2DF-AD6FA49977AD}" srcOrd="6" destOrd="0" presId="urn:microsoft.com/office/officeart/2005/8/layout/vList2"/>
    <dgm:cxn modelId="{F99D9BE6-0F8C-416B-80F3-83EEB54EABDA}" type="presParOf" srcId="{9C26CB46-82F9-4DDE-9DC0-DBDC977623CF}" destId="{580DD753-E9D1-47A5-A43E-D22B6E4F1419}" srcOrd="7" destOrd="0" presId="urn:microsoft.com/office/officeart/2005/8/layout/vList2"/>
    <dgm:cxn modelId="{45A0380B-C146-4BC3-81E4-F171AB21C0F7}" type="presParOf" srcId="{9C26CB46-82F9-4DDE-9DC0-DBDC977623CF}" destId="{B8F069D3-40C3-4D64-8F45-F8A7A353489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01DDBC-B347-46E1-9ADD-1D287EE9E49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3307EA4-7568-41A6-A2B8-E6DA77676438}">
      <dgm:prSet custT="1"/>
      <dgm:spPr/>
      <dgm:t>
        <a:bodyPr/>
        <a:lstStyle/>
        <a:p>
          <a:r>
            <a:rPr lang="en-US" sz="1800" dirty="0">
              <a:latin typeface="Times New Roman" panose="02020603050405020304" pitchFamily="18" charset="0"/>
              <a:cs typeface="Times New Roman" panose="02020603050405020304" pitchFamily="18" charset="0"/>
            </a:rPr>
            <a:t>The table indicates most features have no missing values, reflecting high data completeness across the dataset.</a:t>
          </a:r>
        </a:p>
      </dgm:t>
    </dgm:pt>
    <dgm:pt modelId="{48ACDDA9-DE82-47B3-8DD6-B936F211E5E8}" type="parTrans" cxnId="{C0680556-791C-461E-B2C0-7112693A6BA7}">
      <dgm:prSet/>
      <dgm:spPr/>
      <dgm:t>
        <a:bodyPr/>
        <a:lstStyle/>
        <a:p>
          <a:endParaRPr lang="en-US"/>
        </a:p>
      </dgm:t>
    </dgm:pt>
    <dgm:pt modelId="{3FAAC39C-6839-4637-9A82-7E8F5BE0715D}" type="sibTrans" cxnId="{C0680556-791C-461E-B2C0-7112693A6BA7}">
      <dgm:prSet/>
      <dgm:spPr/>
      <dgm:t>
        <a:bodyPr/>
        <a:lstStyle/>
        <a:p>
          <a:endParaRPr lang="en-US"/>
        </a:p>
      </dgm:t>
    </dgm:pt>
    <dgm:pt modelId="{29F4DB3B-A804-474D-BF4C-18A86E0EF49C}">
      <dgm:prSet custT="1"/>
      <dgm:spPr/>
      <dgm:t>
        <a:bodyPr/>
        <a:lstStyle/>
        <a:p>
          <a:r>
            <a:rPr lang="en-US" sz="1800" dirty="0">
              <a:latin typeface="Times New Roman" panose="02020603050405020304" pitchFamily="18" charset="0"/>
              <a:cs typeface="Times New Roman" panose="02020603050405020304" pitchFamily="18" charset="0"/>
            </a:rPr>
            <a:t>The `imd_band` feature has 1,111 missing values, affecting analysis of socio-economic influences on outcomes.</a:t>
          </a:r>
        </a:p>
      </dgm:t>
    </dgm:pt>
    <dgm:pt modelId="{57B60338-063D-4A7E-878C-848F686F494D}" type="parTrans" cxnId="{7C30493B-E017-43D1-ACAD-D82408603EB0}">
      <dgm:prSet/>
      <dgm:spPr/>
      <dgm:t>
        <a:bodyPr/>
        <a:lstStyle/>
        <a:p>
          <a:endParaRPr lang="en-US"/>
        </a:p>
      </dgm:t>
    </dgm:pt>
    <dgm:pt modelId="{95C62C66-7663-4C7A-8A49-4F6CDD3A2EED}" type="sibTrans" cxnId="{7C30493B-E017-43D1-ACAD-D82408603EB0}">
      <dgm:prSet/>
      <dgm:spPr/>
      <dgm:t>
        <a:bodyPr/>
        <a:lstStyle/>
        <a:p>
          <a:endParaRPr lang="en-US"/>
        </a:p>
      </dgm:t>
    </dgm:pt>
    <dgm:pt modelId="{9CE2A65A-C3FA-4006-9575-604D9D40D606}">
      <dgm:prSet custT="1"/>
      <dgm:spPr/>
      <dgm:t>
        <a:bodyPr/>
        <a:lstStyle/>
        <a:p>
          <a:r>
            <a:rPr lang="en-US" sz="1800" dirty="0">
              <a:latin typeface="Times New Roman" panose="02020603050405020304" pitchFamily="18" charset="0"/>
              <a:cs typeface="Times New Roman" panose="02020603050405020304" pitchFamily="18" charset="0"/>
            </a:rPr>
            <a:t>Imputing `imd_band` values could enhance reliability for socio-economic analysis, providing deeper academic performance insights.</a:t>
          </a:r>
        </a:p>
      </dgm:t>
    </dgm:pt>
    <dgm:pt modelId="{9EC77E31-55E6-4EC9-B9EA-629F6AF8DD3E}" type="parTrans" cxnId="{755A16A4-C3FE-4925-B3A1-2B465394D1B5}">
      <dgm:prSet/>
      <dgm:spPr/>
      <dgm:t>
        <a:bodyPr/>
        <a:lstStyle/>
        <a:p>
          <a:endParaRPr lang="en-US"/>
        </a:p>
      </dgm:t>
    </dgm:pt>
    <dgm:pt modelId="{977C019B-692E-4FDB-9FDA-B573088FFE55}" type="sibTrans" cxnId="{755A16A4-C3FE-4925-B3A1-2B465394D1B5}">
      <dgm:prSet/>
      <dgm:spPr/>
      <dgm:t>
        <a:bodyPr/>
        <a:lstStyle/>
        <a:p>
          <a:endParaRPr lang="en-US"/>
        </a:p>
      </dgm:t>
    </dgm:pt>
    <dgm:pt modelId="{DC05D537-77D8-4F5E-8EBF-1E01C217B055}" type="pres">
      <dgm:prSet presAssocID="{C201DDBC-B347-46E1-9ADD-1D287EE9E493}" presName="linear" presStyleCnt="0">
        <dgm:presLayoutVars>
          <dgm:animLvl val="lvl"/>
          <dgm:resizeHandles val="exact"/>
        </dgm:presLayoutVars>
      </dgm:prSet>
      <dgm:spPr/>
    </dgm:pt>
    <dgm:pt modelId="{EA57D9EE-DC35-4690-958A-5F7DD8970681}" type="pres">
      <dgm:prSet presAssocID="{53307EA4-7568-41A6-A2B8-E6DA77676438}" presName="parentText" presStyleLbl="node1" presStyleIdx="0" presStyleCnt="3">
        <dgm:presLayoutVars>
          <dgm:chMax val="0"/>
          <dgm:bulletEnabled val="1"/>
        </dgm:presLayoutVars>
      </dgm:prSet>
      <dgm:spPr/>
    </dgm:pt>
    <dgm:pt modelId="{07B642EE-119E-4966-A5A9-A5871004EFDF}" type="pres">
      <dgm:prSet presAssocID="{3FAAC39C-6839-4637-9A82-7E8F5BE0715D}" presName="spacer" presStyleCnt="0"/>
      <dgm:spPr/>
    </dgm:pt>
    <dgm:pt modelId="{4E389977-983D-4274-89F6-E8784026D003}" type="pres">
      <dgm:prSet presAssocID="{29F4DB3B-A804-474D-BF4C-18A86E0EF49C}" presName="parentText" presStyleLbl="node1" presStyleIdx="1" presStyleCnt="3">
        <dgm:presLayoutVars>
          <dgm:chMax val="0"/>
          <dgm:bulletEnabled val="1"/>
        </dgm:presLayoutVars>
      </dgm:prSet>
      <dgm:spPr/>
    </dgm:pt>
    <dgm:pt modelId="{C2C6D0A7-74EA-4695-9C34-6F57F11CE68C}" type="pres">
      <dgm:prSet presAssocID="{95C62C66-7663-4C7A-8A49-4F6CDD3A2EED}" presName="spacer" presStyleCnt="0"/>
      <dgm:spPr/>
    </dgm:pt>
    <dgm:pt modelId="{4172C5A8-432B-4AEF-A0A6-6A9E001F0C6E}" type="pres">
      <dgm:prSet presAssocID="{9CE2A65A-C3FA-4006-9575-604D9D40D606}" presName="parentText" presStyleLbl="node1" presStyleIdx="2" presStyleCnt="3">
        <dgm:presLayoutVars>
          <dgm:chMax val="0"/>
          <dgm:bulletEnabled val="1"/>
        </dgm:presLayoutVars>
      </dgm:prSet>
      <dgm:spPr/>
    </dgm:pt>
  </dgm:ptLst>
  <dgm:cxnLst>
    <dgm:cxn modelId="{08324721-F184-4FD1-BA9C-A1E616CBA503}" type="presOf" srcId="{29F4DB3B-A804-474D-BF4C-18A86E0EF49C}" destId="{4E389977-983D-4274-89F6-E8784026D003}" srcOrd="0" destOrd="0" presId="urn:microsoft.com/office/officeart/2005/8/layout/vList2"/>
    <dgm:cxn modelId="{32076C2F-3C41-4300-96E2-1CEB594B5A28}" type="presOf" srcId="{C201DDBC-B347-46E1-9ADD-1D287EE9E493}" destId="{DC05D537-77D8-4F5E-8EBF-1E01C217B055}" srcOrd="0" destOrd="0" presId="urn:microsoft.com/office/officeart/2005/8/layout/vList2"/>
    <dgm:cxn modelId="{7C30493B-E017-43D1-ACAD-D82408603EB0}" srcId="{C201DDBC-B347-46E1-9ADD-1D287EE9E493}" destId="{29F4DB3B-A804-474D-BF4C-18A86E0EF49C}" srcOrd="1" destOrd="0" parTransId="{57B60338-063D-4A7E-878C-848F686F494D}" sibTransId="{95C62C66-7663-4C7A-8A49-4F6CDD3A2EED}"/>
    <dgm:cxn modelId="{E79D003E-D50A-4234-960F-78905C681E4E}" type="presOf" srcId="{9CE2A65A-C3FA-4006-9575-604D9D40D606}" destId="{4172C5A8-432B-4AEF-A0A6-6A9E001F0C6E}" srcOrd="0" destOrd="0" presId="urn:microsoft.com/office/officeart/2005/8/layout/vList2"/>
    <dgm:cxn modelId="{49DF7245-B55B-4DD9-988B-2BCF651A1D60}" type="presOf" srcId="{53307EA4-7568-41A6-A2B8-E6DA77676438}" destId="{EA57D9EE-DC35-4690-958A-5F7DD8970681}" srcOrd="0" destOrd="0" presId="urn:microsoft.com/office/officeart/2005/8/layout/vList2"/>
    <dgm:cxn modelId="{C0680556-791C-461E-B2C0-7112693A6BA7}" srcId="{C201DDBC-B347-46E1-9ADD-1D287EE9E493}" destId="{53307EA4-7568-41A6-A2B8-E6DA77676438}" srcOrd="0" destOrd="0" parTransId="{48ACDDA9-DE82-47B3-8DD6-B936F211E5E8}" sibTransId="{3FAAC39C-6839-4637-9A82-7E8F5BE0715D}"/>
    <dgm:cxn modelId="{755A16A4-C3FE-4925-B3A1-2B465394D1B5}" srcId="{C201DDBC-B347-46E1-9ADD-1D287EE9E493}" destId="{9CE2A65A-C3FA-4006-9575-604D9D40D606}" srcOrd="2" destOrd="0" parTransId="{9EC77E31-55E6-4EC9-B9EA-629F6AF8DD3E}" sibTransId="{977C019B-692E-4FDB-9FDA-B573088FFE55}"/>
    <dgm:cxn modelId="{6F52A0E3-E16F-4CC4-BFA0-C8AFD167E690}" type="presParOf" srcId="{DC05D537-77D8-4F5E-8EBF-1E01C217B055}" destId="{EA57D9EE-DC35-4690-958A-5F7DD8970681}" srcOrd="0" destOrd="0" presId="urn:microsoft.com/office/officeart/2005/8/layout/vList2"/>
    <dgm:cxn modelId="{2CB4DB94-EF7F-4EC5-B019-627263E4847A}" type="presParOf" srcId="{DC05D537-77D8-4F5E-8EBF-1E01C217B055}" destId="{07B642EE-119E-4966-A5A9-A5871004EFDF}" srcOrd="1" destOrd="0" presId="urn:microsoft.com/office/officeart/2005/8/layout/vList2"/>
    <dgm:cxn modelId="{2E86A992-479A-43B8-BA42-96B3A8E2AF93}" type="presParOf" srcId="{DC05D537-77D8-4F5E-8EBF-1E01C217B055}" destId="{4E389977-983D-4274-89F6-E8784026D003}" srcOrd="2" destOrd="0" presId="urn:microsoft.com/office/officeart/2005/8/layout/vList2"/>
    <dgm:cxn modelId="{55914ABE-10F2-4A73-BBF5-B3F8B04F4E6F}" type="presParOf" srcId="{DC05D537-77D8-4F5E-8EBF-1E01C217B055}" destId="{C2C6D0A7-74EA-4695-9C34-6F57F11CE68C}" srcOrd="3" destOrd="0" presId="urn:microsoft.com/office/officeart/2005/8/layout/vList2"/>
    <dgm:cxn modelId="{5A947233-A8B3-4D32-A354-D805FC4D5AD5}" type="presParOf" srcId="{DC05D537-77D8-4F5E-8EBF-1E01C217B055}" destId="{4172C5A8-432B-4AEF-A0A6-6A9E001F0C6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66709CC-1907-472C-A4FD-FF264FE8D0E7}" type="doc">
      <dgm:prSet loTypeId="urn:microsoft.com/office/officeart/2005/8/layout/vList2" loCatId="list" qsTypeId="urn:microsoft.com/office/officeart/2005/8/quickstyle/simple2" qsCatId="simple" csTypeId="urn:microsoft.com/office/officeart/2005/8/colors/colorful5" csCatId="colorful" phldr="1"/>
      <dgm:spPr/>
      <dgm:t>
        <a:bodyPr/>
        <a:lstStyle/>
        <a:p>
          <a:endParaRPr lang="en-US"/>
        </a:p>
      </dgm:t>
    </dgm:pt>
    <dgm:pt modelId="{DF99B474-8470-4329-9D56-906E3DF4A670}">
      <dgm:prSet custT="1"/>
      <dgm:spPr>
        <a:solidFill>
          <a:schemeClr val="bg1">
            <a:lumMod val="95000"/>
          </a:schemeClr>
        </a:solidFill>
      </dgm:spPr>
      <dgm:t>
        <a:bodyPr/>
        <a:lstStyle/>
        <a:p>
          <a:pPr>
            <a:lnSpc>
              <a:spcPct val="100000"/>
            </a:lnSpc>
          </a:pPr>
          <a:r>
            <a:rPr lang="en-US" sz="2000" dirty="0">
              <a:solidFill>
                <a:schemeClr val="tx1"/>
              </a:solidFill>
              <a:latin typeface="Times New Roman" panose="02020603050405020304" pitchFamily="18" charset="0"/>
              <a:cs typeface="Times New Roman" panose="02020603050405020304" pitchFamily="18" charset="0"/>
            </a:rPr>
            <a:t>Used to predict student performance (Pass or Fail).</a:t>
          </a:r>
        </a:p>
      </dgm:t>
    </dgm:pt>
    <dgm:pt modelId="{1F508331-33D1-4B60-84D0-4F14B5C2314C}" type="parTrans" cxnId="{3038B1EB-920D-4F66-8B42-DB3848F798D1}">
      <dgm:prSet/>
      <dgm:spPr/>
      <dgm:t>
        <a:bodyPr/>
        <a:lstStyle/>
        <a:p>
          <a:endParaRPr lang="en-US"/>
        </a:p>
      </dgm:t>
    </dgm:pt>
    <dgm:pt modelId="{43AC8367-367D-4AF1-8645-3C139EC2205C}" type="sibTrans" cxnId="{3038B1EB-920D-4F66-8B42-DB3848F798D1}">
      <dgm:prSet/>
      <dgm:spPr/>
      <dgm:t>
        <a:bodyPr/>
        <a:lstStyle/>
        <a:p>
          <a:endParaRPr lang="en-US"/>
        </a:p>
      </dgm:t>
    </dgm:pt>
    <dgm:pt modelId="{86F418A6-2F03-40F4-A6CA-BCBBEA5B76F5}">
      <dgm:prSet custT="1"/>
      <dgm:spPr>
        <a:solidFill>
          <a:schemeClr val="bg1">
            <a:lumMod val="95000"/>
          </a:schemeClr>
        </a:solidFill>
      </dgm:spPr>
      <dgm:t>
        <a:bodyPr/>
        <a:lstStyle/>
        <a:p>
          <a:pPr>
            <a:lnSpc>
              <a:spcPct val="100000"/>
            </a:lnSpc>
          </a:pPr>
          <a:r>
            <a:rPr lang="en-US" sz="2000" dirty="0">
              <a:solidFill>
                <a:schemeClr val="tx1"/>
              </a:solidFill>
              <a:latin typeface="Times New Roman" panose="02020603050405020304" pitchFamily="18" charset="0"/>
              <a:cs typeface="Times New Roman" panose="02020603050405020304" pitchFamily="18" charset="0"/>
            </a:rPr>
            <a:t>Trained using features like final_result, weighted_grade, and pass_rate.</a:t>
          </a:r>
        </a:p>
      </dgm:t>
    </dgm:pt>
    <dgm:pt modelId="{1B6CC57C-73D0-4996-8D42-1CA3C896FFA7}" type="parTrans" cxnId="{E88616CB-912E-4762-B341-08491FDF168A}">
      <dgm:prSet/>
      <dgm:spPr/>
      <dgm:t>
        <a:bodyPr/>
        <a:lstStyle/>
        <a:p>
          <a:endParaRPr lang="en-US"/>
        </a:p>
      </dgm:t>
    </dgm:pt>
    <dgm:pt modelId="{3D0D51D4-B7CC-4BBC-8808-A044BE0F1284}" type="sibTrans" cxnId="{E88616CB-912E-4762-B341-08491FDF168A}">
      <dgm:prSet/>
      <dgm:spPr/>
      <dgm:t>
        <a:bodyPr/>
        <a:lstStyle/>
        <a:p>
          <a:endParaRPr lang="en-US"/>
        </a:p>
      </dgm:t>
    </dgm:pt>
    <dgm:pt modelId="{CEA98D22-123C-4D4F-A0B4-F5DA48BA094F}">
      <dgm:prSet custT="1"/>
      <dgm:spPr>
        <a:solidFill>
          <a:schemeClr val="bg1">
            <a:lumMod val="95000"/>
          </a:schemeClr>
        </a:solidFill>
      </dgm:spPr>
      <dgm:t>
        <a:bodyPr/>
        <a:lstStyle/>
        <a:p>
          <a:pPr>
            <a:lnSpc>
              <a:spcPct val="100000"/>
            </a:lnSpc>
          </a:pPr>
          <a:r>
            <a:rPr lang="en-US" sz="2000" dirty="0">
              <a:solidFill>
                <a:schemeClr val="tx1"/>
              </a:solidFill>
              <a:latin typeface="Times New Roman" panose="02020603050405020304" pitchFamily="18" charset="0"/>
              <a:cs typeface="Times New Roman" panose="02020603050405020304" pitchFamily="18" charset="0"/>
            </a:rPr>
            <a:t>Each feature’s impact is tested individually to see how it influences predictions.</a:t>
          </a:r>
        </a:p>
      </dgm:t>
    </dgm:pt>
    <dgm:pt modelId="{4224625F-9A24-413E-BC14-6207F0D0E33F}" type="parTrans" cxnId="{0C427E20-5C6F-4AE3-968E-C9C2AFB75F7A}">
      <dgm:prSet/>
      <dgm:spPr/>
      <dgm:t>
        <a:bodyPr/>
        <a:lstStyle/>
        <a:p>
          <a:endParaRPr lang="en-US"/>
        </a:p>
      </dgm:t>
    </dgm:pt>
    <dgm:pt modelId="{F6F75E5D-CC3D-4976-BE7C-844D40873212}" type="sibTrans" cxnId="{0C427E20-5C6F-4AE3-968E-C9C2AFB75F7A}">
      <dgm:prSet/>
      <dgm:spPr/>
      <dgm:t>
        <a:bodyPr/>
        <a:lstStyle/>
        <a:p>
          <a:endParaRPr lang="en-US"/>
        </a:p>
      </dgm:t>
    </dgm:pt>
    <dgm:pt modelId="{0400A6ED-3E10-4BE2-A4D8-36F35E59A3B7}">
      <dgm:prSet custT="1"/>
      <dgm:spPr>
        <a:solidFill>
          <a:schemeClr val="bg1">
            <a:lumMod val="95000"/>
          </a:schemeClr>
        </a:solidFill>
      </dgm:spPr>
      <dgm:t>
        <a:bodyPr/>
        <a:lstStyle/>
        <a:p>
          <a:pPr>
            <a:lnSpc>
              <a:spcPct val="100000"/>
            </a:lnSpc>
          </a:pPr>
          <a:r>
            <a:rPr lang="en-US" sz="2000" dirty="0">
              <a:solidFill>
                <a:schemeClr val="tx1"/>
              </a:solidFill>
              <a:latin typeface="Times New Roman" panose="02020603050405020304" pitchFamily="18" charset="0"/>
              <a:cs typeface="Times New Roman" panose="02020603050405020304" pitchFamily="18" charset="0"/>
            </a:rPr>
            <a:t>Uses the sigmoid function to convert results into probabilities.</a:t>
          </a:r>
        </a:p>
      </dgm:t>
    </dgm:pt>
    <dgm:pt modelId="{EF1F0F6C-37F5-4A53-A067-F470AD8540CE}" type="parTrans" cxnId="{01EDEB45-58B3-405F-A241-A00ABEAB6CFC}">
      <dgm:prSet/>
      <dgm:spPr/>
      <dgm:t>
        <a:bodyPr/>
        <a:lstStyle/>
        <a:p>
          <a:endParaRPr lang="en-US"/>
        </a:p>
      </dgm:t>
    </dgm:pt>
    <dgm:pt modelId="{C48773E5-0741-47E6-950D-2DD3005CAE15}" type="sibTrans" cxnId="{01EDEB45-58B3-405F-A241-A00ABEAB6CFC}">
      <dgm:prSet/>
      <dgm:spPr/>
      <dgm:t>
        <a:bodyPr/>
        <a:lstStyle/>
        <a:p>
          <a:endParaRPr lang="en-US"/>
        </a:p>
      </dgm:t>
    </dgm:pt>
    <dgm:pt modelId="{2002E07F-8C15-4E12-9E79-C28EA9805751}">
      <dgm:prSet custT="1"/>
      <dgm:spPr>
        <a:solidFill>
          <a:schemeClr val="bg1">
            <a:lumMod val="95000"/>
          </a:schemeClr>
        </a:solidFill>
      </dgm:spPr>
      <dgm:t>
        <a:bodyPr/>
        <a:lstStyle/>
        <a:p>
          <a:pPr>
            <a:lnSpc>
              <a:spcPct val="100000"/>
            </a:lnSpc>
          </a:pPr>
          <a:r>
            <a:rPr lang="en-US" sz="2000" dirty="0">
              <a:solidFill>
                <a:schemeClr val="tx1"/>
              </a:solidFill>
              <a:latin typeface="Times New Roman" panose="02020603050405020304" pitchFamily="18" charset="0"/>
              <a:cs typeface="Times New Roman" panose="02020603050405020304" pitchFamily="18" charset="0"/>
            </a:rPr>
            <a:t>Optimizes model weights to achieve higher accuracy with minimal error.</a:t>
          </a:r>
        </a:p>
      </dgm:t>
    </dgm:pt>
    <dgm:pt modelId="{DAF9DC83-80C7-4254-867A-7B3ABA41C280}" type="parTrans" cxnId="{00FA8647-C713-46F9-9F6F-EAB31FEE4AA8}">
      <dgm:prSet/>
      <dgm:spPr/>
      <dgm:t>
        <a:bodyPr/>
        <a:lstStyle/>
        <a:p>
          <a:endParaRPr lang="en-US"/>
        </a:p>
      </dgm:t>
    </dgm:pt>
    <dgm:pt modelId="{934F19D3-FE69-4981-80F3-18B8E4532809}" type="sibTrans" cxnId="{00FA8647-C713-46F9-9F6F-EAB31FEE4AA8}">
      <dgm:prSet/>
      <dgm:spPr/>
      <dgm:t>
        <a:bodyPr/>
        <a:lstStyle/>
        <a:p>
          <a:endParaRPr lang="en-US"/>
        </a:p>
      </dgm:t>
    </dgm:pt>
    <dgm:pt modelId="{07EF1700-1C49-4A3B-B1B1-BC751B029D31}" type="pres">
      <dgm:prSet presAssocID="{266709CC-1907-472C-A4FD-FF264FE8D0E7}" presName="linear" presStyleCnt="0">
        <dgm:presLayoutVars>
          <dgm:animLvl val="lvl"/>
          <dgm:resizeHandles val="exact"/>
        </dgm:presLayoutVars>
      </dgm:prSet>
      <dgm:spPr/>
    </dgm:pt>
    <dgm:pt modelId="{9A3D1138-B6DB-46BC-8E08-835AA6411CC5}" type="pres">
      <dgm:prSet presAssocID="{DF99B474-8470-4329-9D56-906E3DF4A670}" presName="parentText" presStyleLbl="node1" presStyleIdx="0" presStyleCnt="5">
        <dgm:presLayoutVars>
          <dgm:chMax val="0"/>
          <dgm:bulletEnabled val="1"/>
        </dgm:presLayoutVars>
      </dgm:prSet>
      <dgm:spPr/>
    </dgm:pt>
    <dgm:pt modelId="{B2B82293-DF87-447F-8F3F-EDEAD446C431}" type="pres">
      <dgm:prSet presAssocID="{43AC8367-367D-4AF1-8645-3C139EC2205C}" presName="spacer" presStyleCnt="0"/>
      <dgm:spPr/>
    </dgm:pt>
    <dgm:pt modelId="{0A77BB39-7F35-4302-8B53-2EB1B0827ED6}" type="pres">
      <dgm:prSet presAssocID="{86F418A6-2F03-40F4-A6CA-BCBBEA5B76F5}" presName="parentText" presStyleLbl="node1" presStyleIdx="1" presStyleCnt="5">
        <dgm:presLayoutVars>
          <dgm:chMax val="0"/>
          <dgm:bulletEnabled val="1"/>
        </dgm:presLayoutVars>
      </dgm:prSet>
      <dgm:spPr/>
    </dgm:pt>
    <dgm:pt modelId="{D398DA84-AB21-4491-8059-82BA92ED0580}" type="pres">
      <dgm:prSet presAssocID="{3D0D51D4-B7CC-4BBC-8808-A044BE0F1284}" presName="spacer" presStyleCnt="0"/>
      <dgm:spPr/>
    </dgm:pt>
    <dgm:pt modelId="{56665C84-D77A-4546-9167-D3DB03FFAE38}" type="pres">
      <dgm:prSet presAssocID="{CEA98D22-123C-4D4F-A0B4-F5DA48BA094F}" presName="parentText" presStyleLbl="node1" presStyleIdx="2" presStyleCnt="5">
        <dgm:presLayoutVars>
          <dgm:chMax val="0"/>
          <dgm:bulletEnabled val="1"/>
        </dgm:presLayoutVars>
      </dgm:prSet>
      <dgm:spPr/>
    </dgm:pt>
    <dgm:pt modelId="{4C977CE8-4C69-477C-8A53-CCE414C337F4}" type="pres">
      <dgm:prSet presAssocID="{F6F75E5D-CC3D-4976-BE7C-844D40873212}" presName="spacer" presStyleCnt="0"/>
      <dgm:spPr/>
    </dgm:pt>
    <dgm:pt modelId="{9B5006C6-7FE8-49B8-9CCD-476BF50475DB}" type="pres">
      <dgm:prSet presAssocID="{0400A6ED-3E10-4BE2-A4D8-36F35E59A3B7}" presName="parentText" presStyleLbl="node1" presStyleIdx="3" presStyleCnt="5">
        <dgm:presLayoutVars>
          <dgm:chMax val="0"/>
          <dgm:bulletEnabled val="1"/>
        </dgm:presLayoutVars>
      </dgm:prSet>
      <dgm:spPr/>
    </dgm:pt>
    <dgm:pt modelId="{72E294E9-7D72-44F6-BB99-7B1191E11369}" type="pres">
      <dgm:prSet presAssocID="{C48773E5-0741-47E6-950D-2DD3005CAE15}" presName="spacer" presStyleCnt="0"/>
      <dgm:spPr/>
    </dgm:pt>
    <dgm:pt modelId="{38F3CAA8-7864-4170-92C9-3649102DA13C}" type="pres">
      <dgm:prSet presAssocID="{2002E07F-8C15-4E12-9E79-C28EA9805751}" presName="parentText" presStyleLbl="node1" presStyleIdx="4" presStyleCnt="5">
        <dgm:presLayoutVars>
          <dgm:chMax val="0"/>
          <dgm:bulletEnabled val="1"/>
        </dgm:presLayoutVars>
      </dgm:prSet>
      <dgm:spPr/>
    </dgm:pt>
  </dgm:ptLst>
  <dgm:cxnLst>
    <dgm:cxn modelId="{20D45915-4B68-43C7-B44F-2741E870A753}" type="presOf" srcId="{CEA98D22-123C-4D4F-A0B4-F5DA48BA094F}" destId="{56665C84-D77A-4546-9167-D3DB03FFAE38}" srcOrd="0" destOrd="0" presId="urn:microsoft.com/office/officeart/2005/8/layout/vList2"/>
    <dgm:cxn modelId="{0C427E20-5C6F-4AE3-968E-C9C2AFB75F7A}" srcId="{266709CC-1907-472C-A4FD-FF264FE8D0E7}" destId="{CEA98D22-123C-4D4F-A0B4-F5DA48BA094F}" srcOrd="2" destOrd="0" parTransId="{4224625F-9A24-413E-BC14-6207F0D0E33F}" sibTransId="{F6F75E5D-CC3D-4976-BE7C-844D40873212}"/>
    <dgm:cxn modelId="{03CB0D29-BF40-4CB3-88A0-D82FA521F13C}" type="presOf" srcId="{DF99B474-8470-4329-9D56-906E3DF4A670}" destId="{9A3D1138-B6DB-46BC-8E08-835AA6411CC5}" srcOrd="0" destOrd="0" presId="urn:microsoft.com/office/officeart/2005/8/layout/vList2"/>
    <dgm:cxn modelId="{01EDEB45-58B3-405F-A241-A00ABEAB6CFC}" srcId="{266709CC-1907-472C-A4FD-FF264FE8D0E7}" destId="{0400A6ED-3E10-4BE2-A4D8-36F35E59A3B7}" srcOrd="3" destOrd="0" parTransId="{EF1F0F6C-37F5-4A53-A067-F470AD8540CE}" sibTransId="{C48773E5-0741-47E6-950D-2DD3005CAE15}"/>
    <dgm:cxn modelId="{00FA8647-C713-46F9-9F6F-EAB31FEE4AA8}" srcId="{266709CC-1907-472C-A4FD-FF264FE8D0E7}" destId="{2002E07F-8C15-4E12-9E79-C28EA9805751}" srcOrd="4" destOrd="0" parTransId="{DAF9DC83-80C7-4254-867A-7B3ABA41C280}" sibTransId="{934F19D3-FE69-4981-80F3-18B8E4532809}"/>
    <dgm:cxn modelId="{F368066C-D89D-4D83-BAC1-45EB0037BA46}" type="presOf" srcId="{2002E07F-8C15-4E12-9E79-C28EA9805751}" destId="{38F3CAA8-7864-4170-92C9-3649102DA13C}" srcOrd="0" destOrd="0" presId="urn:microsoft.com/office/officeart/2005/8/layout/vList2"/>
    <dgm:cxn modelId="{CB0181BE-01B0-4764-BF9F-E8B5FFD0526C}" type="presOf" srcId="{0400A6ED-3E10-4BE2-A4D8-36F35E59A3B7}" destId="{9B5006C6-7FE8-49B8-9CCD-476BF50475DB}" srcOrd="0" destOrd="0" presId="urn:microsoft.com/office/officeart/2005/8/layout/vList2"/>
    <dgm:cxn modelId="{6621CBC1-BF33-46B1-8F30-A653924EAE37}" type="presOf" srcId="{86F418A6-2F03-40F4-A6CA-BCBBEA5B76F5}" destId="{0A77BB39-7F35-4302-8B53-2EB1B0827ED6}" srcOrd="0" destOrd="0" presId="urn:microsoft.com/office/officeart/2005/8/layout/vList2"/>
    <dgm:cxn modelId="{E88616CB-912E-4762-B341-08491FDF168A}" srcId="{266709CC-1907-472C-A4FD-FF264FE8D0E7}" destId="{86F418A6-2F03-40F4-A6CA-BCBBEA5B76F5}" srcOrd="1" destOrd="0" parTransId="{1B6CC57C-73D0-4996-8D42-1CA3C896FFA7}" sibTransId="{3D0D51D4-B7CC-4BBC-8808-A044BE0F1284}"/>
    <dgm:cxn modelId="{3038B1EB-920D-4F66-8B42-DB3848F798D1}" srcId="{266709CC-1907-472C-A4FD-FF264FE8D0E7}" destId="{DF99B474-8470-4329-9D56-906E3DF4A670}" srcOrd="0" destOrd="0" parTransId="{1F508331-33D1-4B60-84D0-4F14B5C2314C}" sibTransId="{43AC8367-367D-4AF1-8645-3C139EC2205C}"/>
    <dgm:cxn modelId="{A2C630F3-5332-4FC2-A639-B775BC495917}" type="presOf" srcId="{266709CC-1907-472C-A4FD-FF264FE8D0E7}" destId="{07EF1700-1C49-4A3B-B1B1-BC751B029D31}" srcOrd="0" destOrd="0" presId="urn:microsoft.com/office/officeart/2005/8/layout/vList2"/>
    <dgm:cxn modelId="{9FF709D8-0BB8-456C-8FDD-3EA4F05680FD}" type="presParOf" srcId="{07EF1700-1C49-4A3B-B1B1-BC751B029D31}" destId="{9A3D1138-B6DB-46BC-8E08-835AA6411CC5}" srcOrd="0" destOrd="0" presId="urn:microsoft.com/office/officeart/2005/8/layout/vList2"/>
    <dgm:cxn modelId="{2BB85B57-D40D-44D3-AF3A-6E3A75F00337}" type="presParOf" srcId="{07EF1700-1C49-4A3B-B1B1-BC751B029D31}" destId="{B2B82293-DF87-447F-8F3F-EDEAD446C431}" srcOrd="1" destOrd="0" presId="urn:microsoft.com/office/officeart/2005/8/layout/vList2"/>
    <dgm:cxn modelId="{4CCAD103-F064-418A-9C4B-DBE88C99C32B}" type="presParOf" srcId="{07EF1700-1C49-4A3B-B1B1-BC751B029D31}" destId="{0A77BB39-7F35-4302-8B53-2EB1B0827ED6}" srcOrd="2" destOrd="0" presId="urn:microsoft.com/office/officeart/2005/8/layout/vList2"/>
    <dgm:cxn modelId="{E47A1EE4-F0FA-486E-812D-02DB8E62C067}" type="presParOf" srcId="{07EF1700-1C49-4A3B-B1B1-BC751B029D31}" destId="{D398DA84-AB21-4491-8059-82BA92ED0580}" srcOrd="3" destOrd="0" presId="urn:microsoft.com/office/officeart/2005/8/layout/vList2"/>
    <dgm:cxn modelId="{8D05A069-54B6-44A4-B80A-4B445CA4CD5B}" type="presParOf" srcId="{07EF1700-1C49-4A3B-B1B1-BC751B029D31}" destId="{56665C84-D77A-4546-9167-D3DB03FFAE38}" srcOrd="4" destOrd="0" presId="urn:microsoft.com/office/officeart/2005/8/layout/vList2"/>
    <dgm:cxn modelId="{CCB00894-F099-4C2E-9CDB-366B4FC14979}" type="presParOf" srcId="{07EF1700-1C49-4A3B-B1B1-BC751B029D31}" destId="{4C977CE8-4C69-477C-8A53-CCE414C337F4}" srcOrd="5" destOrd="0" presId="urn:microsoft.com/office/officeart/2005/8/layout/vList2"/>
    <dgm:cxn modelId="{1EA1578C-30F1-42A8-A024-7358A71C61CE}" type="presParOf" srcId="{07EF1700-1C49-4A3B-B1B1-BC751B029D31}" destId="{9B5006C6-7FE8-49B8-9CCD-476BF50475DB}" srcOrd="6" destOrd="0" presId="urn:microsoft.com/office/officeart/2005/8/layout/vList2"/>
    <dgm:cxn modelId="{FDF696E3-0A27-4519-AF5A-7C9F071830F6}" type="presParOf" srcId="{07EF1700-1C49-4A3B-B1B1-BC751B029D31}" destId="{72E294E9-7D72-44F6-BB99-7B1191E11369}" srcOrd="7" destOrd="0" presId="urn:microsoft.com/office/officeart/2005/8/layout/vList2"/>
    <dgm:cxn modelId="{B46D25EC-36A2-4EE1-82D3-E4A35DB70F0A}" type="presParOf" srcId="{07EF1700-1C49-4A3B-B1B1-BC751B029D31}" destId="{38F3CAA8-7864-4170-92C9-3649102DA13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8F6080A-3E83-4CDA-86B1-187C13D4042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05D8531-D810-4FAA-80E7-3FC936C929C3}">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The model achieves high accuracy (88%) using full `final_result` data, especially for "Pass.“</a:t>
          </a:r>
        </a:p>
      </dgm:t>
    </dgm:pt>
    <dgm:pt modelId="{AA286B9E-E77C-4840-8A09-7A45B0BB438B}" type="parTrans" cxnId="{19952B56-D1D2-431A-92F6-6C3D058C249E}">
      <dgm:prSet/>
      <dgm:spPr/>
      <dgm:t>
        <a:bodyPr/>
        <a:lstStyle/>
        <a:p>
          <a:endParaRPr lang="en-US"/>
        </a:p>
      </dgm:t>
    </dgm:pt>
    <dgm:pt modelId="{306B9E05-76B3-4E2F-8750-90B553A149B8}" type="sibTrans" cxnId="{19952B56-D1D2-431A-92F6-6C3D058C249E}">
      <dgm:prSet/>
      <dgm:spPr/>
      <dgm:t>
        <a:bodyPr/>
        <a:lstStyle/>
        <a:p>
          <a:endParaRPr lang="en-US"/>
        </a:p>
      </dgm:t>
    </dgm:pt>
    <dgm:pt modelId="{AD79772D-6C2C-4388-927B-B5C426AEFD7E}">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Dropping `weighted_grade` reduces accuracy to 87%, with minor drops in F1-scores.</a:t>
          </a:r>
        </a:p>
      </dgm:t>
    </dgm:pt>
    <dgm:pt modelId="{ABD916F9-62C3-40C1-BF75-4C437850709A}" type="parTrans" cxnId="{A050F962-576B-4569-BE42-82D29908B435}">
      <dgm:prSet/>
      <dgm:spPr/>
      <dgm:t>
        <a:bodyPr/>
        <a:lstStyle/>
        <a:p>
          <a:endParaRPr lang="en-US"/>
        </a:p>
      </dgm:t>
    </dgm:pt>
    <dgm:pt modelId="{C15991DA-5576-4DCA-9751-8CFE0A503A94}" type="sibTrans" cxnId="{A050F962-576B-4569-BE42-82D29908B435}">
      <dgm:prSet/>
      <dgm:spPr/>
      <dgm:t>
        <a:bodyPr/>
        <a:lstStyle/>
        <a:p>
          <a:endParaRPr lang="en-US"/>
        </a:p>
      </dgm:t>
    </dgm:pt>
    <dgm:pt modelId="{7D1EBB40-6F11-480F-BE0A-08212DE38A97}">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Excluding `pass_rate` keeps accuracy at 87%, showing both features improve performance.</a:t>
          </a:r>
        </a:p>
      </dgm:t>
    </dgm:pt>
    <dgm:pt modelId="{69444997-9F04-478A-B2C3-4EA7F5078EA1}" type="parTrans" cxnId="{50029763-BF4D-4632-9B15-693AA80E16D3}">
      <dgm:prSet/>
      <dgm:spPr/>
      <dgm:t>
        <a:bodyPr/>
        <a:lstStyle/>
        <a:p>
          <a:endParaRPr lang="en-US"/>
        </a:p>
      </dgm:t>
    </dgm:pt>
    <dgm:pt modelId="{6FB6E126-CA11-489B-9FE7-7BFE4887F7F5}" type="sibTrans" cxnId="{50029763-BF4D-4632-9B15-693AA80E16D3}">
      <dgm:prSet/>
      <dgm:spPr/>
      <dgm:t>
        <a:bodyPr/>
        <a:lstStyle/>
        <a:p>
          <a:endParaRPr lang="en-US"/>
        </a:p>
      </dgm:t>
    </dgm:pt>
    <dgm:pt modelId="{C0347006-D91A-49CC-BEEA-723EFF02A666}">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Retaining both features maximizes precision, especially distinguishing "Pass" and "Distinction" outcomes.</a:t>
          </a:r>
        </a:p>
      </dgm:t>
    </dgm:pt>
    <dgm:pt modelId="{AC2091CD-6FE6-4ADD-8C9F-BF8BA4125CBA}" type="parTrans" cxnId="{386BD741-B761-456E-8431-940B01E93240}">
      <dgm:prSet/>
      <dgm:spPr/>
      <dgm:t>
        <a:bodyPr/>
        <a:lstStyle/>
        <a:p>
          <a:endParaRPr lang="en-US"/>
        </a:p>
      </dgm:t>
    </dgm:pt>
    <dgm:pt modelId="{99DB379B-E10A-4799-8EB0-792FA01BDEE3}" type="sibTrans" cxnId="{386BD741-B761-456E-8431-940B01E93240}">
      <dgm:prSet/>
      <dgm:spPr/>
      <dgm:t>
        <a:bodyPr/>
        <a:lstStyle/>
        <a:p>
          <a:endParaRPr lang="en-US"/>
        </a:p>
      </dgm:t>
    </dgm:pt>
    <dgm:pt modelId="{96132B60-3629-4032-868D-2927BD4E2750}" type="pres">
      <dgm:prSet presAssocID="{B8F6080A-3E83-4CDA-86B1-187C13D4042D}" presName="root" presStyleCnt="0">
        <dgm:presLayoutVars>
          <dgm:dir/>
          <dgm:resizeHandles val="exact"/>
        </dgm:presLayoutVars>
      </dgm:prSet>
      <dgm:spPr/>
    </dgm:pt>
    <dgm:pt modelId="{5B14C465-D7CB-466B-8AA0-B75B4C212FED}" type="pres">
      <dgm:prSet presAssocID="{E05D8531-D810-4FAA-80E7-3FC936C929C3}" presName="compNode" presStyleCnt="0"/>
      <dgm:spPr/>
    </dgm:pt>
    <dgm:pt modelId="{61FF4820-67A5-435B-9679-A76D3929AD22}" type="pres">
      <dgm:prSet presAssocID="{E05D8531-D810-4FAA-80E7-3FC936C929C3}" presName="bgRect" presStyleLbl="bgShp" presStyleIdx="0" presStyleCnt="4"/>
      <dgm:spPr>
        <a:solidFill>
          <a:schemeClr val="accent1">
            <a:lumMod val="40000"/>
            <a:lumOff val="60000"/>
          </a:schemeClr>
        </a:solidFill>
      </dgm:spPr>
    </dgm:pt>
    <dgm:pt modelId="{D0BBC666-1243-46BD-8AEB-59ADDE3E9EED}" type="pres">
      <dgm:prSet presAssocID="{E05D8531-D810-4FAA-80E7-3FC936C929C3}" presName="iconRect" presStyleLbl="node1" presStyleIdx="0" presStyleCnt="4"/>
      <dgm:spPr/>
    </dgm:pt>
    <dgm:pt modelId="{9C460502-8FAF-40B3-B9EA-D7107E376ACD}" type="pres">
      <dgm:prSet presAssocID="{E05D8531-D810-4FAA-80E7-3FC936C929C3}" presName="spaceRect" presStyleCnt="0"/>
      <dgm:spPr/>
    </dgm:pt>
    <dgm:pt modelId="{EE11FB27-D0C2-45A3-A63C-D4FDFD5A6176}" type="pres">
      <dgm:prSet presAssocID="{E05D8531-D810-4FAA-80E7-3FC936C929C3}" presName="parTx" presStyleLbl="revTx" presStyleIdx="0" presStyleCnt="4" custLinFactNeighborX="211" custLinFactNeighborY="3173">
        <dgm:presLayoutVars>
          <dgm:chMax val="0"/>
          <dgm:chPref val="0"/>
        </dgm:presLayoutVars>
      </dgm:prSet>
      <dgm:spPr/>
    </dgm:pt>
    <dgm:pt modelId="{756301EC-EF3B-4905-87D9-A04128953829}" type="pres">
      <dgm:prSet presAssocID="{306B9E05-76B3-4E2F-8750-90B553A149B8}" presName="sibTrans" presStyleCnt="0"/>
      <dgm:spPr/>
    </dgm:pt>
    <dgm:pt modelId="{90356267-B76B-4A8F-A590-6B632C7BC5B0}" type="pres">
      <dgm:prSet presAssocID="{AD79772D-6C2C-4388-927B-B5C426AEFD7E}" presName="compNode" presStyleCnt="0"/>
      <dgm:spPr/>
    </dgm:pt>
    <dgm:pt modelId="{0C54744A-9C06-4398-A76F-60647D5142B3}" type="pres">
      <dgm:prSet presAssocID="{AD79772D-6C2C-4388-927B-B5C426AEFD7E}" presName="bgRect" presStyleLbl="bgShp" presStyleIdx="1" presStyleCnt="4"/>
      <dgm:spPr>
        <a:solidFill>
          <a:schemeClr val="accent1">
            <a:lumMod val="40000"/>
            <a:lumOff val="60000"/>
          </a:schemeClr>
        </a:solidFill>
      </dgm:spPr>
    </dgm:pt>
    <dgm:pt modelId="{E49B4734-CA8B-4718-A5EA-D5BD87F18AF9}" type="pres">
      <dgm:prSet presAssocID="{AD79772D-6C2C-4388-927B-B5C426AEFD7E}" presName="iconRect" presStyleLbl="node1" presStyleIdx="1"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5FE11AE0-B0A3-4279-AB7E-0672234FC40A}" type="pres">
      <dgm:prSet presAssocID="{AD79772D-6C2C-4388-927B-B5C426AEFD7E}" presName="spaceRect" presStyleCnt="0"/>
      <dgm:spPr/>
    </dgm:pt>
    <dgm:pt modelId="{4F933CD1-1124-410E-B5C4-A442FDA7337B}" type="pres">
      <dgm:prSet presAssocID="{AD79772D-6C2C-4388-927B-B5C426AEFD7E}" presName="parTx" presStyleLbl="revTx" presStyleIdx="1" presStyleCnt="4">
        <dgm:presLayoutVars>
          <dgm:chMax val="0"/>
          <dgm:chPref val="0"/>
        </dgm:presLayoutVars>
      </dgm:prSet>
      <dgm:spPr/>
    </dgm:pt>
    <dgm:pt modelId="{AAE16AFF-DE6D-496E-982C-92B5625A207F}" type="pres">
      <dgm:prSet presAssocID="{C15991DA-5576-4DCA-9751-8CFE0A503A94}" presName="sibTrans" presStyleCnt="0"/>
      <dgm:spPr/>
    </dgm:pt>
    <dgm:pt modelId="{D890E5C9-9005-4088-9DFD-E6043094598E}" type="pres">
      <dgm:prSet presAssocID="{7D1EBB40-6F11-480F-BE0A-08212DE38A97}" presName="compNode" presStyleCnt="0"/>
      <dgm:spPr/>
    </dgm:pt>
    <dgm:pt modelId="{BCA4A1BF-9BB7-487E-AEF4-45F15C95B712}" type="pres">
      <dgm:prSet presAssocID="{7D1EBB40-6F11-480F-BE0A-08212DE38A97}" presName="bgRect" presStyleLbl="bgShp" presStyleIdx="2" presStyleCnt="4"/>
      <dgm:spPr>
        <a:solidFill>
          <a:schemeClr val="accent1">
            <a:lumMod val="40000"/>
            <a:lumOff val="60000"/>
          </a:schemeClr>
        </a:solidFill>
      </dgm:spPr>
    </dgm:pt>
    <dgm:pt modelId="{9507CFCF-141A-44C1-81F4-6B13CAED1F97}" type="pres">
      <dgm:prSet presAssocID="{7D1EBB40-6F11-480F-BE0A-08212DE38A97}" presName="icon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r"/>
        </a:ext>
      </dgm:extLst>
    </dgm:pt>
    <dgm:pt modelId="{B2B3E558-F22F-4697-9DA8-5DF6743BDBE2}" type="pres">
      <dgm:prSet presAssocID="{7D1EBB40-6F11-480F-BE0A-08212DE38A97}" presName="spaceRect" presStyleCnt="0"/>
      <dgm:spPr/>
    </dgm:pt>
    <dgm:pt modelId="{C47695A2-DD31-4159-8EE4-D83B7F8011DE}" type="pres">
      <dgm:prSet presAssocID="{7D1EBB40-6F11-480F-BE0A-08212DE38A97}" presName="parTx" presStyleLbl="revTx" presStyleIdx="2" presStyleCnt="4">
        <dgm:presLayoutVars>
          <dgm:chMax val="0"/>
          <dgm:chPref val="0"/>
        </dgm:presLayoutVars>
      </dgm:prSet>
      <dgm:spPr/>
    </dgm:pt>
    <dgm:pt modelId="{63CD7446-7D6A-4F3A-A6A0-598B03125D61}" type="pres">
      <dgm:prSet presAssocID="{6FB6E126-CA11-489B-9FE7-7BFE4887F7F5}" presName="sibTrans" presStyleCnt="0"/>
      <dgm:spPr/>
    </dgm:pt>
    <dgm:pt modelId="{A720049A-4BA3-4AF6-9CA0-328AC313984A}" type="pres">
      <dgm:prSet presAssocID="{C0347006-D91A-49CC-BEEA-723EFF02A666}" presName="compNode" presStyleCnt="0"/>
      <dgm:spPr/>
    </dgm:pt>
    <dgm:pt modelId="{05323DC5-9CA3-4600-BEF7-84690D0E511C}" type="pres">
      <dgm:prSet presAssocID="{C0347006-D91A-49CC-BEEA-723EFF02A666}" presName="bgRect" presStyleLbl="bgShp" presStyleIdx="3" presStyleCnt="4"/>
      <dgm:spPr>
        <a:solidFill>
          <a:schemeClr val="accent1">
            <a:lumMod val="40000"/>
            <a:lumOff val="60000"/>
          </a:schemeClr>
        </a:solidFill>
      </dgm:spPr>
    </dgm:pt>
    <dgm:pt modelId="{3C8CC527-6D3F-4C51-B706-ECC63DFCE307}" type="pres">
      <dgm:prSet presAssocID="{C0347006-D91A-49CC-BEEA-723EFF02A666}" presName="iconRect" presStyleLbl="node1" presStyleIdx="3"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ext>
      </dgm:extLst>
    </dgm:pt>
    <dgm:pt modelId="{75C0739B-0813-4B71-85E8-68057D76F645}" type="pres">
      <dgm:prSet presAssocID="{C0347006-D91A-49CC-BEEA-723EFF02A666}" presName="spaceRect" presStyleCnt="0"/>
      <dgm:spPr/>
    </dgm:pt>
    <dgm:pt modelId="{27A59763-8080-4A85-935A-068E43C76919}" type="pres">
      <dgm:prSet presAssocID="{C0347006-D91A-49CC-BEEA-723EFF02A666}" presName="parTx" presStyleLbl="revTx" presStyleIdx="3" presStyleCnt="4" custLinFactNeighborX="3130" custLinFactNeighborY="-9111">
        <dgm:presLayoutVars>
          <dgm:chMax val="0"/>
          <dgm:chPref val="0"/>
        </dgm:presLayoutVars>
      </dgm:prSet>
      <dgm:spPr/>
    </dgm:pt>
  </dgm:ptLst>
  <dgm:cxnLst>
    <dgm:cxn modelId="{D924B717-78C5-4541-8E24-11A76395444A}" type="presOf" srcId="{E05D8531-D810-4FAA-80E7-3FC936C929C3}" destId="{EE11FB27-D0C2-45A3-A63C-D4FDFD5A6176}" srcOrd="0" destOrd="0" presId="urn:microsoft.com/office/officeart/2018/2/layout/IconVerticalSolidList"/>
    <dgm:cxn modelId="{28AA6621-7A61-4BD2-A4E9-F55EB637F534}" type="presOf" srcId="{AD79772D-6C2C-4388-927B-B5C426AEFD7E}" destId="{4F933CD1-1124-410E-B5C4-A442FDA7337B}" srcOrd="0" destOrd="0" presId="urn:microsoft.com/office/officeart/2018/2/layout/IconVerticalSolidList"/>
    <dgm:cxn modelId="{80E62E3C-F1C8-4532-8B81-26FC9BF58451}" type="presOf" srcId="{7D1EBB40-6F11-480F-BE0A-08212DE38A97}" destId="{C47695A2-DD31-4159-8EE4-D83B7F8011DE}" srcOrd="0" destOrd="0" presId="urn:microsoft.com/office/officeart/2018/2/layout/IconVerticalSolidList"/>
    <dgm:cxn modelId="{386BD741-B761-456E-8431-940B01E93240}" srcId="{B8F6080A-3E83-4CDA-86B1-187C13D4042D}" destId="{C0347006-D91A-49CC-BEEA-723EFF02A666}" srcOrd="3" destOrd="0" parTransId="{AC2091CD-6FE6-4ADD-8C9F-BF8BA4125CBA}" sibTransId="{99DB379B-E10A-4799-8EB0-792FA01BDEE3}"/>
    <dgm:cxn modelId="{A050F962-576B-4569-BE42-82D29908B435}" srcId="{B8F6080A-3E83-4CDA-86B1-187C13D4042D}" destId="{AD79772D-6C2C-4388-927B-B5C426AEFD7E}" srcOrd="1" destOrd="0" parTransId="{ABD916F9-62C3-40C1-BF75-4C437850709A}" sibTransId="{C15991DA-5576-4DCA-9751-8CFE0A503A94}"/>
    <dgm:cxn modelId="{50029763-BF4D-4632-9B15-693AA80E16D3}" srcId="{B8F6080A-3E83-4CDA-86B1-187C13D4042D}" destId="{7D1EBB40-6F11-480F-BE0A-08212DE38A97}" srcOrd="2" destOrd="0" parTransId="{69444997-9F04-478A-B2C3-4EA7F5078EA1}" sibTransId="{6FB6E126-CA11-489B-9FE7-7BFE4887F7F5}"/>
    <dgm:cxn modelId="{19952B56-D1D2-431A-92F6-6C3D058C249E}" srcId="{B8F6080A-3E83-4CDA-86B1-187C13D4042D}" destId="{E05D8531-D810-4FAA-80E7-3FC936C929C3}" srcOrd="0" destOrd="0" parTransId="{AA286B9E-E77C-4840-8A09-7A45B0BB438B}" sibTransId="{306B9E05-76B3-4E2F-8750-90B553A149B8}"/>
    <dgm:cxn modelId="{06E5ACAC-EB2A-4B43-A498-F17CEE5AFC35}" type="presOf" srcId="{C0347006-D91A-49CC-BEEA-723EFF02A666}" destId="{27A59763-8080-4A85-935A-068E43C76919}" srcOrd="0" destOrd="0" presId="urn:microsoft.com/office/officeart/2018/2/layout/IconVerticalSolidList"/>
    <dgm:cxn modelId="{DEDF70C8-EA0A-4B97-8D4D-82AA81179C51}" type="presOf" srcId="{B8F6080A-3E83-4CDA-86B1-187C13D4042D}" destId="{96132B60-3629-4032-868D-2927BD4E2750}" srcOrd="0" destOrd="0" presId="urn:microsoft.com/office/officeart/2018/2/layout/IconVerticalSolidList"/>
    <dgm:cxn modelId="{08ED1DE7-458D-4315-88C7-0E6BE631E043}" type="presParOf" srcId="{96132B60-3629-4032-868D-2927BD4E2750}" destId="{5B14C465-D7CB-466B-8AA0-B75B4C212FED}" srcOrd="0" destOrd="0" presId="urn:microsoft.com/office/officeart/2018/2/layout/IconVerticalSolidList"/>
    <dgm:cxn modelId="{B5230458-F9BC-4365-A845-4263D8ABE3D1}" type="presParOf" srcId="{5B14C465-D7CB-466B-8AA0-B75B4C212FED}" destId="{61FF4820-67A5-435B-9679-A76D3929AD22}" srcOrd="0" destOrd="0" presId="urn:microsoft.com/office/officeart/2018/2/layout/IconVerticalSolidList"/>
    <dgm:cxn modelId="{F1F5FF95-B18C-48C2-A238-BA360288DF7A}" type="presParOf" srcId="{5B14C465-D7CB-466B-8AA0-B75B4C212FED}" destId="{D0BBC666-1243-46BD-8AEB-59ADDE3E9EED}" srcOrd="1" destOrd="0" presId="urn:microsoft.com/office/officeart/2018/2/layout/IconVerticalSolidList"/>
    <dgm:cxn modelId="{E6B4AA6F-38CB-4385-A2BF-42D5EC52E9CF}" type="presParOf" srcId="{5B14C465-D7CB-466B-8AA0-B75B4C212FED}" destId="{9C460502-8FAF-40B3-B9EA-D7107E376ACD}" srcOrd="2" destOrd="0" presId="urn:microsoft.com/office/officeart/2018/2/layout/IconVerticalSolidList"/>
    <dgm:cxn modelId="{3ABFBB98-B485-4A5D-AED6-73EB617F108D}" type="presParOf" srcId="{5B14C465-D7CB-466B-8AA0-B75B4C212FED}" destId="{EE11FB27-D0C2-45A3-A63C-D4FDFD5A6176}" srcOrd="3" destOrd="0" presId="urn:microsoft.com/office/officeart/2018/2/layout/IconVerticalSolidList"/>
    <dgm:cxn modelId="{085D0178-E37F-4BA5-90E4-23943B39AEC7}" type="presParOf" srcId="{96132B60-3629-4032-868D-2927BD4E2750}" destId="{756301EC-EF3B-4905-87D9-A04128953829}" srcOrd="1" destOrd="0" presId="urn:microsoft.com/office/officeart/2018/2/layout/IconVerticalSolidList"/>
    <dgm:cxn modelId="{A249708F-E2DC-4171-B1F4-281C783009DC}" type="presParOf" srcId="{96132B60-3629-4032-868D-2927BD4E2750}" destId="{90356267-B76B-4A8F-A590-6B632C7BC5B0}" srcOrd="2" destOrd="0" presId="urn:microsoft.com/office/officeart/2018/2/layout/IconVerticalSolidList"/>
    <dgm:cxn modelId="{8FF5FD76-F32B-485D-BDC2-A913865E4FF5}" type="presParOf" srcId="{90356267-B76B-4A8F-A590-6B632C7BC5B0}" destId="{0C54744A-9C06-4398-A76F-60647D5142B3}" srcOrd="0" destOrd="0" presId="urn:microsoft.com/office/officeart/2018/2/layout/IconVerticalSolidList"/>
    <dgm:cxn modelId="{37C7A761-A492-4DBB-8825-7FC1E39EB2D6}" type="presParOf" srcId="{90356267-B76B-4A8F-A590-6B632C7BC5B0}" destId="{E49B4734-CA8B-4718-A5EA-D5BD87F18AF9}" srcOrd="1" destOrd="0" presId="urn:microsoft.com/office/officeart/2018/2/layout/IconVerticalSolidList"/>
    <dgm:cxn modelId="{4C439425-50CF-4840-973F-BEA2B891C872}" type="presParOf" srcId="{90356267-B76B-4A8F-A590-6B632C7BC5B0}" destId="{5FE11AE0-B0A3-4279-AB7E-0672234FC40A}" srcOrd="2" destOrd="0" presId="urn:microsoft.com/office/officeart/2018/2/layout/IconVerticalSolidList"/>
    <dgm:cxn modelId="{86A23AB9-0791-43B7-BFD9-090082765F39}" type="presParOf" srcId="{90356267-B76B-4A8F-A590-6B632C7BC5B0}" destId="{4F933CD1-1124-410E-B5C4-A442FDA7337B}" srcOrd="3" destOrd="0" presId="urn:microsoft.com/office/officeart/2018/2/layout/IconVerticalSolidList"/>
    <dgm:cxn modelId="{EC0CD81D-119C-4943-8CCA-BF6655BAFAA2}" type="presParOf" srcId="{96132B60-3629-4032-868D-2927BD4E2750}" destId="{AAE16AFF-DE6D-496E-982C-92B5625A207F}" srcOrd="3" destOrd="0" presId="urn:microsoft.com/office/officeart/2018/2/layout/IconVerticalSolidList"/>
    <dgm:cxn modelId="{074A7EE9-F50B-420E-9B14-1765E7DF7749}" type="presParOf" srcId="{96132B60-3629-4032-868D-2927BD4E2750}" destId="{D890E5C9-9005-4088-9DFD-E6043094598E}" srcOrd="4" destOrd="0" presId="urn:microsoft.com/office/officeart/2018/2/layout/IconVerticalSolidList"/>
    <dgm:cxn modelId="{F99982D9-E11F-4F0C-A4BB-EE7459EDCC95}" type="presParOf" srcId="{D890E5C9-9005-4088-9DFD-E6043094598E}" destId="{BCA4A1BF-9BB7-487E-AEF4-45F15C95B712}" srcOrd="0" destOrd="0" presId="urn:microsoft.com/office/officeart/2018/2/layout/IconVerticalSolidList"/>
    <dgm:cxn modelId="{93ECD545-B656-4AE8-AD67-8790BF093842}" type="presParOf" srcId="{D890E5C9-9005-4088-9DFD-E6043094598E}" destId="{9507CFCF-141A-44C1-81F4-6B13CAED1F97}" srcOrd="1" destOrd="0" presId="urn:microsoft.com/office/officeart/2018/2/layout/IconVerticalSolidList"/>
    <dgm:cxn modelId="{DEC95FF4-DF68-4107-9441-2233D2228A55}" type="presParOf" srcId="{D890E5C9-9005-4088-9DFD-E6043094598E}" destId="{B2B3E558-F22F-4697-9DA8-5DF6743BDBE2}" srcOrd="2" destOrd="0" presId="urn:microsoft.com/office/officeart/2018/2/layout/IconVerticalSolidList"/>
    <dgm:cxn modelId="{C87464C2-FFC4-4F5C-B3FB-D63D67D6CC1B}" type="presParOf" srcId="{D890E5C9-9005-4088-9DFD-E6043094598E}" destId="{C47695A2-DD31-4159-8EE4-D83B7F8011DE}" srcOrd="3" destOrd="0" presId="urn:microsoft.com/office/officeart/2018/2/layout/IconVerticalSolidList"/>
    <dgm:cxn modelId="{9BDA1BF3-5B8A-4FFB-A977-225C2C425319}" type="presParOf" srcId="{96132B60-3629-4032-868D-2927BD4E2750}" destId="{63CD7446-7D6A-4F3A-A6A0-598B03125D61}" srcOrd="5" destOrd="0" presId="urn:microsoft.com/office/officeart/2018/2/layout/IconVerticalSolidList"/>
    <dgm:cxn modelId="{719BA383-E94A-4681-B72D-6266A78C8E9E}" type="presParOf" srcId="{96132B60-3629-4032-868D-2927BD4E2750}" destId="{A720049A-4BA3-4AF6-9CA0-328AC313984A}" srcOrd="6" destOrd="0" presId="urn:microsoft.com/office/officeart/2018/2/layout/IconVerticalSolidList"/>
    <dgm:cxn modelId="{469B6D68-9397-4558-983D-0B2076766FA8}" type="presParOf" srcId="{A720049A-4BA3-4AF6-9CA0-328AC313984A}" destId="{05323DC5-9CA3-4600-BEF7-84690D0E511C}" srcOrd="0" destOrd="0" presId="urn:microsoft.com/office/officeart/2018/2/layout/IconVerticalSolidList"/>
    <dgm:cxn modelId="{7CD1A64F-F7DD-4F5F-8CFB-7C1CF197A941}" type="presParOf" srcId="{A720049A-4BA3-4AF6-9CA0-328AC313984A}" destId="{3C8CC527-6D3F-4C51-B706-ECC63DFCE307}" srcOrd="1" destOrd="0" presId="urn:microsoft.com/office/officeart/2018/2/layout/IconVerticalSolidList"/>
    <dgm:cxn modelId="{909E7191-D483-4EB4-AE70-7B60F6058A46}" type="presParOf" srcId="{A720049A-4BA3-4AF6-9CA0-328AC313984A}" destId="{75C0739B-0813-4B71-85E8-68057D76F645}" srcOrd="2" destOrd="0" presId="urn:microsoft.com/office/officeart/2018/2/layout/IconVerticalSolidList"/>
    <dgm:cxn modelId="{787376D4-F1A3-4B65-A85F-A5C9BB9B280D}" type="presParOf" srcId="{A720049A-4BA3-4AF6-9CA0-328AC313984A}" destId="{27A59763-8080-4A85-935A-068E43C7691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C3F601E-9BB0-415A-A67E-89BA1E15E1A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83C0484-3C0A-4AAD-97A5-1AE875B76825}">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The Random Forest model achieves strong performance in predicting student outcomes across all scenarios.</a:t>
          </a:r>
        </a:p>
      </dgm:t>
    </dgm:pt>
    <dgm:pt modelId="{2606AEDD-90AC-4713-8BD5-0BEDFBECCC4C}" type="parTrans" cxnId="{68ED3CA8-026E-4452-96E0-805F9F727805}">
      <dgm:prSet/>
      <dgm:spPr/>
      <dgm:t>
        <a:bodyPr/>
        <a:lstStyle/>
        <a:p>
          <a:endParaRPr lang="en-US"/>
        </a:p>
      </dgm:t>
    </dgm:pt>
    <dgm:pt modelId="{D77435F1-3767-46B4-B963-12CF34424CEC}" type="sibTrans" cxnId="{68ED3CA8-026E-4452-96E0-805F9F727805}">
      <dgm:prSet/>
      <dgm:spPr/>
      <dgm:t>
        <a:bodyPr/>
        <a:lstStyle/>
        <a:p>
          <a:endParaRPr lang="en-US"/>
        </a:p>
      </dgm:t>
    </dgm:pt>
    <dgm:pt modelId="{20FCC723-3BB6-428D-9202-2FB79A220D58}">
      <dgm:prSet/>
      <dgm:spPr/>
      <dgm:t>
        <a:bodyPr/>
        <a:lstStyle/>
        <a:p>
          <a:pPr>
            <a:lnSpc>
              <a:spcPct val="100000"/>
            </a:lnSpc>
          </a:pPr>
          <a:r>
            <a:rPr lang="en-US" dirty="0">
              <a:latin typeface="Times New Roman" panose="02020603050405020304" pitchFamily="18" charset="0"/>
              <a:cs typeface="Times New Roman" panose="02020603050405020304" pitchFamily="18" charset="0"/>
            </a:rPr>
            <a:t>With complete `final_result` data, the model attains 91% accuracy and a macro F1-score of 0.87.</a:t>
          </a:r>
        </a:p>
      </dgm:t>
    </dgm:pt>
    <dgm:pt modelId="{8DBA7E36-785F-4440-8F60-8F4EC85A7F83}" type="parTrans" cxnId="{F66077AB-A98B-4E94-96CC-95B37038691E}">
      <dgm:prSet/>
      <dgm:spPr/>
      <dgm:t>
        <a:bodyPr/>
        <a:lstStyle/>
        <a:p>
          <a:endParaRPr lang="en-US"/>
        </a:p>
      </dgm:t>
    </dgm:pt>
    <dgm:pt modelId="{1403E752-9DB9-463F-81F5-9CEB266668BC}" type="sibTrans" cxnId="{F66077AB-A98B-4E94-96CC-95B37038691E}">
      <dgm:prSet/>
      <dgm:spPr/>
      <dgm:t>
        <a:bodyPr/>
        <a:lstStyle/>
        <a:p>
          <a:endParaRPr lang="en-US"/>
        </a:p>
      </dgm:t>
    </dgm:pt>
    <dgm:pt modelId="{E12DDCAE-8461-4E84-AE12-A003B0D8477A}">
      <dgm:prSet/>
      <dgm:spPr/>
      <dgm:t>
        <a:bodyPr/>
        <a:lstStyle/>
        <a:p>
          <a:pPr>
            <a:lnSpc>
              <a:spcPct val="100000"/>
            </a:lnSpc>
          </a:pPr>
          <a:r>
            <a:rPr lang="en-US" dirty="0">
              <a:latin typeface="Times New Roman" panose="02020603050405020304" pitchFamily="18" charset="0"/>
              <a:cs typeface="Times New Roman" panose="02020603050405020304" pitchFamily="18" charset="0"/>
            </a:rPr>
            <a:t>Excluding `weighted_grade` lowers accuracy to 89%, showing it enhances but isn't essential.</a:t>
          </a:r>
        </a:p>
      </dgm:t>
    </dgm:pt>
    <dgm:pt modelId="{0985AB43-23A4-4BDA-878B-38CF64BABE2F}" type="parTrans" cxnId="{558B55A9-E220-4069-9C08-D7F1A2006580}">
      <dgm:prSet/>
      <dgm:spPr/>
      <dgm:t>
        <a:bodyPr/>
        <a:lstStyle/>
        <a:p>
          <a:endParaRPr lang="en-US"/>
        </a:p>
      </dgm:t>
    </dgm:pt>
    <dgm:pt modelId="{2F9CEDC3-FCB9-4C74-8B7D-0B6E11577EA8}" type="sibTrans" cxnId="{558B55A9-E220-4069-9C08-D7F1A2006580}">
      <dgm:prSet/>
      <dgm:spPr/>
      <dgm:t>
        <a:bodyPr/>
        <a:lstStyle/>
        <a:p>
          <a:endParaRPr lang="en-US"/>
        </a:p>
      </dgm:t>
    </dgm:pt>
    <dgm:pt modelId="{A157C1CF-F4EC-4B69-A907-8DD02BD10DC8}">
      <dgm:prSet/>
      <dgm:spPr/>
      <dgm:t>
        <a:bodyPr/>
        <a:lstStyle/>
        <a:p>
          <a:pPr>
            <a:lnSpc>
              <a:spcPct val="100000"/>
            </a:lnSpc>
          </a:pPr>
          <a:r>
            <a:rPr lang="en-US" dirty="0">
              <a:latin typeface="Times New Roman" panose="02020603050405020304" pitchFamily="18" charset="0"/>
              <a:cs typeface="Times New Roman" panose="02020603050405020304" pitchFamily="18" charset="0"/>
            </a:rPr>
            <a:t>Removing `pass_rate` reduces accuracy slightly to 90%, highlighting its positive yet non-critical impact.</a:t>
          </a:r>
        </a:p>
      </dgm:t>
    </dgm:pt>
    <dgm:pt modelId="{F65E4941-1883-418F-9D2E-FEECEE0C51F6}" type="parTrans" cxnId="{05ED9B86-D17C-4435-A3AC-694B0135AADF}">
      <dgm:prSet/>
      <dgm:spPr/>
      <dgm:t>
        <a:bodyPr/>
        <a:lstStyle/>
        <a:p>
          <a:endParaRPr lang="en-US"/>
        </a:p>
      </dgm:t>
    </dgm:pt>
    <dgm:pt modelId="{DB480172-4C15-495C-96E7-A785A4039E61}" type="sibTrans" cxnId="{05ED9B86-D17C-4435-A3AC-694B0135AADF}">
      <dgm:prSet/>
      <dgm:spPr/>
      <dgm:t>
        <a:bodyPr/>
        <a:lstStyle/>
        <a:p>
          <a:endParaRPr lang="en-US"/>
        </a:p>
      </dgm:t>
    </dgm:pt>
    <dgm:pt modelId="{EBB4A890-E9A5-4F56-886D-F635EE97CE4B}" type="pres">
      <dgm:prSet presAssocID="{6C3F601E-9BB0-415A-A67E-89BA1E15E1A1}" presName="root" presStyleCnt="0">
        <dgm:presLayoutVars>
          <dgm:dir/>
          <dgm:resizeHandles val="exact"/>
        </dgm:presLayoutVars>
      </dgm:prSet>
      <dgm:spPr/>
    </dgm:pt>
    <dgm:pt modelId="{75040E85-BFDD-4B4F-AACE-A9E8EEC794C8}" type="pres">
      <dgm:prSet presAssocID="{483C0484-3C0A-4AAD-97A5-1AE875B76825}" presName="compNode" presStyleCnt="0"/>
      <dgm:spPr/>
    </dgm:pt>
    <dgm:pt modelId="{4577B37E-5EA8-4F97-BDB1-66FC5EA21254}" type="pres">
      <dgm:prSet presAssocID="{483C0484-3C0A-4AAD-97A5-1AE875B76825}" presName="bgRect" presStyleLbl="bgShp" presStyleIdx="0" presStyleCnt="4"/>
      <dgm:spPr>
        <a:solidFill>
          <a:schemeClr val="accent1">
            <a:lumMod val="40000"/>
            <a:lumOff val="60000"/>
          </a:schemeClr>
        </a:solidFill>
      </dgm:spPr>
    </dgm:pt>
    <dgm:pt modelId="{E7890874-61B5-45E7-9BED-B0B1B1D7C2E1}" type="pres">
      <dgm:prSet presAssocID="{483C0484-3C0A-4AAD-97A5-1AE875B7682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eciduous tree"/>
        </a:ext>
      </dgm:extLst>
    </dgm:pt>
    <dgm:pt modelId="{898C1BFE-8CEB-4D78-ADA0-3CB83C41B2AF}" type="pres">
      <dgm:prSet presAssocID="{483C0484-3C0A-4AAD-97A5-1AE875B76825}" presName="spaceRect" presStyleCnt="0"/>
      <dgm:spPr/>
    </dgm:pt>
    <dgm:pt modelId="{76F8138D-ED54-4442-813C-1E7925827E3A}" type="pres">
      <dgm:prSet presAssocID="{483C0484-3C0A-4AAD-97A5-1AE875B76825}" presName="parTx" presStyleLbl="revTx" presStyleIdx="0" presStyleCnt="4" custScaleX="103669">
        <dgm:presLayoutVars>
          <dgm:chMax val="0"/>
          <dgm:chPref val="0"/>
        </dgm:presLayoutVars>
      </dgm:prSet>
      <dgm:spPr/>
    </dgm:pt>
    <dgm:pt modelId="{7C78B363-8631-4B9B-8439-4D5E9EA24271}" type="pres">
      <dgm:prSet presAssocID="{D77435F1-3767-46B4-B963-12CF34424CEC}" presName="sibTrans" presStyleCnt="0"/>
      <dgm:spPr/>
    </dgm:pt>
    <dgm:pt modelId="{9E75C169-4BC1-4ED8-9FD4-538FA9CC5654}" type="pres">
      <dgm:prSet presAssocID="{20FCC723-3BB6-428D-9202-2FB79A220D58}" presName="compNode" presStyleCnt="0"/>
      <dgm:spPr/>
    </dgm:pt>
    <dgm:pt modelId="{7D2905D0-E61C-4C75-BCED-BB3D959A9982}" type="pres">
      <dgm:prSet presAssocID="{20FCC723-3BB6-428D-9202-2FB79A220D58}" presName="bgRect" presStyleLbl="bgShp" presStyleIdx="1" presStyleCnt="4"/>
      <dgm:spPr>
        <a:solidFill>
          <a:schemeClr val="accent1">
            <a:lumMod val="40000"/>
            <a:lumOff val="60000"/>
          </a:schemeClr>
        </a:solidFill>
      </dgm:spPr>
    </dgm:pt>
    <dgm:pt modelId="{8807465B-B5F8-4A03-B635-B6A8DA2FDF3B}" type="pres">
      <dgm:prSet presAssocID="{20FCC723-3BB6-428D-9202-2FB79A220D5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ibbon"/>
        </a:ext>
      </dgm:extLst>
    </dgm:pt>
    <dgm:pt modelId="{143BF852-D962-4504-908F-F85E5F7ECB14}" type="pres">
      <dgm:prSet presAssocID="{20FCC723-3BB6-428D-9202-2FB79A220D58}" presName="spaceRect" presStyleCnt="0"/>
      <dgm:spPr/>
    </dgm:pt>
    <dgm:pt modelId="{22C2C53C-4856-433D-9D53-F7E36190702E}" type="pres">
      <dgm:prSet presAssocID="{20FCC723-3BB6-428D-9202-2FB79A220D58}" presName="parTx" presStyleLbl="revTx" presStyleIdx="1" presStyleCnt="4">
        <dgm:presLayoutVars>
          <dgm:chMax val="0"/>
          <dgm:chPref val="0"/>
        </dgm:presLayoutVars>
      </dgm:prSet>
      <dgm:spPr/>
    </dgm:pt>
    <dgm:pt modelId="{A3FCEC9F-E134-481B-B853-3BF7EC297409}" type="pres">
      <dgm:prSet presAssocID="{1403E752-9DB9-463F-81F5-9CEB266668BC}" presName="sibTrans" presStyleCnt="0"/>
      <dgm:spPr/>
    </dgm:pt>
    <dgm:pt modelId="{8C398F0E-F918-47FD-B36F-174D492CB8DB}" type="pres">
      <dgm:prSet presAssocID="{E12DDCAE-8461-4E84-AE12-A003B0D8477A}" presName="compNode" presStyleCnt="0"/>
      <dgm:spPr/>
    </dgm:pt>
    <dgm:pt modelId="{C2CF5FA5-F43D-444E-8E90-2EBAD760F2E4}" type="pres">
      <dgm:prSet presAssocID="{E12DDCAE-8461-4E84-AE12-A003B0D8477A}" presName="bgRect" presStyleLbl="bgShp" presStyleIdx="2" presStyleCnt="4"/>
      <dgm:spPr>
        <a:solidFill>
          <a:schemeClr val="accent1">
            <a:lumMod val="40000"/>
            <a:lumOff val="60000"/>
          </a:schemeClr>
        </a:solidFill>
      </dgm:spPr>
    </dgm:pt>
    <dgm:pt modelId="{77FAD1CC-81D1-47B5-8C5F-15BE7F0C9EB2}" type="pres">
      <dgm:prSet presAssocID="{E12DDCAE-8461-4E84-AE12-A003B0D8477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ext>
      </dgm:extLst>
    </dgm:pt>
    <dgm:pt modelId="{82C5B904-22CC-4D09-86F4-5D4D7DD571CD}" type="pres">
      <dgm:prSet presAssocID="{E12DDCAE-8461-4E84-AE12-A003B0D8477A}" presName="spaceRect" presStyleCnt="0"/>
      <dgm:spPr/>
    </dgm:pt>
    <dgm:pt modelId="{190FD642-17B0-4A8D-BC55-66880E1FA824}" type="pres">
      <dgm:prSet presAssocID="{E12DDCAE-8461-4E84-AE12-A003B0D8477A}" presName="parTx" presStyleLbl="revTx" presStyleIdx="2" presStyleCnt="4">
        <dgm:presLayoutVars>
          <dgm:chMax val="0"/>
          <dgm:chPref val="0"/>
        </dgm:presLayoutVars>
      </dgm:prSet>
      <dgm:spPr/>
    </dgm:pt>
    <dgm:pt modelId="{716B11D7-2554-4525-A0F5-5861E5CA7814}" type="pres">
      <dgm:prSet presAssocID="{2F9CEDC3-FCB9-4C74-8B7D-0B6E11577EA8}" presName="sibTrans" presStyleCnt="0"/>
      <dgm:spPr/>
    </dgm:pt>
    <dgm:pt modelId="{696F8857-80C0-4F28-A4F2-BDFD5E073DA4}" type="pres">
      <dgm:prSet presAssocID="{A157C1CF-F4EC-4B69-A907-8DD02BD10DC8}" presName="compNode" presStyleCnt="0"/>
      <dgm:spPr/>
    </dgm:pt>
    <dgm:pt modelId="{DC4E0B26-52DF-40F4-919E-685419D5886D}" type="pres">
      <dgm:prSet presAssocID="{A157C1CF-F4EC-4B69-A907-8DD02BD10DC8}" presName="bgRect" presStyleLbl="bgShp" presStyleIdx="3" presStyleCnt="4"/>
      <dgm:spPr>
        <a:solidFill>
          <a:schemeClr val="accent1">
            <a:lumMod val="40000"/>
            <a:lumOff val="60000"/>
          </a:schemeClr>
        </a:solidFill>
      </dgm:spPr>
    </dgm:pt>
    <dgm:pt modelId="{2C52186D-D69C-41D9-BA77-5D59261CBE50}" type="pres">
      <dgm:prSet presAssocID="{A157C1CF-F4EC-4B69-A907-8DD02BD10DC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ullseye"/>
        </a:ext>
      </dgm:extLst>
    </dgm:pt>
    <dgm:pt modelId="{60F360B5-344B-4FCF-BD0F-E603375B05E0}" type="pres">
      <dgm:prSet presAssocID="{A157C1CF-F4EC-4B69-A907-8DD02BD10DC8}" presName="spaceRect" presStyleCnt="0"/>
      <dgm:spPr/>
    </dgm:pt>
    <dgm:pt modelId="{9E21F21E-354D-4169-B24D-0BEF5D899E38}" type="pres">
      <dgm:prSet presAssocID="{A157C1CF-F4EC-4B69-A907-8DD02BD10DC8}" presName="parTx" presStyleLbl="revTx" presStyleIdx="3" presStyleCnt="4">
        <dgm:presLayoutVars>
          <dgm:chMax val="0"/>
          <dgm:chPref val="0"/>
        </dgm:presLayoutVars>
      </dgm:prSet>
      <dgm:spPr/>
    </dgm:pt>
  </dgm:ptLst>
  <dgm:cxnLst>
    <dgm:cxn modelId="{8F34BB2D-D1AB-42F3-BBF2-F17BC28A244D}" type="presOf" srcId="{E12DDCAE-8461-4E84-AE12-A003B0D8477A}" destId="{190FD642-17B0-4A8D-BC55-66880E1FA824}" srcOrd="0" destOrd="0" presId="urn:microsoft.com/office/officeart/2018/2/layout/IconVerticalSolidList"/>
    <dgm:cxn modelId="{CB4A875A-983E-4752-A40C-EB2E871841A6}" type="presOf" srcId="{A157C1CF-F4EC-4B69-A907-8DD02BD10DC8}" destId="{9E21F21E-354D-4169-B24D-0BEF5D899E38}" srcOrd="0" destOrd="0" presId="urn:microsoft.com/office/officeart/2018/2/layout/IconVerticalSolidList"/>
    <dgm:cxn modelId="{D81E567B-8B27-414E-BA21-092EFC7F68BD}" type="presOf" srcId="{483C0484-3C0A-4AAD-97A5-1AE875B76825}" destId="{76F8138D-ED54-4442-813C-1E7925827E3A}" srcOrd="0" destOrd="0" presId="urn:microsoft.com/office/officeart/2018/2/layout/IconVerticalSolidList"/>
    <dgm:cxn modelId="{05ED9B86-D17C-4435-A3AC-694B0135AADF}" srcId="{6C3F601E-9BB0-415A-A67E-89BA1E15E1A1}" destId="{A157C1CF-F4EC-4B69-A907-8DD02BD10DC8}" srcOrd="3" destOrd="0" parTransId="{F65E4941-1883-418F-9D2E-FEECEE0C51F6}" sibTransId="{DB480172-4C15-495C-96E7-A785A4039E61}"/>
    <dgm:cxn modelId="{68ED3CA8-026E-4452-96E0-805F9F727805}" srcId="{6C3F601E-9BB0-415A-A67E-89BA1E15E1A1}" destId="{483C0484-3C0A-4AAD-97A5-1AE875B76825}" srcOrd="0" destOrd="0" parTransId="{2606AEDD-90AC-4713-8BD5-0BEDFBECCC4C}" sibTransId="{D77435F1-3767-46B4-B963-12CF34424CEC}"/>
    <dgm:cxn modelId="{558B55A9-E220-4069-9C08-D7F1A2006580}" srcId="{6C3F601E-9BB0-415A-A67E-89BA1E15E1A1}" destId="{E12DDCAE-8461-4E84-AE12-A003B0D8477A}" srcOrd="2" destOrd="0" parTransId="{0985AB43-23A4-4BDA-878B-38CF64BABE2F}" sibTransId="{2F9CEDC3-FCB9-4C74-8B7D-0B6E11577EA8}"/>
    <dgm:cxn modelId="{1A5A96AA-ADBC-48F3-8BBA-D19078B2D45C}" type="presOf" srcId="{6C3F601E-9BB0-415A-A67E-89BA1E15E1A1}" destId="{EBB4A890-E9A5-4F56-886D-F635EE97CE4B}" srcOrd="0" destOrd="0" presId="urn:microsoft.com/office/officeart/2018/2/layout/IconVerticalSolidList"/>
    <dgm:cxn modelId="{F66077AB-A98B-4E94-96CC-95B37038691E}" srcId="{6C3F601E-9BB0-415A-A67E-89BA1E15E1A1}" destId="{20FCC723-3BB6-428D-9202-2FB79A220D58}" srcOrd="1" destOrd="0" parTransId="{8DBA7E36-785F-4440-8F60-8F4EC85A7F83}" sibTransId="{1403E752-9DB9-463F-81F5-9CEB266668BC}"/>
    <dgm:cxn modelId="{34FAE7F0-BCB3-41C5-B3FB-694050EA064D}" type="presOf" srcId="{20FCC723-3BB6-428D-9202-2FB79A220D58}" destId="{22C2C53C-4856-433D-9D53-F7E36190702E}" srcOrd="0" destOrd="0" presId="urn:microsoft.com/office/officeart/2018/2/layout/IconVerticalSolidList"/>
    <dgm:cxn modelId="{825B46F7-E7C9-42DA-8E41-48DB902D82F7}" type="presParOf" srcId="{EBB4A890-E9A5-4F56-886D-F635EE97CE4B}" destId="{75040E85-BFDD-4B4F-AACE-A9E8EEC794C8}" srcOrd="0" destOrd="0" presId="urn:microsoft.com/office/officeart/2018/2/layout/IconVerticalSolidList"/>
    <dgm:cxn modelId="{323AC4C0-0372-4B7D-92DF-507CB99DE82D}" type="presParOf" srcId="{75040E85-BFDD-4B4F-AACE-A9E8EEC794C8}" destId="{4577B37E-5EA8-4F97-BDB1-66FC5EA21254}" srcOrd="0" destOrd="0" presId="urn:microsoft.com/office/officeart/2018/2/layout/IconVerticalSolidList"/>
    <dgm:cxn modelId="{D04AB02F-D2EE-4FEE-9DD0-EAD2948EBEAF}" type="presParOf" srcId="{75040E85-BFDD-4B4F-AACE-A9E8EEC794C8}" destId="{E7890874-61B5-45E7-9BED-B0B1B1D7C2E1}" srcOrd="1" destOrd="0" presId="urn:microsoft.com/office/officeart/2018/2/layout/IconVerticalSolidList"/>
    <dgm:cxn modelId="{285E4BC0-5257-4E4D-B660-01A75869CFF1}" type="presParOf" srcId="{75040E85-BFDD-4B4F-AACE-A9E8EEC794C8}" destId="{898C1BFE-8CEB-4D78-ADA0-3CB83C41B2AF}" srcOrd="2" destOrd="0" presId="urn:microsoft.com/office/officeart/2018/2/layout/IconVerticalSolidList"/>
    <dgm:cxn modelId="{3CDFC2A0-68F3-42CB-9EED-CB72C1E189FC}" type="presParOf" srcId="{75040E85-BFDD-4B4F-AACE-A9E8EEC794C8}" destId="{76F8138D-ED54-4442-813C-1E7925827E3A}" srcOrd="3" destOrd="0" presId="urn:microsoft.com/office/officeart/2018/2/layout/IconVerticalSolidList"/>
    <dgm:cxn modelId="{94EF2D8B-E408-4EEA-8968-4ED518118C95}" type="presParOf" srcId="{EBB4A890-E9A5-4F56-886D-F635EE97CE4B}" destId="{7C78B363-8631-4B9B-8439-4D5E9EA24271}" srcOrd="1" destOrd="0" presId="urn:microsoft.com/office/officeart/2018/2/layout/IconVerticalSolidList"/>
    <dgm:cxn modelId="{5D60C115-D16F-479F-8D5A-41A13CCC8C72}" type="presParOf" srcId="{EBB4A890-E9A5-4F56-886D-F635EE97CE4B}" destId="{9E75C169-4BC1-4ED8-9FD4-538FA9CC5654}" srcOrd="2" destOrd="0" presId="urn:microsoft.com/office/officeart/2018/2/layout/IconVerticalSolidList"/>
    <dgm:cxn modelId="{A19EB5AB-E31A-46B4-82C6-D435805656F6}" type="presParOf" srcId="{9E75C169-4BC1-4ED8-9FD4-538FA9CC5654}" destId="{7D2905D0-E61C-4C75-BCED-BB3D959A9982}" srcOrd="0" destOrd="0" presId="urn:microsoft.com/office/officeart/2018/2/layout/IconVerticalSolidList"/>
    <dgm:cxn modelId="{4353471B-8BA0-4D49-8AD6-A90413BD2590}" type="presParOf" srcId="{9E75C169-4BC1-4ED8-9FD4-538FA9CC5654}" destId="{8807465B-B5F8-4A03-B635-B6A8DA2FDF3B}" srcOrd="1" destOrd="0" presId="urn:microsoft.com/office/officeart/2018/2/layout/IconVerticalSolidList"/>
    <dgm:cxn modelId="{AFC82470-AC62-423A-A293-E7BB49C9988E}" type="presParOf" srcId="{9E75C169-4BC1-4ED8-9FD4-538FA9CC5654}" destId="{143BF852-D962-4504-908F-F85E5F7ECB14}" srcOrd="2" destOrd="0" presId="urn:microsoft.com/office/officeart/2018/2/layout/IconVerticalSolidList"/>
    <dgm:cxn modelId="{2F83072C-6BDB-4422-AEFF-BC4E2CDB2D7A}" type="presParOf" srcId="{9E75C169-4BC1-4ED8-9FD4-538FA9CC5654}" destId="{22C2C53C-4856-433D-9D53-F7E36190702E}" srcOrd="3" destOrd="0" presId="urn:microsoft.com/office/officeart/2018/2/layout/IconVerticalSolidList"/>
    <dgm:cxn modelId="{0F10BCCD-37E4-4347-B5DF-439FCE0CCB67}" type="presParOf" srcId="{EBB4A890-E9A5-4F56-886D-F635EE97CE4B}" destId="{A3FCEC9F-E134-481B-B853-3BF7EC297409}" srcOrd="3" destOrd="0" presId="urn:microsoft.com/office/officeart/2018/2/layout/IconVerticalSolidList"/>
    <dgm:cxn modelId="{09A696A7-A402-4C73-A24D-32462E456DEF}" type="presParOf" srcId="{EBB4A890-E9A5-4F56-886D-F635EE97CE4B}" destId="{8C398F0E-F918-47FD-B36F-174D492CB8DB}" srcOrd="4" destOrd="0" presId="urn:microsoft.com/office/officeart/2018/2/layout/IconVerticalSolidList"/>
    <dgm:cxn modelId="{6AA5A29F-7BD7-4B4E-A675-548D2BECFB95}" type="presParOf" srcId="{8C398F0E-F918-47FD-B36F-174D492CB8DB}" destId="{C2CF5FA5-F43D-444E-8E90-2EBAD760F2E4}" srcOrd="0" destOrd="0" presId="urn:microsoft.com/office/officeart/2018/2/layout/IconVerticalSolidList"/>
    <dgm:cxn modelId="{BE4D816A-2412-4DE7-9412-C0238C0C7E6A}" type="presParOf" srcId="{8C398F0E-F918-47FD-B36F-174D492CB8DB}" destId="{77FAD1CC-81D1-47B5-8C5F-15BE7F0C9EB2}" srcOrd="1" destOrd="0" presId="urn:microsoft.com/office/officeart/2018/2/layout/IconVerticalSolidList"/>
    <dgm:cxn modelId="{8EC3428D-29DC-4D7B-A1ED-AEAF41EB3ED7}" type="presParOf" srcId="{8C398F0E-F918-47FD-B36F-174D492CB8DB}" destId="{82C5B904-22CC-4D09-86F4-5D4D7DD571CD}" srcOrd="2" destOrd="0" presId="urn:microsoft.com/office/officeart/2018/2/layout/IconVerticalSolidList"/>
    <dgm:cxn modelId="{1607E354-D745-4EDB-BACE-BDB94DF3798D}" type="presParOf" srcId="{8C398F0E-F918-47FD-B36F-174D492CB8DB}" destId="{190FD642-17B0-4A8D-BC55-66880E1FA824}" srcOrd="3" destOrd="0" presId="urn:microsoft.com/office/officeart/2018/2/layout/IconVerticalSolidList"/>
    <dgm:cxn modelId="{D9A37544-C979-4FE3-AE2E-BA9E78D1CACC}" type="presParOf" srcId="{EBB4A890-E9A5-4F56-886D-F635EE97CE4B}" destId="{716B11D7-2554-4525-A0F5-5861E5CA7814}" srcOrd="5" destOrd="0" presId="urn:microsoft.com/office/officeart/2018/2/layout/IconVerticalSolidList"/>
    <dgm:cxn modelId="{F81CFDC0-DD0B-4BFA-9A66-4EF0C079BD33}" type="presParOf" srcId="{EBB4A890-E9A5-4F56-886D-F635EE97CE4B}" destId="{696F8857-80C0-4F28-A4F2-BDFD5E073DA4}" srcOrd="6" destOrd="0" presId="urn:microsoft.com/office/officeart/2018/2/layout/IconVerticalSolidList"/>
    <dgm:cxn modelId="{E6E8322E-D5B9-4A54-9A6C-1BEB1F4112D1}" type="presParOf" srcId="{696F8857-80C0-4F28-A4F2-BDFD5E073DA4}" destId="{DC4E0B26-52DF-40F4-919E-685419D5886D}" srcOrd="0" destOrd="0" presId="urn:microsoft.com/office/officeart/2018/2/layout/IconVerticalSolidList"/>
    <dgm:cxn modelId="{278043D8-9319-4D1C-A010-9BF83B20D3C7}" type="presParOf" srcId="{696F8857-80C0-4F28-A4F2-BDFD5E073DA4}" destId="{2C52186D-D69C-41D9-BA77-5D59261CBE50}" srcOrd="1" destOrd="0" presId="urn:microsoft.com/office/officeart/2018/2/layout/IconVerticalSolidList"/>
    <dgm:cxn modelId="{3562AF14-0B76-4981-BE84-C77D9FAA2626}" type="presParOf" srcId="{696F8857-80C0-4F28-A4F2-BDFD5E073DA4}" destId="{60F360B5-344B-4FCF-BD0F-E603375B05E0}" srcOrd="2" destOrd="0" presId="urn:microsoft.com/office/officeart/2018/2/layout/IconVerticalSolidList"/>
    <dgm:cxn modelId="{89374BEF-C60A-4BAA-8A81-F31AC1F277C0}" type="presParOf" srcId="{696F8857-80C0-4F28-A4F2-BDFD5E073DA4}" destId="{9E21F21E-354D-4169-B24D-0BEF5D899E3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4F7BAE-365C-4A83-9C62-4B0F5DF2E14E}">
      <dsp:nvSpPr>
        <dsp:cNvPr id="0" name=""/>
        <dsp:cNvSpPr/>
      </dsp:nvSpPr>
      <dsp:spPr>
        <a:xfrm>
          <a:off x="494810" y="1020266"/>
          <a:ext cx="802880" cy="8028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855FC2-6C1A-4430-B1AF-43B286BF3812}">
      <dsp:nvSpPr>
        <dsp:cNvPr id="0" name=""/>
        <dsp:cNvSpPr/>
      </dsp:nvSpPr>
      <dsp:spPr>
        <a:xfrm>
          <a:off x="4160" y="2106595"/>
          <a:ext cx="1784179" cy="80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1. Data Collection &amp; Analysis: Gather and analyze student data (attendance, grades, participation) to find key performance trends.</a:t>
          </a:r>
        </a:p>
      </dsp:txBody>
      <dsp:txXfrm>
        <a:off x="4160" y="2106595"/>
        <a:ext cx="1784179" cy="802880"/>
      </dsp:txXfrm>
    </dsp:sp>
    <dsp:sp modelId="{11015AC8-FAAD-4C41-AEDA-C7B46C00B7F7}">
      <dsp:nvSpPr>
        <dsp:cNvPr id="0" name=""/>
        <dsp:cNvSpPr/>
      </dsp:nvSpPr>
      <dsp:spPr>
        <a:xfrm>
          <a:off x="2591221" y="1020266"/>
          <a:ext cx="802880" cy="8028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38EDCA-F35B-44B3-829A-364D7016605E}">
      <dsp:nvSpPr>
        <dsp:cNvPr id="0" name=""/>
        <dsp:cNvSpPr/>
      </dsp:nvSpPr>
      <dsp:spPr>
        <a:xfrm>
          <a:off x="2100572" y="2106595"/>
          <a:ext cx="1784179" cy="80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2. Model Development: Build ML models to predict student outcomes and identify at-risk students early.</a:t>
          </a:r>
        </a:p>
      </dsp:txBody>
      <dsp:txXfrm>
        <a:off x="2100572" y="2106595"/>
        <a:ext cx="1784179" cy="802880"/>
      </dsp:txXfrm>
    </dsp:sp>
    <dsp:sp modelId="{F2DDD9B7-04BD-406C-B08F-3D92833BF98F}">
      <dsp:nvSpPr>
        <dsp:cNvPr id="0" name=""/>
        <dsp:cNvSpPr/>
      </dsp:nvSpPr>
      <dsp:spPr>
        <a:xfrm>
          <a:off x="4687632" y="1020266"/>
          <a:ext cx="802880" cy="8028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B3AA45-E9CD-4410-B6F0-83E759AEB0AB}">
      <dsp:nvSpPr>
        <dsp:cNvPr id="0" name=""/>
        <dsp:cNvSpPr/>
      </dsp:nvSpPr>
      <dsp:spPr>
        <a:xfrm>
          <a:off x="4196983" y="2106595"/>
          <a:ext cx="1784179" cy="80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3. Personalized Interventions: Provide insights for tailored support to improve student success.</a:t>
          </a:r>
        </a:p>
      </dsp:txBody>
      <dsp:txXfrm>
        <a:off x="4196983" y="2106595"/>
        <a:ext cx="1784179" cy="802880"/>
      </dsp:txXfrm>
    </dsp:sp>
    <dsp:sp modelId="{9111BEAB-0BC5-45AA-B6FE-E58DAD54FFC2}">
      <dsp:nvSpPr>
        <dsp:cNvPr id="0" name=""/>
        <dsp:cNvSpPr/>
      </dsp:nvSpPr>
      <dsp:spPr>
        <a:xfrm>
          <a:off x="6784043" y="1020266"/>
          <a:ext cx="802880" cy="8028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98C228-2A57-41C6-8AE1-4161CDC91A4E}">
      <dsp:nvSpPr>
        <dsp:cNvPr id="0" name=""/>
        <dsp:cNvSpPr/>
      </dsp:nvSpPr>
      <dsp:spPr>
        <a:xfrm>
          <a:off x="6293394" y="2106595"/>
          <a:ext cx="1784179" cy="80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4. System Integration: Embed predictive tools into learning platforms for real-time feedback.</a:t>
          </a:r>
        </a:p>
      </dsp:txBody>
      <dsp:txXfrm>
        <a:off x="6293394" y="2106595"/>
        <a:ext cx="1784179" cy="802880"/>
      </dsp:txXfrm>
    </dsp:sp>
    <dsp:sp modelId="{94DE9358-E7B1-4DCE-89FB-0E5C6062685D}">
      <dsp:nvSpPr>
        <dsp:cNvPr id="0" name=""/>
        <dsp:cNvSpPr/>
      </dsp:nvSpPr>
      <dsp:spPr>
        <a:xfrm>
          <a:off x="8880454" y="1020266"/>
          <a:ext cx="802880" cy="80288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11940C-2F2A-4B88-A7D0-CEFA488A28E0}">
      <dsp:nvSpPr>
        <dsp:cNvPr id="0" name=""/>
        <dsp:cNvSpPr/>
      </dsp:nvSpPr>
      <dsp:spPr>
        <a:xfrm>
          <a:off x="8389805" y="2106595"/>
          <a:ext cx="1784179" cy="802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5. Continuous Improvement: Evaluate and refine models and strategies for better accuracy and impact.</a:t>
          </a:r>
        </a:p>
      </dsp:txBody>
      <dsp:txXfrm>
        <a:off x="8389805" y="2106595"/>
        <a:ext cx="1784179" cy="802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A3D87B-80E2-41CA-8AFF-AB12B3B9ABAC}">
      <dsp:nvSpPr>
        <dsp:cNvPr id="0" name=""/>
        <dsp:cNvSpPr/>
      </dsp:nvSpPr>
      <dsp:spPr>
        <a:xfrm>
          <a:off x="1055914" y="1305548"/>
          <a:ext cx="844731"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862B07-1726-4BE2-AE84-16CC37C6FEA0}">
      <dsp:nvSpPr>
        <dsp:cNvPr id="0" name=""/>
        <dsp:cNvSpPr/>
      </dsp:nvSpPr>
      <dsp:spPr>
        <a:xfrm>
          <a:off x="1951329" y="1234626"/>
          <a:ext cx="97144" cy="182364"/>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08387B-BCC6-4934-9D9C-1D780D0EAA02}">
      <dsp:nvSpPr>
        <dsp:cNvPr id="0" name=""/>
        <dsp:cNvSpPr/>
      </dsp:nvSpPr>
      <dsp:spPr>
        <a:xfrm>
          <a:off x="526239" y="881500"/>
          <a:ext cx="848166" cy="848166"/>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914" tIns="32914" rIns="32914" bIns="32914" numCol="1" spcCol="1270" anchor="ctr" anchorCtr="0">
          <a:noAutofit/>
        </a:bodyPr>
        <a:lstStyle/>
        <a:p>
          <a:pPr marL="0" lvl="0" indent="0" algn="ctr" defTabSz="1689100">
            <a:lnSpc>
              <a:spcPct val="90000"/>
            </a:lnSpc>
            <a:spcBef>
              <a:spcPct val="0"/>
            </a:spcBef>
            <a:spcAft>
              <a:spcPct val="35000"/>
            </a:spcAft>
            <a:buNone/>
          </a:pPr>
          <a:r>
            <a:rPr lang="en-US" sz="3800" kern="1200"/>
            <a:t>1</a:t>
          </a:r>
        </a:p>
      </dsp:txBody>
      <dsp:txXfrm>
        <a:off x="650450" y="1005711"/>
        <a:ext cx="599744" cy="599744"/>
      </dsp:txXfrm>
    </dsp:sp>
    <dsp:sp modelId="{5DE0FB11-DEE5-454E-9BE3-7E1040EBCEEB}">
      <dsp:nvSpPr>
        <dsp:cNvPr id="0" name=""/>
        <dsp:cNvSpPr/>
      </dsp:nvSpPr>
      <dsp:spPr>
        <a:xfrm>
          <a:off x="0" y="1895178"/>
          <a:ext cx="1900645"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925" tIns="165100" rIns="149925" bIns="165100" numCol="1" spcCol="1270" anchor="t"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1. Student Data Integration: Combine attendance, grades, participation, and demographics into one dataset for analysis.</a:t>
          </a:r>
        </a:p>
      </dsp:txBody>
      <dsp:txXfrm>
        <a:off x="0" y="2275307"/>
        <a:ext cx="1900645" cy="1585471"/>
      </dsp:txXfrm>
    </dsp:sp>
    <dsp:sp modelId="{1AD49FF0-4BCC-4ACE-B5F9-DAD4E613E262}">
      <dsp:nvSpPr>
        <dsp:cNvPr id="0" name=""/>
        <dsp:cNvSpPr/>
      </dsp:nvSpPr>
      <dsp:spPr>
        <a:xfrm>
          <a:off x="2111828" y="1305775"/>
          <a:ext cx="1900645"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63E496-2B9B-4710-82CA-293FA55CDC24}">
      <dsp:nvSpPr>
        <dsp:cNvPr id="0" name=""/>
        <dsp:cNvSpPr/>
      </dsp:nvSpPr>
      <dsp:spPr>
        <a:xfrm>
          <a:off x="4063158" y="1234815"/>
          <a:ext cx="97144" cy="18255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468629-A442-47EB-BC65-1E26C644734B}">
      <dsp:nvSpPr>
        <dsp:cNvPr id="0" name=""/>
        <dsp:cNvSpPr/>
      </dsp:nvSpPr>
      <dsp:spPr>
        <a:xfrm>
          <a:off x="2638068" y="881727"/>
          <a:ext cx="848166" cy="848166"/>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914" tIns="32914" rIns="32914" bIns="32914" numCol="1" spcCol="1270" anchor="ctr" anchorCtr="0">
          <a:noAutofit/>
        </a:bodyPr>
        <a:lstStyle/>
        <a:p>
          <a:pPr marL="0" lvl="0" indent="0" algn="ctr" defTabSz="1689100">
            <a:lnSpc>
              <a:spcPct val="90000"/>
            </a:lnSpc>
            <a:spcBef>
              <a:spcPct val="0"/>
            </a:spcBef>
            <a:spcAft>
              <a:spcPct val="35000"/>
            </a:spcAft>
            <a:buNone/>
          </a:pPr>
          <a:r>
            <a:rPr lang="en-US" sz="3800" kern="1200"/>
            <a:t>2</a:t>
          </a:r>
        </a:p>
      </dsp:txBody>
      <dsp:txXfrm>
        <a:off x="2762279" y="1005938"/>
        <a:ext cx="599744" cy="599744"/>
      </dsp:txXfrm>
    </dsp:sp>
    <dsp:sp modelId="{FAF30BCF-0BAB-42FA-8970-0854B55C908A}">
      <dsp:nvSpPr>
        <dsp:cNvPr id="0" name=""/>
        <dsp:cNvSpPr/>
      </dsp:nvSpPr>
      <dsp:spPr>
        <a:xfrm>
          <a:off x="2111828" y="1895721"/>
          <a:ext cx="1900645"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925" tIns="165100" rIns="149925" bIns="165100" numCol="1" spcCol="1270" anchor="t"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2. Predictive Modeling: Develop machine learning models to predict student performance and key success factors.</a:t>
          </a:r>
        </a:p>
      </dsp:txBody>
      <dsp:txXfrm>
        <a:off x="2111828" y="2275850"/>
        <a:ext cx="1900645" cy="1585471"/>
      </dsp:txXfrm>
    </dsp:sp>
    <dsp:sp modelId="{13A5ADDC-3F18-49A3-BF9E-B89D78BA8557}">
      <dsp:nvSpPr>
        <dsp:cNvPr id="0" name=""/>
        <dsp:cNvSpPr/>
      </dsp:nvSpPr>
      <dsp:spPr>
        <a:xfrm>
          <a:off x="4223657" y="1305775"/>
          <a:ext cx="1900645"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9CA607-DA92-4F29-A2A1-D0875A8C8AE8}">
      <dsp:nvSpPr>
        <dsp:cNvPr id="0" name=""/>
        <dsp:cNvSpPr/>
      </dsp:nvSpPr>
      <dsp:spPr>
        <a:xfrm>
          <a:off x="6174986" y="1234815"/>
          <a:ext cx="97144" cy="18255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36BE4AF-AAF2-42EF-B976-674A274B1E30}">
      <dsp:nvSpPr>
        <dsp:cNvPr id="0" name=""/>
        <dsp:cNvSpPr/>
      </dsp:nvSpPr>
      <dsp:spPr>
        <a:xfrm>
          <a:off x="4749896" y="881727"/>
          <a:ext cx="848166" cy="848166"/>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914" tIns="32914" rIns="32914" bIns="32914" numCol="1" spcCol="1270" anchor="ctr" anchorCtr="0">
          <a:noAutofit/>
        </a:bodyPr>
        <a:lstStyle/>
        <a:p>
          <a:pPr marL="0" lvl="0" indent="0" algn="ctr" defTabSz="1689100">
            <a:lnSpc>
              <a:spcPct val="90000"/>
            </a:lnSpc>
            <a:spcBef>
              <a:spcPct val="0"/>
            </a:spcBef>
            <a:spcAft>
              <a:spcPct val="35000"/>
            </a:spcAft>
            <a:buNone/>
          </a:pPr>
          <a:r>
            <a:rPr lang="en-US" sz="3800" kern="1200"/>
            <a:t>3</a:t>
          </a:r>
        </a:p>
      </dsp:txBody>
      <dsp:txXfrm>
        <a:off x="4874107" y="1005938"/>
        <a:ext cx="599744" cy="599744"/>
      </dsp:txXfrm>
    </dsp:sp>
    <dsp:sp modelId="{48DFBE4C-D389-48DC-80E4-D85AB5F44ADD}">
      <dsp:nvSpPr>
        <dsp:cNvPr id="0" name=""/>
        <dsp:cNvSpPr/>
      </dsp:nvSpPr>
      <dsp:spPr>
        <a:xfrm>
          <a:off x="4223657" y="1895721"/>
          <a:ext cx="1900645"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925" tIns="165100" rIns="149925" bIns="165100" numCol="1" spcCol="1270" anchor="t"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3. Intervention Strategies: Create practical support methods to help students identified as at risk.</a:t>
          </a:r>
        </a:p>
      </dsp:txBody>
      <dsp:txXfrm>
        <a:off x="4223657" y="2275850"/>
        <a:ext cx="1900645" cy="1585471"/>
      </dsp:txXfrm>
    </dsp:sp>
    <dsp:sp modelId="{1FDFCE32-98EE-44B5-A243-5C016689E1A3}">
      <dsp:nvSpPr>
        <dsp:cNvPr id="0" name=""/>
        <dsp:cNvSpPr/>
      </dsp:nvSpPr>
      <dsp:spPr>
        <a:xfrm>
          <a:off x="6335485" y="1305775"/>
          <a:ext cx="950322"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7741EF-3BC6-47B9-846C-AF46EC845D0D}">
      <dsp:nvSpPr>
        <dsp:cNvPr id="0" name=""/>
        <dsp:cNvSpPr/>
      </dsp:nvSpPr>
      <dsp:spPr>
        <a:xfrm>
          <a:off x="6861725" y="881727"/>
          <a:ext cx="848166" cy="848166"/>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914" tIns="32914" rIns="32914" bIns="32914" numCol="1" spcCol="1270" anchor="ctr" anchorCtr="0">
          <a:noAutofit/>
        </a:bodyPr>
        <a:lstStyle/>
        <a:p>
          <a:pPr marL="0" lvl="0" indent="0" algn="ctr" defTabSz="1689100">
            <a:lnSpc>
              <a:spcPct val="90000"/>
            </a:lnSpc>
            <a:spcBef>
              <a:spcPct val="0"/>
            </a:spcBef>
            <a:spcAft>
              <a:spcPct val="35000"/>
            </a:spcAft>
            <a:buNone/>
          </a:pPr>
          <a:r>
            <a:rPr lang="en-US" sz="3800" kern="1200"/>
            <a:t>4</a:t>
          </a:r>
        </a:p>
      </dsp:txBody>
      <dsp:txXfrm>
        <a:off x="6985936" y="1005938"/>
        <a:ext cx="599744" cy="599744"/>
      </dsp:txXfrm>
    </dsp:sp>
    <dsp:sp modelId="{D9DABF81-F5C8-4ADA-94FC-3A4907EC7A9D}">
      <dsp:nvSpPr>
        <dsp:cNvPr id="0" name=""/>
        <dsp:cNvSpPr/>
      </dsp:nvSpPr>
      <dsp:spPr>
        <a:xfrm>
          <a:off x="6281051" y="1863072"/>
          <a:ext cx="1900645"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925" tIns="165100" rIns="149925" bIns="165100" numCol="1" spcCol="1270" anchor="t"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4. Real-time Feedback: Provide instant insights for teachers and students to improve learning outcomes.</a:t>
          </a:r>
        </a:p>
      </dsp:txBody>
      <dsp:txXfrm>
        <a:off x="6281051" y="2243201"/>
        <a:ext cx="1900645" cy="15854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FBB39E-2CCA-4E26-BB61-D923003C6C72}">
      <dsp:nvSpPr>
        <dsp:cNvPr id="0" name=""/>
        <dsp:cNvSpPr/>
      </dsp:nvSpPr>
      <dsp:spPr>
        <a:xfrm>
          <a:off x="0" y="13637"/>
          <a:ext cx="6291943"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OULAD student dataset includes demographics, education, and academic outcomes for 32,593 students.</a:t>
          </a:r>
        </a:p>
      </dsp:txBody>
      <dsp:txXfrm>
        <a:off x="33127" y="46764"/>
        <a:ext cx="6225689" cy="612346"/>
      </dsp:txXfrm>
    </dsp:sp>
    <dsp:sp modelId="{635B74BC-0B1C-4C68-B5A2-031CF1A664B1}">
      <dsp:nvSpPr>
        <dsp:cNvPr id="0" name=""/>
        <dsp:cNvSpPr/>
      </dsp:nvSpPr>
      <dsp:spPr>
        <a:xfrm>
          <a:off x="0" y="717523"/>
          <a:ext cx="6291943"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Key features cover gender, region, age band, highest education level, and disability status.</a:t>
          </a:r>
        </a:p>
      </dsp:txBody>
      <dsp:txXfrm>
        <a:off x="33127" y="750650"/>
        <a:ext cx="6225689" cy="612346"/>
      </dsp:txXfrm>
    </dsp:sp>
    <dsp:sp modelId="{4D486877-8A85-4C38-9DF2-054AC4AF4C76}">
      <dsp:nvSpPr>
        <dsp:cNvPr id="0" name=""/>
        <dsp:cNvSpPr/>
      </dsp:nvSpPr>
      <dsp:spPr>
        <a:xfrm>
          <a:off x="0" y="1399637"/>
          <a:ext cx="6291943"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a:t>
          </a:r>
          <a:r>
            <a:rPr lang="en-US" sz="500" kern="1200" dirty="0"/>
            <a:t> "</a:t>
          </a:r>
          <a:r>
            <a:rPr lang="en-US" sz="1800" kern="1200" dirty="0">
              <a:latin typeface="Times New Roman" panose="02020603050405020304" pitchFamily="18" charset="0"/>
              <a:cs typeface="Times New Roman" panose="02020603050405020304" pitchFamily="18" charset="0"/>
            </a:rPr>
            <a:t>imd_band" feature shows socio-economic status, with some missing values.</a:t>
          </a:r>
        </a:p>
      </dsp:txBody>
      <dsp:txXfrm>
        <a:off x="33127" y="1432764"/>
        <a:ext cx="6225689" cy="612346"/>
      </dsp:txXfrm>
    </dsp:sp>
    <dsp:sp modelId="{E251B368-EB1F-4B6C-8B5C-00665C9741CC}">
      <dsp:nvSpPr>
        <dsp:cNvPr id="0" name=""/>
        <dsp:cNvSpPr/>
      </dsp:nvSpPr>
      <dsp:spPr>
        <a:xfrm>
          <a:off x="0" y="2092637"/>
          <a:ext cx="6291943"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num_of_prev_attempts" reflects prior attempts, potentially predicting student performance.</a:t>
          </a:r>
        </a:p>
      </dsp:txBody>
      <dsp:txXfrm>
        <a:off x="33127" y="2125764"/>
        <a:ext cx="6225689" cy="612346"/>
      </dsp:txXfrm>
    </dsp:sp>
    <dsp:sp modelId="{5B204235-8222-43C8-9798-27EF5EFE66CE}">
      <dsp:nvSpPr>
        <dsp:cNvPr id="0" name=""/>
        <dsp:cNvSpPr/>
      </dsp:nvSpPr>
      <dsp:spPr>
        <a:xfrm>
          <a:off x="0" y="2785637"/>
          <a:ext cx="6291943"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final_result" categorizes outcomes (Pass, Fail, Withdrawn, Distinction), aiding in academic success analysis.</a:t>
          </a:r>
        </a:p>
      </dsp:txBody>
      <dsp:txXfrm>
        <a:off x="33127" y="2818764"/>
        <a:ext cx="6225689" cy="6123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44B10D-88D0-45B0-A994-EFD548131C01}">
      <dsp:nvSpPr>
        <dsp:cNvPr id="0" name=""/>
        <dsp:cNvSpPr/>
      </dsp:nvSpPr>
      <dsp:spPr>
        <a:xfrm>
          <a:off x="0" y="128"/>
          <a:ext cx="6564087" cy="6235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student ID system is unique, with large average values not trend-related</a:t>
          </a:r>
          <a:r>
            <a:rPr lang="en-US" sz="1600" kern="1200" dirty="0"/>
            <a:t>.</a:t>
          </a:r>
        </a:p>
      </dsp:txBody>
      <dsp:txXfrm>
        <a:off x="30440" y="30568"/>
        <a:ext cx="6503207" cy="562682"/>
      </dsp:txXfrm>
    </dsp:sp>
    <dsp:sp modelId="{5C6548BA-320D-450E-84C2-861B7863CF5E}">
      <dsp:nvSpPr>
        <dsp:cNvPr id="0" name=""/>
        <dsp:cNvSpPr/>
      </dsp:nvSpPr>
      <dsp:spPr>
        <a:xfrm>
          <a:off x="0" y="636698"/>
          <a:ext cx="6564087" cy="6235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Most students (median 0 attempts) are taking the course for the first time.</a:t>
          </a:r>
        </a:p>
      </dsp:txBody>
      <dsp:txXfrm>
        <a:off x="30440" y="667138"/>
        <a:ext cx="6503207" cy="562682"/>
      </dsp:txXfrm>
    </dsp:sp>
    <dsp:sp modelId="{6053EC38-0F25-436B-9FAC-8DED5CE295C0}">
      <dsp:nvSpPr>
        <dsp:cNvPr id="0" name=""/>
        <dsp:cNvSpPr/>
      </dsp:nvSpPr>
      <dsp:spPr>
        <a:xfrm>
          <a:off x="0" y="1273268"/>
          <a:ext cx="6564087" cy="6235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 few students attempted multiple times, with a maximum of six attempts.</a:t>
          </a:r>
        </a:p>
      </dsp:txBody>
      <dsp:txXfrm>
        <a:off x="30440" y="1303708"/>
        <a:ext cx="6503207" cy="562682"/>
      </dsp:txXfrm>
    </dsp:sp>
    <dsp:sp modelId="{DFFE42B4-86A7-43C2-B2DF-AD6FA49977AD}">
      <dsp:nvSpPr>
        <dsp:cNvPr id="0" name=""/>
        <dsp:cNvSpPr/>
      </dsp:nvSpPr>
      <dsp:spPr>
        <a:xfrm>
          <a:off x="0" y="1909838"/>
          <a:ext cx="6564087" cy="6235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Average credits studied is 80, with a wide range of values observed.</a:t>
          </a:r>
        </a:p>
      </dsp:txBody>
      <dsp:txXfrm>
        <a:off x="30440" y="1940278"/>
        <a:ext cx="6503207" cy="562682"/>
      </dsp:txXfrm>
    </dsp:sp>
    <dsp:sp modelId="{B8F069D3-40C3-4D64-8F45-F8A7A3534891}">
      <dsp:nvSpPr>
        <dsp:cNvPr id="0" name=""/>
        <dsp:cNvSpPr/>
      </dsp:nvSpPr>
      <dsp:spPr>
        <a:xfrm>
          <a:off x="0" y="2546408"/>
          <a:ext cx="6564087" cy="6235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Maximum credits at 655 likely represent multiple modules or data outliers.</a:t>
          </a:r>
        </a:p>
      </dsp:txBody>
      <dsp:txXfrm>
        <a:off x="30440" y="2576848"/>
        <a:ext cx="6503207" cy="5626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57D9EE-DC35-4690-958A-5F7DD8970681}">
      <dsp:nvSpPr>
        <dsp:cNvPr id="0" name=""/>
        <dsp:cNvSpPr/>
      </dsp:nvSpPr>
      <dsp:spPr>
        <a:xfrm>
          <a:off x="0" y="23848"/>
          <a:ext cx="7055319" cy="71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table indicates most features have no missing values, reflecting high data completeness across the dataset.</a:t>
          </a:r>
        </a:p>
      </dsp:txBody>
      <dsp:txXfrm>
        <a:off x="34726" y="58574"/>
        <a:ext cx="6985867" cy="641908"/>
      </dsp:txXfrm>
    </dsp:sp>
    <dsp:sp modelId="{4E389977-983D-4274-89F6-E8784026D003}">
      <dsp:nvSpPr>
        <dsp:cNvPr id="0" name=""/>
        <dsp:cNvSpPr/>
      </dsp:nvSpPr>
      <dsp:spPr>
        <a:xfrm>
          <a:off x="0" y="844648"/>
          <a:ext cx="7055319" cy="71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`imd_band` feature has 1,111 missing values, affecting analysis of socio-economic influences on outcomes.</a:t>
          </a:r>
        </a:p>
      </dsp:txBody>
      <dsp:txXfrm>
        <a:off x="34726" y="879374"/>
        <a:ext cx="6985867" cy="641908"/>
      </dsp:txXfrm>
    </dsp:sp>
    <dsp:sp modelId="{4172C5A8-432B-4AEF-A0A6-6A9E001F0C6E}">
      <dsp:nvSpPr>
        <dsp:cNvPr id="0" name=""/>
        <dsp:cNvSpPr/>
      </dsp:nvSpPr>
      <dsp:spPr>
        <a:xfrm>
          <a:off x="0" y="1665448"/>
          <a:ext cx="7055319" cy="71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Imputing `imd_band` values could enhance reliability for socio-economic analysis, providing deeper academic performance insights.</a:t>
          </a:r>
        </a:p>
      </dsp:txBody>
      <dsp:txXfrm>
        <a:off x="34726" y="1700174"/>
        <a:ext cx="6985867" cy="6419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3D1138-B6DB-46BC-8E08-835AA6411CC5}">
      <dsp:nvSpPr>
        <dsp:cNvPr id="0" name=""/>
        <dsp:cNvSpPr/>
      </dsp:nvSpPr>
      <dsp:spPr>
        <a:xfrm>
          <a:off x="0" y="13255"/>
          <a:ext cx="6254724" cy="973440"/>
        </a:xfrm>
        <a:prstGeom prst="roundRect">
          <a:avLst/>
        </a:prstGeom>
        <a:solidFill>
          <a:schemeClr val="bg1">
            <a:lumMod val="9500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Used to predict student performance (Pass or Fail).</a:t>
          </a:r>
        </a:p>
      </dsp:txBody>
      <dsp:txXfrm>
        <a:off x="47519" y="60774"/>
        <a:ext cx="6159686" cy="878402"/>
      </dsp:txXfrm>
    </dsp:sp>
    <dsp:sp modelId="{0A77BB39-7F35-4302-8B53-2EB1B0827ED6}">
      <dsp:nvSpPr>
        <dsp:cNvPr id="0" name=""/>
        <dsp:cNvSpPr/>
      </dsp:nvSpPr>
      <dsp:spPr>
        <a:xfrm>
          <a:off x="0" y="1136455"/>
          <a:ext cx="6254724" cy="973440"/>
        </a:xfrm>
        <a:prstGeom prst="roundRect">
          <a:avLst/>
        </a:prstGeom>
        <a:solidFill>
          <a:schemeClr val="bg1">
            <a:lumMod val="9500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Trained using features like final_result, weighted_grade, and pass_rate.</a:t>
          </a:r>
        </a:p>
      </dsp:txBody>
      <dsp:txXfrm>
        <a:off x="47519" y="1183974"/>
        <a:ext cx="6159686" cy="878402"/>
      </dsp:txXfrm>
    </dsp:sp>
    <dsp:sp modelId="{56665C84-D77A-4546-9167-D3DB03FFAE38}">
      <dsp:nvSpPr>
        <dsp:cNvPr id="0" name=""/>
        <dsp:cNvSpPr/>
      </dsp:nvSpPr>
      <dsp:spPr>
        <a:xfrm>
          <a:off x="0" y="2259655"/>
          <a:ext cx="6254724" cy="973440"/>
        </a:xfrm>
        <a:prstGeom prst="roundRect">
          <a:avLst/>
        </a:prstGeom>
        <a:solidFill>
          <a:schemeClr val="bg1">
            <a:lumMod val="9500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Each feature’s impact is tested individually to see how it influences predictions.</a:t>
          </a:r>
        </a:p>
      </dsp:txBody>
      <dsp:txXfrm>
        <a:off x="47519" y="2307174"/>
        <a:ext cx="6159686" cy="878402"/>
      </dsp:txXfrm>
    </dsp:sp>
    <dsp:sp modelId="{9B5006C6-7FE8-49B8-9CCD-476BF50475DB}">
      <dsp:nvSpPr>
        <dsp:cNvPr id="0" name=""/>
        <dsp:cNvSpPr/>
      </dsp:nvSpPr>
      <dsp:spPr>
        <a:xfrm>
          <a:off x="0" y="3382855"/>
          <a:ext cx="6254724" cy="973440"/>
        </a:xfrm>
        <a:prstGeom prst="roundRect">
          <a:avLst/>
        </a:prstGeom>
        <a:solidFill>
          <a:schemeClr val="bg1">
            <a:lumMod val="9500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Uses the sigmoid function to convert results into probabilities.</a:t>
          </a:r>
        </a:p>
      </dsp:txBody>
      <dsp:txXfrm>
        <a:off x="47519" y="3430374"/>
        <a:ext cx="6159686" cy="878402"/>
      </dsp:txXfrm>
    </dsp:sp>
    <dsp:sp modelId="{38F3CAA8-7864-4170-92C9-3649102DA13C}">
      <dsp:nvSpPr>
        <dsp:cNvPr id="0" name=""/>
        <dsp:cNvSpPr/>
      </dsp:nvSpPr>
      <dsp:spPr>
        <a:xfrm>
          <a:off x="0" y="4506055"/>
          <a:ext cx="6254724" cy="973440"/>
        </a:xfrm>
        <a:prstGeom prst="roundRect">
          <a:avLst/>
        </a:prstGeom>
        <a:solidFill>
          <a:schemeClr val="bg1">
            <a:lumMod val="9500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Optimizes model weights to achieve higher accuracy with minimal error.</a:t>
          </a:r>
        </a:p>
      </dsp:txBody>
      <dsp:txXfrm>
        <a:off x="47519" y="4553574"/>
        <a:ext cx="6159686" cy="8784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F4820-67A5-435B-9679-A76D3929AD22}">
      <dsp:nvSpPr>
        <dsp:cNvPr id="0" name=""/>
        <dsp:cNvSpPr/>
      </dsp:nvSpPr>
      <dsp:spPr>
        <a:xfrm>
          <a:off x="0" y="677"/>
          <a:ext cx="10736414" cy="343128"/>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D0BBC666-1243-46BD-8AEB-59ADDE3E9EED}">
      <dsp:nvSpPr>
        <dsp:cNvPr id="0" name=""/>
        <dsp:cNvSpPr/>
      </dsp:nvSpPr>
      <dsp:spPr>
        <a:xfrm>
          <a:off x="103796" y="77881"/>
          <a:ext cx="188720" cy="18872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11FB27-D0C2-45A3-A63C-D4FDFD5A6176}">
      <dsp:nvSpPr>
        <dsp:cNvPr id="0" name=""/>
        <dsp:cNvSpPr/>
      </dsp:nvSpPr>
      <dsp:spPr>
        <a:xfrm>
          <a:off x="396313" y="11564"/>
          <a:ext cx="10340100" cy="343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14" tIns="36314" rIns="36314" bIns="36314"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model achieves high accuracy (88%) using full `final_result` data, especially for "Pass.“</a:t>
          </a:r>
        </a:p>
      </dsp:txBody>
      <dsp:txXfrm>
        <a:off x="396313" y="11564"/>
        <a:ext cx="10340100" cy="343128"/>
      </dsp:txXfrm>
    </dsp:sp>
    <dsp:sp modelId="{0C54744A-9C06-4398-A76F-60647D5142B3}">
      <dsp:nvSpPr>
        <dsp:cNvPr id="0" name=""/>
        <dsp:cNvSpPr/>
      </dsp:nvSpPr>
      <dsp:spPr>
        <a:xfrm>
          <a:off x="0" y="429588"/>
          <a:ext cx="10736414" cy="343128"/>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E49B4734-CA8B-4718-A5EA-D5BD87F18AF9}">
      <dsp:nvSpPr>
        <dsp:cNvPr id="0" name=""/>
        <dsp:cNvSpPr/>
      </dsp:nvSpPr>
      <dsp:spPr>
        <a:xfrm>
          <a:off x="103796" y="506792"/>
          <a:ext cx="188720" cy="188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933CD1-1124-410E-B5C4-A442FDA7337B}">
      <dsp:nvSpPr>
        <dsp:cNvPr id="0" name=""/>
        <dsp:cNvSpPr/>
      </dsp:nvSpPr>
      <dsp:spPr>
        <a:xfrm>
          <a:off x="396313" y="429588"/>
          <a:ext cx="10340100" cy="343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14" tIns="36314" rIns="36314" bIns="36314"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Dropping `weighted_grade` reduces accuracy to 87%, with minor drops in F1-scores.</a:t>
          </a:r>
        </a:p>
      </dsp:txBody>
      <dsp:txXfrm>
        <a:off x="396313" y="429588"/>
        <a:ext cx="10340100" cy="343128"/>
      </dsp:txXfrm>
    </dsp:sp>
    <dsp:sp modelId="{BCA4A1BF-9BB7-487E-AEF4-45F15C95B712}">
      <dsp:nvSpPr>
        <dsp:cNvPr id="0" name=""/>
        <dsp:cNvSpPr/>
      </dsp:nvSpPr>
      <dsp:spPr>
        <a:xfrm>
          <a:off x="0" y="858499"/>
          <a:ext cx="10736414" cy="343128"/>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9507CFCF-141A-44C1-81F4-6B13CAED1F97}">
      <dsp:nvSpPr>
        <dsp:cNvPr id="0" name=""/>
        <dsp:cNvSpPr/>
      </dsp:nvSpPr>
      <dsp:spPr>
        <a:xfrm>
          <a:off x="103796" y="935703"/>
          <a:ext cx="188720" cy="188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7695A2-DD31-4159-8EE4-D83B7F8011DE}">
      <dsp:nvSpPr>
        <dsp:cNvPr id="0" name=""/>
        <dsp:cNvSpPr/>
      </dsp:nvSpPr>
      <dsp:spPr>
        <a:xfrm>
          <a:off x="396313" y="858499"/>
          <a:ext cx="10340100" cy="343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14" tIns="36314" rIns="36314" bIns="36314"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Excluding `pass_rate` keeps accuracy at 87%, showing both features improve performance.</a:t>
          </a:r>
        </a:p>
      </dsp:txBody>
      <dsp:txXfrm>
        <a:off x="396313" y="858499"/>
        <a:ext cx="10340100" cy="343128"/>
      </dsp:txXfrm>
    </dsp:sp>
    <dsp:sp modelId="{05323DC5-9CA3-4600-BEF7-84690D0E511C}">
      <dsp:nvSpPr>
        <dsp:cNvPr id="0" name=""/>
        <dsp:cNvSpPr/>
      </dsp:nvSpPr>
      <dsp:spPr>
        <a:xfrm>
          <a:off x="0" y="1287410"/>
          <a:ext cx="10736414" cy="343128"/>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3C8CC527-6D3F-4C51-B706-ECC63DFCE307}">
      <dsp:nvSpPr>
        <dsp:cNvPr id="0" name=""/>
        <dsp:cNvSpPr/>
      </dsp:nvSpPr>
      <dsp:spPr>
        <a:xfrm>
          <a:off x="103796" y="1364614"/>
          <a:ext cx="188720" cy="188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A59763-8080-4A85-935A-068E43C76919}">
      <dsp:nvSpPr>
        <dsp:cNvPr id="0" name=""/>
        <dsp:cNvSpPr/>
      </dsp:nvSpPr>
      <dsp:spPr>
        <a:xfrm>
          <a:off x="396313" y="1256147"/>
          <a:ext cx="10340100" cy="343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14" tIns="36314" rIns="36314" bIns="36314"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Retaining both features maximizes precision, especially distinguishing "Pass" and "Distinction" outcomes.</a:t>
          </a:r>
        </a:p>
      </dsp:txBody>
      <dsp:txXfrm>
        <a:off x="396313" y="1256147"/>
        <a:ext cx="10340100" cy="3431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7B37E-5EA8-4F97-BDB1-66FC5EA21254}">
      <dsp:nvSpPr>
        <dsp:cNvPr id="0" name=""/>
        <dsp:cNvSpPr/>
      </dsp:nvSpPr>
      <dsp:spPr>
        <a:xfrm>
          <a:off x="-79496" y="4795"/>
          <a:ext cx="10276686" cy="503800"/>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E7890874-61B5-45E7-9BED-B0B1B1D7C2E1}">
      <dsp:nvSpPr>
        <dsp:cNvPr id="0" name=""/>
        <dsp:cNvSpPr/>
      </dsp:nvSpPr>
      <dsp:spPr>
        <a:xfrm>
          <a:off x="72902" y="118150"/>
          <a:ext cx="277632" cy="2770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F8138D-ED54-4442-813C-1E7925827E3A}">
      <dsp:nvSpPr>
        <dsp:cNvPr id="0" name=""/>
        <dsp:cNvSpPr/>
      </dsp:nvSpPr>
      <dsp:spPr>
        <a:xfrm>
          <a:off x="325432" y="4795"/>
          <a:ext cx="10030749" cy="535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703" tIns="56703" rIns="56703" bIns="5670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Random Forest model achieves strong performance in predicting student outcomes across all scenarios.</a:t>
          </a:r>
        </a:p>
      </dsp:txBody>
      <dsp:txXfrm>
        <a:off x="325432" y="4795"/>
        <a:ext cx="10030749" cy="535779"/>
      </dsp:txXfrm>
    </dsp:sp>
    <dsp:sp modelId="{7D2905D0-E61C-4C75-BCED-BB3D959A9982}">
      <dsp:nvSpPr>
        <dsp:cNvPr id="0" name=""/>
        <dsp:cNvSpPr/>
      </dsp:nvSpPr>
      <dsp:spPr>
        <a:xfrm>
          <a:off x="-79496" y="674520"/>
          <a:ext cx="10276686" cy="503800"/>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8807465B-B5F8-4A03-B635-B6A8DA2FDF3B}">
      <dsp:nvSpPr>
        <dsp:cNvPr id="0" name=""/>
        <dsp:cNvSpPr/>
      </dsp:nvSpPr>
      <dsp:spPr>
        <a:xfrm>
          <a:off x="72902" y="787875"/>
          <a:ext cx="277632" cy="2770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C2C53C-4856-433D-9D53-F7E36190702E}">
      <dsp:nvSpPr>
        <dsp:cNvPr id="0" name=""/>
        <dsp:cNvSpPr/>
      </dsp:nvSpPr>
      <dsp:spPr>
        <a:xfrm>
          <a:off x="502934" y="674520"/>
          <a:ext cx="9675746" cy="535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703" tIns="56703" rIns="56703" bIns="5670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With complete `final_result` data, the model attains 91% accuracy and a macro F1-score of 0.87.</a:t>
          </a:r>
        </a:p>
      </dsp:txBody>
      <dsp:txXfrm>
        <a:off x="502934" y="674520"/>
        <a:ext cx="9675746" cy="535779"/>
      </dsp:txXfrm>
    </dsp:sp>
    <dsp:sp modelId="{C2CF5FA5-F43D-444E-8E90-2EBAD760F2E4}">
      <dsp:nvSpPr>
        <dsp:cNvPr id="0" name=""/>
        <dsp:cNvSpPr/>
      </dsp:nvSpPr>
      <dsp:spPr>
        <a:xfrm>
          <a:off x="-79496" y="1344244"/>
          <a:ext cx="10276686" cy="503800"/>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77FAD1CC-81D1-47B5-8C5F-15BE7F0C9EB2}">
      <dsp:nvSpPr>
        <dsp:cNvPr id="0" name=""/>
        <dsp:cNvSpPr/>
      </dsp:nvSpPr>
      <dsp:spPr>
        <a:xfrm>
          <a:off x="72902" y="1457600"/>
          <a:ext cx="277632" cy="2770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0FD642-17B0-4A8D-BC55-66880E1FA824}">
      <dsp:nvSpPr>
        <dsp:cNvPr id="0" name=""/>
        <dsp:cNvSpPr/>
      </dsp:nvSpPr>
      <dsp:spPr>
        <a:xfrm>
          <a:off x="502934" y="1344244"/>
          <a:ext cx="9675746" cy="535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703" tIns="56703" rIns="56703" bIns="5670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Excluding `weighted_grade` lowers accuracy to 89%, showing it enhances but isn't essential.</a:t>
          </a:r>
        </a:p>
      </dsp:txBody>
      <dsp:txXfrm>
        <a:off x="502934" y="1344244"/>
        <a:ext cx="9675746" cy="535779"/>
      </dsp:txXfrm>
    </dsp:sp>
    <dsp:sp modelId="{DC4E0B26-52DF-40F4-919E-685419D5886D}">
      <dsp:nvSpPr>
        <dsp:cNvPr id="0" name=""/>
        <dsp:cNvSpPr/>
      </dsp:nvSpPr>
      <dsp:spPr>
        <a:xfrm>
          <a:off x="-79496" y="2013969"/>
          <a:ext cx="10276686" cy="503800"/>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2C52186D-D69C-41D9-BA77-5D59261CBE50}">
      <dsp:nvSpPr>
        <dsp:cNvPr id="0" name=""/>
        <dsp:cNvSpPr/>
      </dsp:nvSpPr>
      <dsp:spPr>
        <a:xfrm>
          <a:off x="72902" y="2127324"/>
          <a:ext cx="277632" cy="2770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21F21E-354D-4169-B24D-0BEF5D899E38}">
      <dsp:nvSpPr>
        <dsp:cNvPr id="0" name=""/>
        <dsp:cNvSpPr/>
      </dsp:nvSpPr>
      <dsp:spPr>
        <a:xfrm>
          <a:off x="502934" y="2013969"/>
          <a:ext cx="9675746" cy="535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703" tIns="56703" rIns="56703" bIns="56703"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Removing `pass_rate` reduces accuracy slightly to 90%, highlighting its positive yet non-critical impact.</a:t>
          </a:r>
        </a:p>
      </dsp:txBody>
      <dsp:txXfrm>
        <a:off x="502934" y="2013969"/>
        <a:ext cx="9675746" cy="53577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D946BB-A700-481B-B27F-188B322AEDC1}"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1532D-7FB0-4852-A014-EE92E3B647D6}" type="slidenum">
              <a:rPr lang="en-US" smtClean="0"/>
              <a:t>‹#›</a:t>
            </a:fld>
            <a:endParaRPr lang="en-US"/>
          </a:p>
        </p:txBody>
      </p:sp>
    </p:spTree>
    <p:extLst>
      <p:ext uri="{BB962C8B-B14F-4D97-AF65-F5344CB8AC3E}">
        <p14:creationId xmlns:p14="http://schemas.microsoft.com/office/powerpoint/2010/main" val="4272690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1532D-7FB0-4852-A014-EE92E3B647D6}" type="slidenum">
              <a:rPr lang="en-US" smtClean="0"/>
              <a:t>36</a:t>
            </a:fld>
            <a:endParaRPr lang="en-US"/>
          </a:p>
        </p:txBody>
      </p:sp>
    </p:spTree>
    <p:extLst>
      <p:ext uri="{BB962C8B-B14F-4D97-AF65-F5344CB8AC3E}">
        <p14:creationId xmlns:p14="http://schemas.microsoft.com/office/powerpoint/2010/main" val="2130588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1532D-7FB0-4852-A014-EE92E3B647D6}" type="slidenum">
              <a:rPr lang="en-US" smtClean="0"/>
              <a:t>37</a:t>
            </a:fld>
            <a:endParaRPr lang="en-US"/>
          </a:p>
        </p:txBody>
      </p:sp>
    </p:spTree>
    <p:extLst>
      <p:ext uri="{BB962C8B-B14F-4D97-AF65-F5344CB8AC3E}">
        <p14:creationId xmlns:p14="http://schemas.microsoft.com/office/powerpoint/2010/main" val="2800095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B74BBC07-D7FE-4A15-AF29-E8DB93D86ACD}" type="datetimeFigureOut">
              <a:rPr lang="en-IN" smtClean="0"/>
              <a:t>24-11-2025</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3D1426F3-5AE6-41B0-947B-66489F68C855}" type="slidenum">
              <a:rPr lang="en-IN" smtClean="0"/>
              <a:t>‹#›</a:t>
            </a:fld>
            <a:endParaRPr lang="en-IN"/>
          </a:p>
        </p:txBody>
      </p:sp>
    </p:spTree>
    <p:extLst>
      <p:ext uri="{BB962C8B-B14F-4D97-AF65-F5344CB8AC3E}">
        <p14:creationId xmlns:p14="http://schemas.microsoft.com/office/powerpoint/2010/main" val="3469233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4BBC07-D7FE-4A15-AF29-E8DB93D86AC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1397155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4BBC07-D7FE-4A15-AF29-E8DB93D86AC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277283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4BBC07-D7FE-4A15-AF29-E8DB93D86ACD}"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420509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4BBC07-D7FE-4A15-AF29-E8DB93D86ACD}" type="datetimeFigureOut">
              <a:rPr lang="en-IN" smtClean="0"/>
              <a:t>24-11-2025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11324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4BBC07-D7FE-4A15-AF29-E8DB93D86ACD}"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3462342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BBC07-D7FE-4A15-AF29-E8DB93D86ACD}" type="datetimeFigureOut">
              <a:rPr lang="en-IN" smtClean="0"/>
              <a:t>24-11-2025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992236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B74BBC07-D7FE-4A15-AF29-E8DB93D86ACD}"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3D1426F3-5AE6-41B0-947B-66489F68C855}" type="slidenum">
              <a:rPr lang="en-IN" smtClean="0"/>
              <a:t>‹#›</a:t>
            </a:fld>
            <a:endParaRPr lang="en-IN"/>
          </a:p>
        </p:txBody>
      </p:sp>
    </p:spTree>
    <p:extLst>
      <p:ext uri="{BB962C8B-B14F-4D97-AF65-F5344CB8AC3E}">
        <p14:creationId xmlns:p14="http://schemas.microsoft.com/office/powerpoint/2010/main" val="415829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B74BBC07-D7FE-4A15-AF29-E8DB93D86ACD}" type="datetimeFigureOut">
              <a:rPr lang="en-IN" smtClean="0"/>
              <a:t>24-11-2025</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3D1426F3-5AE6-41B0-947B-66489F68C855}" type="slidenum">
              <a:rPr lang="en-IN" smtClean="0"/>
              <a:t>‹#›</a:t>
            </a:fld>
            <a:endParaRPr lang="en-IN"/>
          </a:p>
        </p:txBody>
      </p:sp>
    </p:spTree>
    <p:extLst>
      <p:ext uri="{BB962C8B-B14F-4D97-AF65-F5344CB8AC3E}">
        <p14:creationId xmlns:p14="http://schemas.microsoft.com/office/powerpoint/2010/main" val="186269760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4BBC07-D7FE-4A15-AF29-E8DB93D86AC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2463632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4BBC07-D7FE-4A15-AF29-E8DB93D86ACD}"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426F3-5AE6-41B0-947B-66489F68C855}" type="slidenum">
              <a:rPr lang="en-IN" smtClean="0"/>
              <a:t>‹#›</a:t>
            </a:fld>
            <a:endParaRPr lang="en-IN"/>
          </a:p>
        </p:txBody>
      </p:sp>
    </p:spTree>
    <p:extLst>
      <p:ext uri="{BB962C8B-B14F-4D97-AF65-F5344CB8AC3E}">
        <p14:creationId xmlns:p14="http://schemas.microsoft.com/office/powerpoint/2010/main" val="38211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B74BBC07-D7FE-4A15-AF29-E8DB93D86ACD}" type="datetimeFigureOut">
              <a:rPr lang="en-IN" smtClean="0"/>
              <a:t>24-11-2025</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3D1426F3-5AE6-41B0-947B-66489F68C855}" type="slidenum">
              <a:rPr lang="en-IN" smtClean="0"/>
              <a:t>‹#›</a:t>
            </a:fld>
            <a:endParaRPr lang="en-IN"/>
          </a:p>
        </p:txBody>
      </p:sp>
    </p:spTree>
    <p:extLst>
      <p:ext uri="{BB962C8B-B14F-4D97-AF65-F5344CB8AC3E}">
        <p14:creationId xmlns:p14="http://schemas.microsoft.com/office/powerpoint/2010/main" val="1432856470"/>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nalyse.kmi.open.ac.uk/open_dataset#descripti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9.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0.emf"/><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43C50-4330-4612-A65C-59E87032FA28}"/>
              </a:ext>
            </a:extLst>
          </p:cNvPr>
          <p:cNvSpPr>
            <a:spLocks noGrp="1"/>
          </p:cNvSpPr>
          <p:nvPr>
            <p:ph type="ctrTitle"/>
          </p:nvPr>
        </p:nvSpPr>
        <p:spPr>
          <a:xfrm>
            <a:off x="1719943" y="1949324"/>
            <a:ext cx="9067800" cy="1163643"/>
          </a:xfrm>
        </p:spPr>
        <p:txBody>
          <a:bodyPr anchor="ctr">
            <a:normAutofit/>
          </a:bodyPr>
          <a:lstStyle/>
          <a:p>
            <a:pPr algn="ctr"/>
            <a:r>
              <a:rPr lang="en-US" sz="2400" b="1" dirty="0">
                <a:latin typeface="Times New Roman" panose="02020603050405020304" pitchFamily="18" charset="0"/>
                <a:cs typeface="Times New Roman" panose="02020603050405020304" pitchFamily="18" charset="0"/>
              </a:rPr>
              <a:t>ENHANCING EDUCATION THROUGH PREDICTIVE ANALYTICS: A STUDY ON STUDENT PERFORMANCE PREDICTION</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5F336A9-BD59-5B62-1CA9-B10B9E735288}"/>
              </a:ext>
            </a:extLst>
          </p:cNvPr>
          <p:cNvSpPr txBox="1"/>
          <p:nvPr/>
        </p:nvSpPr>
        <p:spPr>
          <a:xfrm>
            <a:off x="2416631" y="1007592"/>
            <a:ext cx="811607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CALIFORNIA STATE UNIVERSITY, NORTHRIDGE</a:t>
            </a:r>
          </a:p>
        </p:txBody>
      </p:sp>
      <p:sp>
        <p:nvSpPr>
          <p:cNvPr id="12" name="TextBox 11">
            <a:extLst>
              <a:ext uri="{FF2B5EF4-FFF2-40B4-BE49-F238E27FC236}">
                <a16:creationId xmlns:a16="http://schemas.microsoft.com/office/drawing/2014/main" id="{BF607674-EF90-9942-BA5D-D9C244FDC0C5}"/>
              </a:ext>
            </a:extLst>
          </p:cNvPr>
          <p:cNvSpPr txBox="1"/>
          <p:nvPr/>
        </p:nvSpPr>
        <p:spPr>
          <a:xfrm>
            <a:off x="1545771" y="3384483"/>
            <a:ext cx="9459685"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A Thesis submitted in partial fulfillment of the requirements for the degree of </a:t>
            </a:r>
          </a:p>
          <a:p>
            <a:pPr algn="ctr"/>
            <a:r>
              <a:rPr lang="en-US" sz="2000" dirty="0">
                <a:latin typeface="Times New Roman" panose="02020603050405020304" pitchFamily="18" charset="0"/>
                <a:cs typeface="Times New Roman" panose="02020603050405020304" pitchFamily="18" charset="0"/>
              </a:rPr>
              <a:t>Master of Science in Computer Science</a:t>
            </a:r>
          </a:p>
        </p:txBody>
      </p:sp>
      <p:sp>
        <p:nvSpPr>
          <p:cNvPr id="14" name="TextBox 13">
            <a:extLst>
              <a:ext uri="{FF2B5EF4-FFF2-40B4-BE49-F238E27FC236}">
                <a16:creationId xmlns:a16="http://schemas.microsoft.com/office/drawing/2014/main" id="{29F30413-5DE7-6FCA-174F-A8205F0670A3}"/>
              </a:ext>
            </a:extLst>
          </p:cNvPr>
          <p:cNvSpPr txBox="1"/>
          <p:nvPr/>
        </p:nvSpPr>
        <p:spPr>
          <a:xfrm>
            <a:off x="5247126" y="4409341"/>
            <a:ext cx="1800494" cy="707886"/>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By</a:t>
            </a:r>
          </a:p>
          <a:p>
            <a:pPr algn="ctr"/>
            <a:r>
              <a:rPr lang="en-US" sz="2000" dirty="0">
                <a:latin typeface="Times New Roman" panose="02020603050405020304" pitchFamily="18" charset="0"/>
                <a:cs typeface="Times New Roman" panose="02020603050405020304" pitchFamily="18" charset="0"/>
              </a:rPr>
              <a:t>Sandya Bethina</a:t>
            </a:r>
          </a:p>
        </p:txBody>
      </p:sp>
      <p:pic>
        <p:nvPicPr>
          <p:cNvPr id="9" name="Picture 8" descr="A red and black logo&#10;&#10;AI-generated content may be incorrect.">
            <a:extLst>
              <a:ext uri="{FF2B5EF4-FFF2-40B4-BE49-F238E27FC236}">
                <a16:creationId xmlns:a16="http://schemas.microsoft.com/office/drawing/2014/main" id="{97608397-727F-E437-ACBC-B1DE9E6299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3087" y="5301658"/>
            <a:ext cx="1268572" cy="1250918"/>
          </a:xfrm>
          <a:prstGeom prst="rect">
            <a:avLst/>
          </a:prstGeom>
        </p:spPr>
      </p:pic>
    </p:spTree>
    <p:extLst>
      <p:ext uri="{BB962C8B-B14F-4D97-AF65-F5344CB8AC3E}">
        <p14:creationId xmlns:p14="http://schemas.microsoft.com/office/powerpoint/2010/main" val="99755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1C5713-9112-29FD-5DD6-0FA5F1A82742}"/>
              </a:ext>
            </a:extLst>
          </p:cNvPr>
          <p:cNvSpPr txBox="1"/>
          <p:nvPr/>
        </p:nvSpPr>
        <p:spPr>
          <a:xfrm>
            <a:off x="250371" y="936711"/>
            <a:ext cx="3646715" cy="4984578"/>
          </a:xfrm>
          <a:prstGeom prst="rect">
            <a:avLst/>
          </a:prstGeom>
        </p:spPr>
        <p:txBody>
          <a:bodyPr vert="horz" lIns="91440" tIns="45720" rIns="91440" bIns="45720" rtlCol="0" anchor="ctr">
            <a:normAutofit/>
          </a:bodyPr>
          <a:lstStyle/>
          <a:p>
            <a:pPr defTabSz="914400">
              <a:lnSpc>
                <a:spcPct val="85000"/>
              </a:lnSpc>
              <a:spcBef>
                <a:spcPct val="0"/>
              </a:spcBef>
              <a:spcAft>
                <a:spcPts val="600"/>
              </a:spcAft>
            </a:pPr>
            <a:r>
              <a:rPr lang="en-US" sz="2800" b="1" cap="all" spc="-120" dirty="0">
                <a:ln w="3175" cmpd="sng">
                  <a:noFill/>
                </a:ln>
                <a:solidFill>
                  <a:schemeClr val="bg1"/>
                </a:solidFill>
                <a:effectLst>
                  <a:glow rad="38100">
                    <a:schemeClr val="bg1">
                      <a:lumMod val="65000"/>
                      <a:lumOff val="35000"/>
                      <a:alpha val="40000"/>
                    </a:schemeClr>
                  </a:glow>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TABLE OF CONTENT</a:t>
            </a:r>
          </a:p>
        </p:txBody>
      </p:sp>
      <p:sp>
        <p:nvSpPr>
          <p:cNvPr id="10" name="TextBox 9">
            <a:extLst>
              <a:ext uri="{FF2B5EF4-FFF2-40B4-BE49-F238E27FC236}">
                <a16:creationId xmlns:a16="http://schemas.microsoft.com/office/drawing/2014/main" id="{B81AFB28-0B04-0B18-FD04-EF8BBECBD808}"/>
              </a:ext>
            </a:extLst>
          </p:cNvPr>
          <p:cNvSpPr txBox="1"/>
          <p:nvPr/>
        </p:nvSpPr>
        <p:spPr>
          <a:xfrm>
            <a:off x="4614389" y="936711"/>
            <a:ext cx="6815992" cy="4984578"/>
          </a:xfrm>
          <a:prstGeom prst="rect">
            <a:avLst/>
          </a:prstGeom>
        </p:spPr>
        <p:txBody>
          <a:bodyPr vert="horz" lIns="91440" tIns="45720" rIns="91440" bIns="45720" rtlCol="0" anchor="ctr">
            <a:normAutofit/>
          </a:bodyPr>
          <a:lstStyle/>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Introduction</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Objectives</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Scope</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Proposed Process</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Data Description</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Data Analysis &amp; Visualization</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Methodology &amp; Models Used</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Explainable AI (XAI) Analysis</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Advanced Techniques</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Model Comparison</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Conclusion</a:t>
            </a:r>
          </a:p>
          <a:p>
            <a:pPr marL="342900" indent="-342900" defTabSz="914400">
              <a:lnSpc>
                <a:spcPct val="85000"/>
              </a:lnSpc>
              <a:spcBef>
                <a:spcPct val="20000"/>
              </a:spcBef>
              <a:spcAft>
                <a:spcPts val="600"/>
              </a:spcAft>
              <a:buClr>
                <a:schemeClr val="tx1"/>
              </a:buClr>
              <a:buSzPct val="100000"/>
              <a:buFont typeface="Arial" pitchFamily="34" charset="0"/>
              <a:buChar char=" "/>
            </a:pPr>
            <a:r>
              <a:rPr lang="en-US" sz="2000" cap="small"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Future Scope</a:t>
            </a:r>
          </a:p>
        </p:txBody>
      </p:sp>
    </p:spTree>
    <p:extLst>
      <p:ext uri="{BB962C8B-B14F-4D97-AF65-F5344CB8AC3E}">
        <p14:creationId xmlns:p14="http://schemas.microsoft.com/office/powerpoint/2010/main" val="2041942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E4B26CF8-7662-442F-B3D6-87859197E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4AA51E9-91FC-D415-9B9A-CC1C108C2E17}"/>
              </a:ext>
            </a:extLst>
          </p:cNvPr>
          <p:cNvSpPr txBox="1"/>
          <p:nvPr/>
        </p:nvSpPr>
        <p:spPr>
          <a:xfrm>
            <a:off x="5017830" y="1178052"/>
            <a:ext cx="5777316" cy="4501896"/>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spc="-120" dirty="0">
                <a:solidFill>
                  <a:srgbClr val="FFFFFF"/>
                </a:solidFill>
                <a:latin typeface="Times New Roman" panose="02020603050405020304" pitchFamily="18" charset="0"/>
                <a:ea typeface="+mj-ea"/>
                <a:cs typeface="Times New Roman" panose="02020603050405020304" pitchFamily="18" charset="0"/>
              </a:rPr>
              <a:t>INTRODUCTION</a:t>
            </a:r>
          </a:p>
        </p:txBody>
      </p:sp>
      <p:cxnSp>
        <p:nvCxnSpPr>
          <p:cNvPr id="13" name="Straight Connector 12">
            <a:extLst>
              <a:ext uri="{FF2B5EF4-FFF2-40B4-BE49-F238E27FC236}">
                <a16:creationId xmlns:a16="http://schemas.microsoft.com/office/drawing/2014/main" id="{07BC4E14-913C-46C0-ABF7-BDDAEC08A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3440" y="2071116"/>
            <a:ext cx="0" cy="2715768"/>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888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73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ABE433-8182-A78D-7934-BCBAE4D1E495}"/>
              </a:ext>
            </a:extLst>
          </p:cNvPr>
          <p:cNvSpPr>
            <a:spLocks noGrp="1"/>
          </p:cNvSpPr>
          <p:nvPr>
            <p:ph idx="1"/>
          </p:nvPr>
        </p:nvSpPr>
        <p:spPr>
          <a:xfrm>
            <a:off x="1110345" y="1545772"/>
            <a:ext cx="8871856" cy="2634342"/>
          </a:xfrm>
        </p:spPr>
        <p:txBody>
          <a:bodyPr>
            <a:normAutofit/>
          </a:bodyPr>
          <a:lstStyle/>
          <a:p>
            <a:pPr marL="45720" indent="0" algn="just">
              <a:lnSpc>
                <a:spcPct val="100000"/>
              </a:lnSpc>
              <a:buNone/>
            </a:pPr>
            <a:r>
              <a:rPr lang="en-US" sz="2000" dirty="0">
                <a:solidFill>
                  <a:schemeClr val="tx1"/>
                </a:solidFill>
                <a:latin typeface="Times New Roman" panose="02020603050405020304" pitchFamily="18" charset="0"/>
                <a:cs typeface="Times New Roman" panose="02020603050405020304" pitchFamily="18" charset="0"/>
              </a:rPr>
              <a:t>The project aims to improve educational outcomes using predictive analytics by analyzing student data like attendance, grades, and participation. Machine learning algorithms uncover key factors influencing academic success, providing educators with actionable insights to support underperforming students. The project enhances learning experiences through data-driven strategies to boost performance and retention. The predictive model can be integrated into educational systems, offering real-time feedback for proactive measures</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1C467558-D154-0758-F67A-C87D8460CC2D}"/>
              </a:ext>
            </a:extLst>
          </p:cNvPr>
          <p:cNvSpPr txBox="1"/>
          <p:nvPr/>
        </p:nvSpPr>
        <p:spPr>
          <a:xfrm>
            <a:off x="1110345" y="1001487"/>
            <a:ext cx="393492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PROJECT DESCRIPTION:</a:t>
            </a:r>
          </a:p>
        </p:txBody>
      </p:sp>
    </p:spTree>
    <p:extLst>
      <p:ext uri="{BB962C8B-B14F-4D97-AF65-F5344CB8AC3E}">
        <p14:creationId xmlns:p14="http://schemas.microsoft.com/office/powerpoint/2010/main" val="1172901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3EF085-2306-6F7E-97D3-333991153497}"/>
              </a:ext>
            </a:extLst>
          </p:cNvPr>
          <p:cNvSpPr>
            <a:spLocks noGrp="1"/>
          </p:cNvSpPr>
          <p:nvPr>
            <p:ph type="title"/>
          </p:nvPr>
        </p:nvSpPr>
        <p:spPr>
          <a:xfrm>
            <a:off x="657224" y="936711"/>
            <a:ext cx="2988265" cy="4984578"/>
          </a:xfrm>
        </p:spPr>
        <p:txBody>
          <a:bodyPr>
            <a:normAutofit/>
          </a:bodyPr>
          <a:lstStyle/>
          <a:p>
            <a:r>
              <a:rPr lang="en-US" sz="3400" b="1">
                <a:solidFill>
                  <a:srgbClr val="FFFFFF"/>
                </a:solidFill>
                <a:latin typeface="Times New Roman" panose="02020603050405020304" pitchFamily="18" charset="0"/>
                <a:cs typeface="Times New Roman" panose="02020603050405020304" pitchFamily="18" charset="0"/>
              </a:rPr>
              <a:t>PROBLEM STATEMENT:</a:t>
            </a:r>
            <a:endParaRPr lang="en-IN" sz="3400" b="1">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A66D7B-5917-7724-E52B-7DF2CE9211D4}"/>
              </a:ext>
            </a:extLst>
          </p:cNvPr>
          <p:cNvSpPr>
            <a:spLocks noGrp="1"/>
          </p:cNvSpPr>
          <p:nvPr>
            <p:ph idx="1"/>
          </p:nvPr>
        </p:nvSpPr>
        <p:spPr>
          <a:xfrm>
            <a:off x="4614389" y="936711"/>
            <a:ext cx="6815992" cy="4984578"/>
          </a:xfrm>
        </p:spPr>
        <p:txBody>
          <a:bodyPr anchor="ctr">
            <a:normAutofit/>
          </a:bodyPr>
          <a:lstStyle/>
          <a:p>
            <a:pPr marL="45720" indent="0" algn="just">
              <a:buNone/>
            </a:pPr>
            <a:r>
              <a:rPr lang="en-US" sz="2000" dirty="0">
                <a:latin typeface="Times New Roman" panose="02020603050405020304" pitchFamily="18" charset="0"/>
                <a:cs typeface="Times New Roman" panose="02020603050405020304" pitchFamily="18" charset="0"/>
              </a:rPr>
              <a:t>To improve educational outcomes among diverse students, this project leverages predictive analytics and machine learning to analyze data like attendance, grades, and participation. By developing a predictive model that identifies patterns influencing student success, educators can provide personalized support to at-risk students. This data-driven approach enhances learning experiences and fosters an inclusive environment where no student is left behind.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2265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669D-40AB-35D5-07AD-023C5FAC223E}"/>
              </a:ext>
            </a:extLst>
          </p:cNvPr>
          <p:cNvSpPr>
            <a:spLocks noGrp="1"/>
          </p:cNvSpPr>
          <p:nvPr>
            <p:ph type="title"/>
          </p:nvPr>
        </p:nvSpPr>
        <p:spPr>
          <a:xfrm>
            <a:off x="925284" y="914398"/>
            <a:ext cx="8185432" cy="718457"/>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OBJECTIVES:</a:t>
            </a:r>
            <a:endParaRPr lang="en-IN" sz="2400" b="1" dirty="0">
              <a:solidFill>
                <a:schemeClr val="tx1"/>
              </a:solidFill>
            </a:endParaRPr>
          </a:p>
        </p:txBody>
      </p:sp>
      <p:graphicFrame>
        <p:nvGraphicFramePr>
          <p:cNvPr id="7" name="Content Placeholder 2">
            <a:extLst>
              <a:ext uri="{FF2B5EF4-FFF2-40B4-BE49-F238E27FC236}">
                <a16:creationId xmlns:a16="http://schemas.microsoft.com/office/drawing/2014/main" id="{C9247256-55AA-1809-13ED-79A38725FE84}"/>
              </a:ext>
            </a:extLst>
          </p:cNvPr>
          <p:cNvGraphicFramePr>
            <a:graphicFrameLocks noGrp="1"/>
          </p:cNvGraphicFramePr>
          <p:nvPr>
            <p:ph idx="1"/>
            <p:extLst>
              <p:ext uri="{D42A27DB-BD31-4B8C-83A1-F6EECF244321}">
                <p14:modId xmlns:p14="http://schemas.microsoft.com/office/powerpoint/2010/main" val="2927445322"/>
              </p:ext>
            </p:extLst>
          </p:nvPr>
        </p:nvGraphicFramePr>
        <p:xfrm>
          <a:off x="925284" y="1273627"/>
          <a:ext cx="10178146" cy="3929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2844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E74E6-312F-36E2-231A-7C6511B6C291}"/>
              </a:ext>
            </a:extLst>
          </p:cNvPr>
          <p:cNvSpPr>
            <a:spLocks noGrp="1"/>
          </p:cNvSpPr>
          <p:nvPr>
            <p:ph type="title"/>
          </p:nvPr>
        </p:nvSpPr>
        <p:spPr>
          <a:xfrm>
            <a:off x="1251857" y="751114"/>
            <a:ext cx="8196316" cy="598714"/>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SCOPE:</a:t>
            </a:r>
            <a:endParaRPr lang="en-IN" sz="24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583EF015-8392-B9B1-6C5D-5E909EDB01F8}"/>
              </a:ext>
            </a:extLst>
          </p:cNvPr>
          <p:cNvGraphicFramePr>
            <a:graphicFrameLocks noGrp="1"/>
          </p:cNvGraphicFramePr>
          <p:nvPr>
            <p:ph idx="1"/>
            <p:extLst>
              <p:ext uri="{D42A27DB-BD31-4B8C-83A1-F6EECF244321}">
                <p14:modId xmlns:p14="http://schemas.microsoft.com/office/powerpoint/2010/main" val="1096793395"/>
              </p:ext>
            </p:extLst>
          </p:nvPr>
        </p:nvGraphicFramePr>
        <p:xfrm>
          <a:off x="2100944" y="1208314"/>
          <a:ext cx="8447314" cy="47428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8634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059" name="Rectangle 2058">
            <a:extLst>
              <a:ext uri="{FF2B5EF4-FFF2-40B4-BE49-F238E27FC236}">
                <a16:creationId xmlns:a16="http://schemas.microsoft.com/office/drawing/2014/main" id="{D87AB319-64C0-4E2D-B1CD-0A970301B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61" name="Rectangle 2060">
            <a:extLst>
              <a:ext uri="{FF2B5EF4-FFF2-40B4-BE49-F238E27FC236}">
                <a16:creationId xmlns:a16="http://schemas.microsoft.com/office/drawing/2014/main" id="{EDAFA9A5-03CC-4F94-B964-70682CDB0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E7060E-89AA-BDD2-A5D5-CE22F5ECF6C6}"/>
              </a:ext>
            </a:extLst>
          </p:cNvPr>
          <p:cNvSpPr>
            <a:spLocks noGrp="1"/>
          </p:cNvSpPr>
          <p:nvPr>
            <p:ph type="title"/>
          </p:nvPr>
        </p:nvSpPr>
        <p:spPr>
          <a:xfrm>
            <a:off x="528541" y="2829504"/>
            <a:ext cx="3825745" cy="846669"/>
          </a:xfrm>
        </p:spPr>
        <p:txBody>
          <a:bodyPr vert="horz" lIns="91440" tIns="45720" rIns="91440" bIns="45720" rtlCol="0" anchor="b">
            <a:normAutofit/>
          </a:bodyPr>
          <a:lstStyle/>
          <a:p>
            <a:pPr>
              <a:lnSpc>
                <a:spcPct val="80000"/>
              </a:lnSpc>
            </a:pPr>
            <a:r>
              <a:rPr lang="en-US" sz="2800" b="1" dirty="0">
                <a:solidFill>
                  <a:srgbClr val="FFFFFF"/>
                </a:solidFill>
                <a:latin typeface="Times New Roman" panose="02020603050405020304" pitchFamily="18" charset="0"/>
                <a:cs typeface="Times New Roman" panose="02020603050405020304" pitchFamily="18" charset="0"/>
              </a:rPr>
              <a:t>PROPOSED PROCESS:</a:t>
            </a:r>
          </a:p>
        </p:txBody>
      </p:sp>
      <p:sp>
        <p:nvSpPr>
          <p:cNvPr id="2063" name="Rectangle 2062">
            <a:extLst>
              <a:ext uri="{FF2B5EF4-FFF2-40B4-BE49-F238E27FC236}">
                <a16:creationId xmlns:a16="http://schemas.microsoft.com/office/drawing/2014/main" id="{73B36B60-731F-409B-A240-BBF521AB7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Flowchart of learning performance prediction system. | Download Scientific  Diagram">
            <a:extLst>
              <a:ext uri="{FF2B5EF4-FFF2-40B4-BE49-F238E27FC236}">
                <a16:creationId xmlns:a16="http://schemas.microsoft.com/office/drawing/2014/main" id="{EDAD520C-654F-0612-49C0-3153135FEE3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82520" y="1561015"/>
            <a:ext cx="6266016" cy="338364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Flowchart of learning performance prediction system. | Download Scientific  Diagram">
            <a:extLst>
              <a:ext uri="{FF2B5EF4-FFF2-40B4-BE49-F238E27FC236}">
                <a16:creationId xmlns:a16="http://schemas.microsoft.com/office/drawing/2014/main" id="{943F2949-CC2F-0674-F410-D56ABDB54457}"/>
              </a:ext>
            </a:extLst>
          </p:cNvPr>
          <p:cNvSpPr>
            <a:spLocks noChangeAspect="1" noChangeArrowheads="1"/>
          </p:cNvSpPr>
          <p:nvPr/>
        </p:nvSpPr>
        <p:spPr bwMode="auto">
          <a:xfrm>
            <a:off x="1856935" y="3276599"/>
            <a:ext cx="4391465" cy="43914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Flowchart of learning performance prediction system. | Download Scientific  Diagram">
            <a:extLst>
              <a:ext uri="{FF2B5EF4-FFF2-40B4-BE49-F238E27FC236}">
                <a16:creationId xmlns:a16="http://schemas.microsoft.com/office/drawing/2014/main" id="{FF8983B5-AADC-B1FD-7F6C-41CA01A0ECD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361486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7AB319-64C0-4E2D-B1CD-0A970301B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E36B62D-34E6-41D4-B3AA-AC21AB3879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8721CB2-8B25-05DD-4827-808A42AE59A1}"/>
              </a:ext>
            </a:extLst>
          </p:cNvPr>
          <p:cNvSpPr txBox="1"/>
          <p:nvPr/>
        </p:nvSpPr>
        <p:spPr>
          <a:xfrm>
            <a:off x="5081043" y="770467"/>
            <a:ext cx="6608963" cy="3352800"/>
          </a:xfrm>
          <a:prstGeom prst="rect">
            <a:avLst/>
          </a:prstGeom>
        </p:spPr>
        <p:txBody>
          <a:bodyPr vert="horz" lIns="91440" tIns="45720" rIns="91440" bIns="45720" rtlCol="0" anchor="b">
            <a:normAutofit/>
          </a:bodyPr>
          <a:lstStyle/>
          <a:p>
            <a:pPr defTabSz="914400">
              <a:lnSpc>
                <a:spcPct val="80000"/>
              </a:lnSpc>
              <a:spcBef>
                <a:spcPct val="0"/>
              </a:spcBef>
              <a:spcAft>
                <a:spcPts val="600"/>
              </a:spcAft>
            </a:pPr>
            <a:r>
              <a:rPr lang="en-US" sz="4400" b="1" spc="-120" dirty="0">
                <a:solidFill>
                  <a:srgbClr val="FFFFFF"/>
                </a:solidFill>
                <a:latin typeface="Times New Roman" panose="02020603050405020304" pitchFamily="18" charset="0"/>
                <a:ea typeface="+mj-ea"/>
                <a:cs typeface="Times New Roman" panose="02020603050405020304" pitchFamily="18" charset="0"/>
              </a:rPr>
              <a:t>DATA DESCRIPTION</a:t>
            </a:r>
          </a:p>
        </p:txBody>
      </p:sp>
      <p:sp>
        <p:nvSpPr>
          <p:cNvPr id="15" name="Rectangle 14">
            <a:extLst>
              <a:ext uri="{FF2B5EF4-FFF2-40B4-BE49-F238E27FC236}">
                <a16:creationId xmlns:a16="http://schemas.microsoft.com/office/drawing/2014/main" id="{97E92409-AD19-4CE3-9956-8C03560F7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90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 name="Graphic 7" descr="Bar chart">
            <a:extLst>
              <a:ext uri="{FF2B5EF4-FFF2-40B4-BE49-F238E27FC236}">
                <a16:creationId xmlns:a16="http://schemas.microsoft.com/office/drawing/2014/main" id="{BFA55D3D-9556-FDA3-DDD3-344F20E774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3464" y="1742701"/>
            <a:ext cx="3352128" cy="3352128"/>
          </a:xfrm>
          <a:prstGeom prst="rect">
            <a:avLst/>
          </a:prstGeom>
        </p:spPr>
      </p:pic>
    </p:spTree>
    <p:extLst>
      <p:ext uri="{BB962C8B-B14F-4D97-AF65-F5344CB8AC3E}">
        <p14:creationId xmlns:p14="http://schemas.microsoft.com/office/powerpoint/2010/main" val="269599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63FC3-203E-2B61-E35D-F2FD1B35D784}"/>
              </a:ext>
            </a:extLst>
          </p:cNvPr>
          <p:cNvSpPr>
            <a:spLocks noGrp="1"/>
          </p:cNvSpPr>
          <p:nvPr>
            <p:ph type="title"/>
          </p:nvPr>
        </p:nvSpPr>
        <p:spPr>
          <a:xfrm>
            <a:off x="468086" y="936711"/>
            <a:ext cx="3472543"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DATA DESCRIPTION:</a:t>
            </a:r>
          </a:p>
        </p:txBody>
      </p:sp>
      <p:sp>
        <p:nvSpPr>
          <p:cNvPr id="5" name="TextBox 4">
            <a:extLst>
              <a:ext uri="{FF2B5EF4-FFF2-40B4-BE49-F238E27FC236}">
                <a16:creationId xmlns:a16="http://schemas.microsoft.com/office/drawing/2014/main" id="{08E8877A-2D4A-47FB-B889-CA71C533998E}"/>
              </a:ext>
            </a:extLst>
          </p:cNvPr>
          <p:cNvSpPr txBox="1"/>
          <p:nvPr/>
        </p:nvSpPr>
        <p:spPr>
          <a:xfrm>
            <a:off x="4614389" y="936711"/>
            <a:ext cx="6815992" cy="4984578"/>
          </a:xfrm>
          <a:prstGeom prst="rect">
            <a:avLst/>
          </a:prstGeom>
        </p:spPr>
        <p:txBody>
          <a:bodyPr vert="horz" lIns="91440" tIns="45720" rIns="91440" bIns="45720" rtlCol="0" anchor="ctr">
            <a:normAutofit/>
          </a:bodyPr>
          <a:lstStyle/>
          <a:p>
            <a:pPr marL="342900" indent="-342900" algn="just" defTabSz="914400">
              <a:lnSpc>
                <a:spcPct val="85000"/>
              </a:lnSpc>
              <a:spcAft>
                <a:spcPts val="600"/>
              </a:spcAft>
              <a:buFont typeface="Wingdings" panose="05000000000000000000" pitchFamily="2" charset="2"/>
              <a:buChar char="Ø"/>
            </a:pP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The "Open University Learning Analytics Dataset" (OULAD) provides data to support educational analytics research.</a:t>
            </a:r>
          </a:p>
          <a:p>
            <a:pPr marL="342900" indent="-342900" algn="just" defTabSz="914400">
              <a:lnSpc>
                <a:spcPct val="85000"/>
              </a:lnSpc>
              <a:spcAft>
                <a:spcPts val="600"/>
              </a:spcAft>
              <a:buFont typeface="Wingdings" panose="05000000000000000000" pitchFamily="2" charset="2"/>
              <a:buChar char="Ø"/>
            </a:pP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It includes data from 32,593 students across seven courses, analyzing factors like success and retention.</a:t>
            </a:r>
          </a:p>
          <a:p>
            <a:pPr marL="342900" indent="-342900" algn="just" defTabSz="914400">
              <a:lnSpc>
                <a:spcPct val="85000"/>
              </a:lnSpc>
              <a:spcAft>
                <a:spcPts val="600"/>
              </a:spcAft>
              <a:buFont typeface="Wingdings" panose="05000000000000000000" pitchFamily="2" charset="2"/>
              <a:buChar char="Ø"/>
            </a:pP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Key features cover student demographics, course structure, VLE interactions, and assessment scores to track performance.</a:t>
            </a:r>
          </a:p>
          <a:p>
            <a:pPr marL="342900" indent="-342900" algn="just" defTabSz="914400">
              <a:lnSpc>
                <a:spcPct val="85000"/>
              </a:lnSpc>
              <a:spcAft>
                <a:spcPts val="600"/>
              </a:spcAft>
              <a:buFont typeface="Wingdings" panose="05000000000000000000" pitchFamily="2" charset="2"/>
              <a:buChar char="Ø"/>
            </a:pP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Demographics like age, gender, and education level offer context for analyzing differences in academic outcomes.</a:t>
            </a:r>
          </a:p>
          <a:p>
            <a:pPr marL="342900" indent="-342900" algn="just" defTabSz="914400">
              <a:lnSpc>
                <a:spcPct val="85000"/>
              </a:lnSpc>
              <a:spcAft>
                <a:spcPts val="600"/>
              </a:spcAft>
              <a:buFont typeface="Wingdings" panose="05000000000000000000" pitchFamily="2" charset="2"/>
              <a:buChar char="Ø"/>
            </a:pP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With its detailed structure, OULAD is ideal for data mining, machine learning, and predictive studies in education.</a:t>
            </a:r>
          </a:p>
          <a:p>
            <a:pPr marL="342900" indent="-342900" algn="just" defTabSz="914400">
              <a:lnSpc>
                <a:spcPct val="85000"/>
              </a:lnSpc>
              <a:spcAft>
                <a:spcPts val="600"/>
              </a:spcAft>
              <a:buFont typeface="Wingdings" panose="05000000000000000000" pitchFamily="2" charset="2"/>
              <a:buChar char="Ø"/>
            </a:pP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We can access the dataset [</a:t>
            </a: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hlinkClick r:id="rId2"/>
              </a:rPr>
              <a:t>here</a:t>
            </a:r>
            <a:r>
              <a:rPr lang="en-US" sz="2000" dirty="0">
                <a:solidFill>
                  <a:schemeClr val="tx1">
                    <a:lumMod val="85000"/>
                    <a:lumOff val="15000"/>
                  </a:schemeClr>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42473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87AB319-64C0-4E2D-B1CD-0A970301B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EDAFA9A5-03CC-4F94-B964-70682CDB0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0DD254-F0F6-8205-11D2-008F2ED48860}"/>
              </a:ext>
            </a:extLst>
          </p:cNvPr>
          <p:cNvSpPr>
            <a:spLocks noGrp="1"/>
          </p:cNvSpPr>
          <p:nvPr>
            <p:ph type="title"/>
          </p:nvPr>
        </p:nvSpPr>
        <p:spPr>
          <a:xfrm>
            <a:off x="603504" y="770467"/>
            <a:ext cx="3881410" cy="3352800"/>
          </a:xfrm>
        </p:spPr>
        <p:txBody>
          <a:bodyPr vert="horz" lIns="91440" tIns="45720" rIns="91440" bIns="45720" rtlCol="0" anchor="b">
            <a:normAutofit/>
          </a:bodyPr>
          <a:lstStyle/>
          <a:p>
            <a:pPr algn="ctr">
              <a:lnSpc>
                <a:spcPct val="80000"/>
              </a:lnSpc>
            </a:pPr>
            <a:r>
              <a:rPr lang="en-US" sz="2800" b="1" dirty="0">
                <a:solidFill>
                  <a:srgbClr val="FFFFFF"/>
                </a:solidFill>
                <a:latin typeface="Times New Roman" panose="02020603050405020304" pitchFamily="18" charset="0"/>
                <a:cs typeface="Times New Roman" panose="02020603050405020304" pitchFamily="18" charset="0"/>
              </a:rPr>
              <a:t>FEATURE DESCRIPTION:</a:t>
            </a:r>
          </a:p>
        </p:txBody>
      </p:sp>
      <p:sp>
        <p:nvSpPr>
          <p:cNvPr id="32" name="Rectangle 31">
            <a:extLst>
              <a:ext uri="{FF2B5EF4-FFF2-40B4-BE49-F238E27FC236}">
                <a16:creationId xmlns:a16="http://schemas.microsoft.com/office/drawing/2014/main" id="{73B36B60-731F-409B-A240-BBF521AB7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a:extLst>
              <a:ext uri="{FF2B5EF4-FFF2-40B4-BE49-F238E27FC236}">
                <a16:creationId xmlns:a16="http://schemas.microsoft.com/office/drawing/2014/main" id="{B7617587-80EA-AC6F-EB94-2EE00B3CF7B4}"/>
              </a:ext>
            </a:extLst>
          </p:cNvPr>
          <p:cNvGraphicFramePr>
            <a:graphicFrameLocks noGrp="1"/>
          </p:cNvGraphicFramePr>
          <p:nvPr>
            <p:extLst>
              <p:ext uri="{D42A27DB-BD31-4B8C-83A1-F6EECF244321}">
                <p14:modId xmlns:p14="http://schemas.microsoft.com/office/powerpoint/2010/main" val="3334029273"/>
              </p:ext>
            </p:extLst>
          </p:nvPr>
        </p:nvGraphicFramePr>
        <p:xfrm>
          <a:off x="5040086" y="849085"/>
          <a:ext cx="6814457" cy="4898575"/>
        </p:xfrm>
        <a:graphic>
          <a:graphicData uri="http://schemas.openxmlformats.org/drawingml/2006/table">
            <a:tbl>
              <a:tblPr>
                <a:tableStyleId>{5C22544A-7EE6-4342-B048-85BDC9FD1C3A}</a:tableStyleId>
              </a:tblPr>
              <a:tblGrid>
                <a:gridCol w="2508257">
                  <a:extLst>
                    <a:ext uri="{9D8B030D-6E8A-4147-A177-3AD203B41FA5}">
                      <a16:colId xmlns:a16="http://schemas.microsoft.com/office/drawing/2014/main" val="3010718953"/>
                    </a:ext>
                  </a:extLst>
                </a:gridCol>
                <a:gridCol w="2115949">
                  <a:extLst>
                    <a:ext uri="{9D8B030D-6E8A-4147-A177-3AD203B41FA5}">
                      <a16:colId xmlns:a16="http://schemas.microsoft.com/office/drawing/2014/main" val="1228771117"/>
                    </a:ext>
                  </a:extLst>
                </a:gridCol>
                <a:gridCol w="2190251">
                  <a:extLst>
                    <a:ext uri="{9D8B030D-6E8A-4147-A177-3AD203B41FA5}">
                      <a16:colId xmlns:a16="http://schemas.microsoft.com/office/drawing/2014/main" val="2034173221"/>
                    </a:ext>
                  </a:extLst>
                </a:gridCol>
              </a:tblGrid>
              <a:tr h="238590">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Feature Category</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Feature</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Description</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738425086"/>
                  </a:ext>
                </a:extLst>
              </a:tr>
              <a:tr h="187109">
                <a:tc>
                  <a:txBody>
                    <a:bodyPr/>
                    <a:lstStyle/>
                    <a:p>
                      <a:pPr algn="ctr" fontAlgn="ct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B w="12700" cmpd="sng">
                      <a:noFill/>
                    </a:lnB>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Student ID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Unique identifier for each student.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2877365849"/>
                  </a:ext>
                </a:extLst>
              </a:tr>
              <a:tr h="341555">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Gender</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Indicates the student's gender (Male/Female).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675269119"/>
                  </a:ext>
                </a:extLst>
              </a:tr>
              <a:tr h="341555">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900" u="none" strike="noStrike">
                          <a:effectLst/>
                          <a:latin typeface="Times New Roman" panose="02020603050405020304" pitchFamily="18" charset="0"/>
                          <a:cs typeface="Times New Roman" panose="02020603050405020304" pitchFamily="18" charset="0"/>
                        </a:rPr>
                        <a:t>Student Demographics</a:t>
                      </a: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dirty="0">
                          <a:effectLst/>
                          <a:latin typeface="Times New Roman" panose="02020603050405020304" pitchFamily="18" charset="0"/>
                          <a:cs typeface="Times New Roman" panose="02020603050405020304" pitchFamily="18" charset="0"/>
                        </a:rPr>
                        <a:t>Age Band</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Categorized age ranges such as “0-35” or “35+”.</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4241936860"/>
                  </a:ext>
                </a:extLst>
              </a:tr>
              <a:tr h="187109">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Region</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Geographic location within the UK.</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54421330"/>
                  </a:ext>
                </a:extLst>
              </a:tr>
              <a:tr h="341555">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Disability</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Whether the student has declared a disability (Yes/No).</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584157828"/>
                  </a:ext>
                </a:extLst>
              </a:tr>
              <a:tr h="496000">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Highest Education Level</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The highest educational qualification attained (e.g., "A Level", "HE Qualification").</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175540861"/>
                  </a:ext>
                </a:extLst>
              </a:tr>
              <a:tr h="187109">
                <a:tc>
                  <a:txBody>
                    <a:bodyPr/>
                    <a:lstStyle/>
                    <a:p>
                      <a:pPr algn="ctr" fontAlgn="ct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T w="12700" cmpd="sng">
                      <a:noFill/>
                    </a:lnT>
                    <a:lnB w="12700" cmpd="sng">
                      <a:noFill/>
                    </a:lnB>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Code Module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Unique code for each course module.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2628928096"/>
                  </a:ext>
                </a:extLst>
              </a:tr>
              <a:tr h="341555">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900" u="none" strike="noStrike">
                          <a:effectLst/>
                          <a:latin typeface="Times New Roman" panose="02020603050405020304" pitchFamily="18" charset="0"/>
                          <a:cs typeface="Times New Roman" panose="02020603050405020304" pitchFamily="18" charset="0"/>
                        </a:rPr>
                        <a:t>Course and Module Information</a:t>
                      </a: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Code Presentation</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Year and semester code for each course presentation.</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59328711"/>
                  </a:ext>
                </a:extLst>
              </a:tr>
              <a:tr h="187109">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Module Length</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L w="12700" cmpd="sng">
                      <a:noFill/>
                    </a:lnL>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Duration of the course module in weeks.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2587204313"/>
                  </a:ext>
                </a:extLst>
              </a:tr>
              <a:tr h="341555">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Virtual Learning Environment (VLE)</a:t>
                      </a: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lnT w="12700" cmpd="sng">
                      <a:noFill/>
                    </a:lnT>
                  </a:tcP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Site Type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Type of activity or page accessed (e.g., quizzes, forums).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3043276896"/>
                  </a:ext>
                </a:extLst>
              </a:tr>
              <a:tr h="341555">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Sum Click</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Total clicks on VLE pages, representing engagement level.</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2882333160"/>
                  </a:ext>
                </a:extLst>
              </a:tr>
              <a:tr h="341555">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Assessment Information</a:t>
                      </a: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Assessment ID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Unique identifier for each assessment in a course module.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1080020320"/>
                  </a:ext>
                </a:extLst>
              </a:tr>
              <a:tr h="496000">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Assessment Type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Type of assessment (e.g., “CMA” for Computer-Marked, “TMA” for Tutor-Marked).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2588661016"/>
                  </a:ext>
                </a:extLst>
              </a:tr>
              <a:tr h="187109">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Date Submitted</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Submission date for the assessment.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4081503425"/>
                  </a:ext>
                </a:extLst>
              </a:tr>
              <a:tr h="341555">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a:effectLst/>
                          <a:latin typeface="Times New Roman" panose="02020603050405020304" pitchFamily="18" charset="0"/>
                          <a:cs typeface="Times New Roman" panose="02020603050405020304" pitchFamily="18" charset="0"/>
                        </a:rPr>
                        <a:t>Score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tc>
                  <a:txBody>
                    <a:bodyPr/>
                    <a:lstStyle/>
                    <a:p>
                      <a:pPr algn="ctr" fontAlgn="ctr"/>
                      <a:r>
                        <a:rPr lang="en-US" sz="900" u="none" strike="noStrike" dirty="0">
                          <a:effectLst/>
                          <a:latin typeface="Times New Roman" panose="02020603050405020304" pitchFamily="18" charset="0"/>
                          <a:cs typeface="Times New Roman" panose="02020603050405020304" pitchFamily="18" charset="0"/>
                        </a:rPr>
                        <a:t>Score achieved by the student in each assessment.</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48" marR="1548" marT="1548" marB="0" anchor="ctr"/>
                </a:tc>
                <a:extLst>
                  <a:ext uri="{0D108BD9-81ED-4DB2-BD59-A6C34878D82A}">
                    <a16:rowId xmlns:a16="http://schemas.microsoft.com/office/drawing/2014/main" val="56056216"/>
                  </a:ext>
                </a:extLst>
              </a:tr>
            </a:tbl>
          </a:graphicData>
        </a:graphic>
      </p:graphicFrame>
    </p:spTree>
    <p:extLst>
      <p:ext uri="{BB962C8B-B14F-4D97-AF65-F5344CB8AC3E}">
        <p14:creationId xmlns:p14="http://schemas.microsoft.com/office/powerpoint/2010/main" val="369856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9D1D-25F8-AAA6-FA22-FFDE2494DCED}"/>
              </a:ext>
            </a:extLst>
          </p:cNvPr>
          <p:cNvSpPr>
            <a:spLocks noGrp="1"/>
          </p:cNvSpPr>
          <p:nvPr>
            <p:ph type="title"/>
          </p:nvPr>
        </p:nvSpPr>
        <p:spPr>
          <a:xfrm>
            <a:off x="609600" y="609600"/>
            <a:ext cx="8397116" cy="912113"/>
          </a:xfrm>
        </p:spPr>
        <p:txBody>
          <a:bodyPr>
            <a:normAutofit/>
          </a:bodyPr>
          <a:lstStyle/>
          <a:p>
            <a:r>
              <a:rPr lang="en-US" sz="2400" b="1">
                <a:solidFill>
                  <a:schemeClr val="tx1"/>
                </a:solidFill>
                <a:latin typeface="Times New Roman" panose="02020603050405020304" pitchFamily="18" charset="0"/>
                <a:cs typeface="Times New Roman" panose="02020603050405020304" pitchFamily="18" charset="0"/>
              </a:rPr>
              <a:t>INFORMATION OF DATASET: </a:t>
            </a: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E9DD2BB-66CC-64E1-9F44-9611FE32A7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7416" y="1573855"/>
            <a:ext cx="4038600" cy="3180916"/>
          </a:xfrm>
          <a:prstGeom prst="rect">
            <a:avLst/>
          </a:prstGeom>
        </p:spPr>
      </p:pic>
      <p:graphicFrame>
        <p:nvGraphicFramePr>
          <p:cNvPr id="8" name="TextBox 5">
            <a:extLst>
              <a:ext uri="{FF2B5EF4-FFF2-40B4-BE49-F238E27FC236}">
                <a16:creationId xmlns:a16="http://schemas.microsoft.com/office/drawing/2014/main" id="{CA353EE1-4AAD-372C-8C78-0345450BDC62}"/>
              </a:ext>
            </a:extLst>
          </p:cNvPr>
          <p:cNvGraphicFramePr/>
          <p:nvPr>
            <p:extLst>
              <p:ext uri="{D42A27DB-BD31-4B8C-83A1-F6EECF244321}">
                <p14:modId xmlns:p14="http://schemas.microsoft.com/office/powerpoint/2010/main" val="583169102"/>
              </p:ext>
            </p:extLst>
          </p:nvPr>
        </p:nvGraphicFramePr>
        <p:xfrm>
          <a:off x="609600" y="1521715"/>
          <a:ext cx="6291943" cy="3477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8686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C5E4-98BE-4A97-AEAF-31DC98958972}"/>
              </a:ext>
            </a:extLst>
          </p:cNvPr>
          <p:cNvSpPr>
            <a:spLocks noGrp="1"/>
          </p:cNvSpPr>
          <p:nvPr>
            <p:ph type="title"/>
          </p:nvPr>
        </p:nvSpPr>
        <p:spPr>
          <a:xfrm>
            <a:off x="664027" y="729343"/>
            <a:ext cx="8609974" cy="745229"/>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STATISTICAL DESCRIPTION:</a:t>
            </a: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2704A2B-7408-81ED-EE2B-0E90435D4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1507" y="1637858"/>
            <a:ext cx="3690779" cy="3170099"/>
          </a:xfrm>
          <a:prstGeom prst="rect">
            <a:avLst/>
          </a:prstGeom>
        </p:spPr>
      </p:pic>
      <p:graphicFrame>
        <p:nvGraphicFramePr>
          <p:cNvPr id="7" name="TextBox 4">
            <a:extLst>
              <a:ext uri="{FF2B5EF4-FFF2-40B4-BE49-F238E27FC236}">
                <a16:creationId xmlns:a16="http://schemas.microsoft.com/office/drawing/2014/main" id="{846549D0-157E-5D2C-BAC5-747EE9F1CFE2}"/>
              </a:ext>
            </a:extLst>
          </p:cNvPr>
          <p:cNvGraphicFramePr/>
          <p:nvPr>
            <p:extLst>
              <p:ext uri="{D42A27DB-BD31-4B8C-83A1-F6EECF244321}">
                <p14:modId xmlns:p14="http://schemas.microsoft.com/office/powerpoint/2010/main" val="3190880809"/>
              </p:ext>
            </p:extLst>
          </p:nvPr>
        </p:nvGraphicFramePr>
        <p:xfrm>
          <a:off x="664027" y="1659629"/>
          <a:ext cx="6564087" cy="3170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7798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0EBAE0B-DD72-4094-8934-3B46A9142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35CF9E4-F38B-FC7F-8EE2-9D14AEBC59B1}"/>
              </a:ext>
            </a:extLst>
          </p:cNvPr>
          <p:cNvSpPr txBox="1"/>
          <p:nvPr/>
        </p:nvSpPr>
        <p:spPr>
          <a:xfrm>
            <a:off x="704850" y="770467"/>
            <a:ext cx="10782300" cy="3294159"/>
          </a:xfrm>
          <a:prstGeom prst="rect">
            <a:avLst/>
          </a:prstGeom>
        </p:spPr>
        <p:txBody>
          <a:bodyPr vert="horz" lIns="91440" tIns="45720" rIns="91440" bIns="45720" rtlCol="0" anchor="b">
            <a:normAutofit/>
          </a:bodyPr>
          <a:lstStyle/>
          <a:p>
            <a:pPr algn="ctr" defTabSz="914400">
              <a:lnSpc>
                <a:spcPct val="80000"/>
              </a:lnSpc>
              <a:spcBef>
                <a:spcPct val="0"/>
              </a:spcBef>
              <a:spcAft>
                <a:spcPts val="600"/>
              </a:spcAft>
            </a:pPr>
            <a:r>
              <a:rPr lang="en-US" sz="4000" b="1" spc="-120" dirty="0">
                <a:solidFill>
                  <a:srgbClr val="FFFFFF"/>
                </a:solidFill>
                <a:latin typeface="Times New Roman" panose="02020603050405020304" pitchFamily="18" charset="0"/>
                <a:ea typeface="+mj-ea"/>
                <a:cs typeface="Times New Roman" panose="02020603050405020304" pitchFamily="18" charset="0"/>
              </a:rPr>
              <a:t>DATA ANALYSIS &amp; VISUALIZATION</a:t>
            </a:r>
          </a:p>
          <a:p>
            <a:pPr algn="ctr" defTabSz="914400">
              <a:lnSpc>
                <a:spcPct val="80000"/>
              </a:lnSpc>
              <a:spcBef>
                <a:spcPct val="0"/>
              </a:spcBef>
              <a:spcAft>
                <a:spcPts val="600"/>
              </a:spcAft>
            </a:pPr>
            <a:endParaRPr lang="en-US" sz="6600" spc="-120" dirty="0">
              <a:solidFill>
                <a:srgbClr val="FFFFFF"/>
              </a:solidFill>
              <a:latin typeface="+mj-lt"/>
              <a:ea typeface="+mj-ea"/>
              <a:cs typeface="+mj-cs"/>
            </a:endParaRPr>
          </a:p>
        </p:txBody>
      </p:sp>
    </p:spTree>
    <p:extLst>
      <p:ext uri="{BB962C8B-B14F-4D97-AF65-F5344CB8AC3E}">
        <p14:creationId xmlns:p14="http://schemas.microsoft.com/office/powerpoint/2010/main" val="3130040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76C42F-ED97-1504-4377-A60CC03FAF99}"/>
              </a:ext>
            </a:extLst>
          </p:cNvPr>
          <p:cNvSpPr>
            <a:spLocks noGrp="1"/>
          </p:cNvSpPr>
          <p:nvPr>
            <p:ph type="title"/>
          </p:nvPr>
        </p:nvSpPr>
        <p:spPr>
          <a:xfrm>
            <a:off x="8075240" y="908080"/>
            <a:ext cx="3401568" cy="863116"/>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GENDER DISTRIBUTION:</a:t>
            </a:r>
          </a:p>
        </p:txBody>
      </p:sp>
      <p:pic>
        <p:nvPicPr>
          <p:cNvPr id="4" name="Picture 3">
            <a:extLst>
              <a:ext uri="{FF2B5EF4-FFF2-40B4-BE49-F238E27FC236}">
                <a16:creationId xmlns:a16="http://schemas.microsoft.com/office/drawing/2014/main" id="{47C52E0D-726F-DEB4-E42C-9041ECA811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999" y="1220949"/>
            <a:ext cx="6278529" cy="4426362"/>
          </a:xfrm>
          <a:prstGeom prst="rect">
            <a:avLst/>
          </a:prstGeom>
        </p:spPr>
      </p:pic>
      <p:sp>
        <p:nvSpPr>
          <p:cNvPr id="6" name="TextBox 5">
            <a:extLst>
              <a:ext uri="{FF2B5EF4-FFF2-40B4-BE49-F238E27FC236}">
                <a16:creationId xmlns:a16="http://schemas.microsoft.com/office/drawing/2014/main" id="{E2B93C86-70DE-55E8-2ABA-054198BB8797}"/>
              </a:ext>
            </a:extLst>
          </p:cNvPr>
          <p:cNvSpPr txBox="1"/>
          <p:nvPr/>
        </p:nvSpPr>
        <p:spPr>
          <a:xfrm>
            <a:off x="8173212" y="2419773"/>
            <a:ext cx="3401568" cy="3358092"/>
          </a:xfrm>
          <a:prstGeom prst="rect">
            <a:avLst/>
          </a:prstGeom>
        </p:spPr>
        <p:txBody>
          <a:bodyPr vert="horz" lIns="91440" tIns="45720" rIns="91440" bIns="45720" rtlCol="0">
            <a:normAutofit/>
          </a:bodyPr>
          <a:lstStyle/>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The count plot shows a slight gender imbalance, with more females than males.</a:t>
            </a:r>
          </a:p>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This imbalance may affect gender-based analyses, making accurate interpretation essential for relevant variables</a:t>
            </a:r>
            <a:r>
              <a:rPr lang="en-US" dirty="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8365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5AAE17-81AD-7427-373A-1C77CD8598E9}"/>
              </a:ext>
            </a:extLst>
          </p:cNvPr>
          <p:cNvSpPr>
            <a:spLocks noGrp="1"/>
          </p:cNvSpPr>
          <p:nvPr>
            <p:ph type="title"/>
          </p:nvPr>
        </p:nvSpPr>
        <p:spPr>
          <a:xfrm>
            <a:off x="8053469" y="-120953"/>
            <a:ext cx="3401568" cy="1920240"/>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DISTRIBUTION OF FINAL RESULT:</a:t>
            </a:r>
          </a:p>
        </p:txBody>
      </p:sp>
      <p:pic>
        <p:nvPicPr>
          <p:cNvPr id="4" name="Picture 3">
            <a:extLst>
              <a:ext uri="{FF2B5EF4-FFF2-40B4-BE49-F238E27FC236}">
                <a16:creationId xmlns:a16="http://schemas.microsoft.com/office/drawing/2014/main" id="{F98E6213-E914-5B6A-37FC-6D3FE2301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999" y="1362216"/>
            <a:ext cx="6278529" cy="4143828"/>
          </a:xfrm>
          <a:prstGeom prst="rect">
            <a:avLst/>
          </a:prstGeom>
        </p:spPr>
      </p:pic>
      <p:sp>
        <p:nvSpPr>
          <p:cNvPr id="6" name="TextBox 5">
            <a:extLst>
              <a:ext uri="{FF2B5EF4-FFF2-40B4-BE49-F238E27FC236}">
                <a16:creationId xmlns:a16="http://schemas.microsoft.com/office/drawing/2014/main" id="{9DA5957E-506F-8498-0FDC-51D2E8729865}"/>
              </a:ext>
            </a:extLst>
          </p:cNvPr>
          <p:cNvSpPr txBox="1"/>
          <p:nvPr/>
        </p:nvSpPr>
        <p:spPr>
          <a:xfrm>
            <a:off x="7870370" y="2419773"/>
            <a:ext cx="3907973" cy="3086271"/>
          </a:xfrm>
          <a:prstGeom prst="rect">
            <a:avLst/>
          </a:prstGeom>
        </p:spPr>
        <p:txBody>
          <a:bodyPr vert="horz" lIns="91440" tIns="45720" rIns="91440" bIns="45720" rtlCol="0">
            <a:normAutofit/>
          </a:bodyPr>
          <a:lstStyle/>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The bar chart shows most students achieved a "Pass," with many also "Withdrawing."</a:t>
            </a:r>
          </a:p>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A high withdrawal rate suggests challenges that lead students to discontinue studies.</a:t>
            </a:r>
          </a:p>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Few students achieved "Distinction," indicating a minority excelling in academic performance</a:t>
            </a:r>
            <a:r>
              <a:rPr lang="en-US" sz="2000" dirty="0">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802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D961C-EE0F-258A-0C72-B3795315D90E}"/>
              </a:ext>
            </a:extLst>
          </p:cNvPr>
          <p:cNvSpPr>
            <a:spLocks noGrp="1"/>
          </p:cNvSpPr>
          <p:nvPr>
            <p:ph type="title"/>
          </p:nvPr>
        </p:nvSpPr>
        <p:spPr>
          <a:xfrm>
            <a:off x="535820" y="740228"/>
            <a:ext cx="9212254" cy="588036"/>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MISSING VALUE INSPECTION:</a:t>
            </a:r>
            <a:endParaRPr lang="en-IN" sz="24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8" name="TextBox 5">
            <a:extLst>
              <a:ext uri="{FF2B5EF4-FFF2-40B4-BE49-F238E27FC236}">
                <a16:creationId xmlns:a16="http://schemas.microsoft.com/office/drawing/2014/main" id="{AEB2DFFA-3CD6-609A-13CE-4B227A52B8D7}"/>
              </a:ext>
            </a:extLst>
          </p:cNvPr>
          <p:cNvGraphicFramePr/>
          <p:nvPr>
            <p:extLst>
              <p:ext uri="{D42A27DB-BD31-4B8C-83A1-F6EECF244321}">
                <p14:modId xmlns:p14="http://schemas.microsoft.com/office/powerpoint/2010/main" val="3027868955"/>
              </p:ext>
            </p:extLst>
          </p:nvPr>
        </p:nvGraphicFramePr>
        <p:xfrm>
          <a:off x="535820" y="1548730"/>
          <a:ext cx="7055319" cy="2400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E5A328D3-EF45-6F7F-F9EB-7E531647D029}"/>
              </a:ext>
            </a:extLst>
          </p:cNvPr>
          <p:cNvPicPr>
            <a:picLocks noChangeAspect="1"/>
          </p:cNvPicPr>
          <p:nvPr/>
        </p:nvPicPr>
        <p:blipFill>
          <a:blip r:embed="rId7"/>
          <a:stretch>
            <a:fillRect/>
          </a:stretch>
        </p:blipFill>
        <p:spPr>
          <a:xfrm>
            <a:off x="7843031" y="1415947"/>
            <a:ext cx="2558395" cy="2533440"/>
          </a:xfrm>
          <a:prstGeom prst="rect">
            <a:avLst/>
          </a:prstGeom>
        </p:spPr>
      </p:pic>
    </p:spTree>
    <p:extLst>
      <p:ext uri="{BB962C8B-B14F-4D97-AF65-F5344CB8AC3E}">
        <p14:creationId xmlns:p14="http://schemas.microsoft.com/office/powerpoint/2010/main" val="688867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211BE1-12C8-2A52-F1B2-BACC6FABF3A9}"/>
              </a:ext>
            </a:extLst>
          </p:cNvPr>
          <p:cNvSpPr>
            <a:spLocks noGrp="1"/>
          </p:cNvSpPr>
          <p:nvPr>
            <p:ph type="title"/>
          </p:nvPr>
        </p:nvSpPr>
        <p:spPr>
          <a:xfrm>
            <a:off x="8053469" y="-88295"/>
            <a:ext cx="3401568" cy="1920240"/>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DISTRIBUTION OF HIGHEST EDUCATION:</a:t>
            </a:r>
          </a:p>
        </p:txBody>
      </p:sp>
      <p:pic>
        <p:nvPicPr>
          <p:cNvPr id="3" name="Picture 2">
            <a:extLst>
              <a:ext uri="{FF2B5EF4-FFF2-40B4-BE49-F238E27FC236}">
                <a16:creationId xmlns:a16="http://schemas.microsoft.com/office/drawing/2014/main" id="{2136C614-1508-EBAB-A072-C62E75A3AB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886" y="1982221"/>
            <a:ext cx="5965371" cy="2903819"/>
          </a:xfrm>
          <a:prstGeom prst="rect">
            <a:avLst/>
          </a:prstGeom>
        </p:spPr>
      </p:pic>
      <p:sp>
        <p:nvSpPr>
          <p:cNvPr id="6" name="TextBox 5">
            <a:extLst>
              <a:ext uri="{FF2B5EF4-FFF2-40B4-BE49-F238E27FC236}">
                <a16:creationId xmlns:a16="http://schemas.microsoft.com/office/drawing/2014/main" id="{8423275D-A63B-49CE-FEAF-ADA6340D8DF3}"/>
              </a:ext>
            </a:extLst>
          </p:cNvPr>
          <p:cNvSpPr txBox="1"/>
          <p:nvPr/>
        </p:nvSpPr>
        <p:spPr>
          <a:xfrm>
            <a:off x="8173212" y="2419773"/>
            <a:ext cx="3401568" cy="3358092"/>
          </a:xfrm>
          <a:prstGeom prst="rect">
            <a:avLst/>
          </a:prstGeom>
        </p:spPr>
        <p:txBody>
          <a:bodyPr vert="horz" lIns="91440" tIns="45720" rIns="91440" bIns="45720" rtlCol="0">
            <a:normAutofit/>
          </a:bodyPr>
          <a:lstStyle/>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Most students have "A Level" or "Lower Than A Level" qualifications.</a:t>
            </a:r>
          </a:p>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Fewer students possess "HE Qualification" or "Post Graduate Qualification" backgrounds.</a:t>
            </a:r>
          </a:p>
          <a:p>
            <a:pPr marL="342900" indent="-342900" algn="ctr" defTabSz="914400">
              <a:lnSpc>
                <a:spcPct val="85000"/>
              </a:lnSpc>
              <a:spcAft>
                <a:spcPts val="600"/>
              </a:spcAft>
              <a:buFont typeface="Wingdings" panose="05000000000000000000" pitchFamily="2" charset="2"/>
              <a:buChar char="Ø"/>
            </a:pPr>
            <a:r>
              <a:rPr lang="en-US" sz="2000" dirty="0">
                <a:effectLst/>
                <a:latin typeface="Times New Roman" panose="02020603050405020304" pitchFamily="18" charset="0"/>
                <a:cs typeface="Times New Roman" panose="02020603050405020304" pitchFamily="18" charset="0"/>
              </a:rPr>
              <a:t>This distribution aids in analyzing how prior education impacts academic performance.</a:t>
            </a:r>
          </a:p>
        </p:txBody>
      </p:sp>
    </p:spTree>
    <p:extLst>
      <p:ext uri="{BB962C8B-B14F-4D97-AF65-F5344CB8AC3E}">
        <p14:creationId xmlns:p14="http://schemas.microsoft.com/office/powerpoint/2010/main" val="1463754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863D76-D480-BB7F-8BCF-F1FBAA346584}"/>
              </a:ext>
            </a:extLst>
          </p:cNvPr>
          <p:cNvSpPr>
            <a:spLocks noGrp="1"/>
          </p:cNvSpPr>
          <p:nvPr>
            <p:ph type="title"/>
          </p:nvPr>
        </p:nvSpPr>
        <p:spPr>
          <a:xfrm>
            <a:off x="8173212" y="499533"/>
            <a:ext cx="3401568" cy="1449010"/>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FINAL RESULT VS GENDER COMPARISON:</a:t>
            </a:r>
          </a:p>
        </p:txBody>
      </p:sp>
      <p:pic>
        <p:nvPicPr>
          <p:cNvPr id="3" name="Picture 2">
            <a:extLst>
              <a:ext uri="{FF2B5EF4-FFF2-40B4-BE49-F238E27FC236}">
                <a16:creationId xmlns:a16="http://schemas.microsoft.com/office/drawing/2014/main" id="{18D00331-10DF-8209-D2F2-BFFEDA23C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999" y="1338672"/>
            <a:ext cx="6278529" cy="4190917"/>
          </a:xfrm>
          <a:prstGeom prst="rect">
            <a:avLst/>
          </a:prstGeom>
        </p:spPr>
      </p:pic>
      <p:sp>
        <p:nvSpPr>
          <p:cNvPr id="7" name="TextBox 6">
            <a:extLst>
              <a:ext uri="{FF2B5EF4-FFF2-40B4-BE49-F238E27FC236}">
                <a16:creationId xmlns:a16="http://schemas.microsoft.com/office/drawing/2014/main" id="{84BB39E6-2970-E53A-81B9-1C639B44E995}"/>
              </a:ext>
            </a:extLst>
          </p:cNvPr>
          <p:cNvSpPr txBox="1"/>
          <p:nvPr/>
        </p:nvSpPr>
        <p:spPr>
          <a:xfrm>
            <a:off x="8173212" y="2419773"/>
            <a:ext cx="3401568" cy="3358092"/>
          </a:xfrm>
          <a:prstGeom prst="rect">
            <a:avLst/>
          </a:prstGeom>
        </p:spPr>
        <p:txBody>
          <a:bodyPr vert="horz" lIns="91440" tIns="45720" rIns="91440" bIns="45720" rtlCol="0">
            <a:normAutofit/>
          </a:bodyPr>
          <a:lstStyle/>
          <a:p>
            <a:pPr marL="342900" indent="-342900" algn="ctr" defTabSz="914400">
              <a:lnSpc>
                <a:spcPct val="85000"/>
              </a:lnSpc>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count plot shows similar final result trends for both genders.</a:t>
            </a:r>
          </a:p>
          <a:p>
            <a:pPr marL="342900" indent="-342900" algn="ctr" defTabSz="914400">
              <a:lnSpc>
                <a:spcPct val="85000"/>
              </a:lnSpc>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Both males and females have high "Pass" counts with consistent outcome distributions.</a:t>
            </a:r>
          </a:p>
          <a:p>
            <a:pPr marL="342900" indent="-342900" algn="ctr" defTabSz="914400">
              <a:lnSpc>
                <a:spcPct val="85000"/>
              </a:lnSpc>
              <a:spcAft>
                <a:spcPts val="60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Slightly higher female enrollment may influence distribution but not individual success rates.</a:t>
            </a:r>
          </a:p>
        </p:txBody>
      </p:sp>
    </p:spTree>
    <p:extLst>
      <p:ext uri="{BB962C8B-B14F-4D97-AF65-F5344CB8AC3E}">
        <p14:creationId xmlns:p14="http://schemas.microsoft.com/office/powerpoint/2010/main" val="3254338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A9B5FA-AD4E-7D0E-E669-735B05CF989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ECF494-2F4C-009D-D990-1C2530645DE0}"/>
              </a:ext>
            </a:extLst>
          </p:cNvPr>
          <p:cNvSpPr>
            <a:spLocks noGrp="1"/>
          </p:cNvSpPr>
          <p:nvPr>
            <p:ph type="title"/>
          </p:nvPr>
        </p:nvSpPr>
        <p:spPr>
          <a:xfrm>
            <a:off x="8173212" y="108856"/>
            <a:ext cx="3401568" cy="1352973"/>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FINAL RESULT VS REGION COMPARISON:</a:t>
            </a:r>
          </a:p>
        </p:txBody>
      </p:sp>
      <p:pic>
        <p:nvPicPr>
          <p:cNvPr id="4" name="Picture 3">
            <a:extLst>
              <a:ext uri="{FF2B5EF4-FFF2-40B4-BE49-F238E27FC236}">
                <a16:creationId xmlns:a16="http://schemas.microsoft.com/office/drawing/2014/main" id="{81BF2843-7350-EFE6-332C-477B5AB40B1D}"/>
              </a:ext>
            </a:extLst>
          </p:cNvPr>
          <p:cNvPicPr>
            <a:picLocks noChangeAspect="1"/>
          </p:cNvPicPr>
          <p:nvPr/>
        </p:nvPicPr>
        <p:blipFill>
          <a:blip r:embed="rId2"/>
          <a:stretch>
            <a:fillRect/>
          </a:stretch>
        </p:blipFill>
        <p:spPr>
          <a:xfrm>
            <a:off x="633999" y="1919435"/>
            <a:ext cx="6278529" cy="3029390"/>
          </a:xfrm>
          <a:prstGeom prst="rect">
            <a:avLst/>
          </a:prstGeom>
        </p:spPr>
      </p:pic>
      <p:sp>
        <p:nvSpPr>
          <p:cNvPr id="7" name="TextBox 6">
            <a:extLst>
              <a:ext uri="{FF2B5EF4-FFF2-40B4-BE49-F238E27FC236}">
                <a16:creationId xmlns:a16="http://schemas.microsoft.com/office/drawing/2014/main" id="{5C396B57-8F8D-04A1-4970-A6A00637DBA8}"/>
              </a:ext>
            </a:extLst>
          </p:cNvPr>
          <p:cNvSpPr txBox="1"/>
          <p:nvPr/>
        </p:nvSpPr>
        <p:spPr>
          <a:xfrm>
            <a:off x="8173212" y="1919436"/>
            <a:ext cx="3401568" cy="4720850"/>
          </a:xfrm>
          <a:prstGeom prst="rect">
            <a:avLst/>
          </a:prstGeom>
        </p:spPr>
        <p:txBody>
          <a:bodyPr vert="horz" lIns="91440" tIns="45720" rIns="91440" bIns="45720" rtlCol="0">
            <a:noAutofit/>
          </a:bodyPr>
          <a:lstStyle/>
          <a:p>
            <a:pPr marL="342900" indent="-342900" algn="ctr"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graph shows regional variation in final results, including pass, fail, and withdrawal rates.</a:t>
            </a:r>
          </a:p>
          <a:p>
            <a:pPr marL="342900" indent="-342900" algn="ctr"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regions display high "Pass" counts, with consistent performance in areas like Scotland.</a:t>
            </a:r>
          </a:p>
          <a:p>
            <a:pPr marL="342900" indent="-342900" algn="ctr"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"Withdrawn" rates are higher in regions like East Anglia and the South East.</a:t>
            </a:r>
          </a:p>
          <a:p>
            <a:pPr marL="342900" indent="-342900" algn="ctr"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Few students achieve "Distinction," indicating limited high achievement across all regions.</a:t>
            </a:r>
          </a:p>
        </p:txBody>
      </p:sp>
    </p:spTree>
    <p:extLst>
      <p:ext uri="{BB962C8B-B14F-4D97-AF65-F5344CB8AC3E}">
        <p14:creationId xmlns:p14="http://schemas.microsoft.com/office/powerpoint/2010/main" val="2018256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E567728-EF95-1EC4-B561-5B456C75FC81}"/>
              </a:ext>
            </a:extLst>
          </p:cNvPr>
          <p:cNvSpPr txBox="1"/>
          <p:nvPr/>
        </p:nvSpPr>
        <p:spPr>
          <a:xfrm>
            <a:off x="8173212" y="650149"/>
            <a:ext cx="3401568" cy="1208314"/>
          </a:xfrm>
          <a:prstGeom prst="rect">
            <a:avLst/>
          </a:prstGeom>
        </p:spPr>
        <p:txBody>
          <a:bodyPr vert="horz" lIns="91440" tIns="45720" rIns="91440" bIns="45720" rtlCol="0" anchor="b">
            <a:normAutofit/>
          </a:bodyPr>
          <a:lstStyle/>
          <a:p>
            <a:pPr algn="ctr" defTabSz="914400">
              <a:lnSpc>
                <a:spcPct val="85000"/>
              </a:lnSpc>
              <a:spcBef>
                <a:spcPct val="0"/>
              </a:spcBef>
              <a:spcAft>
                <a:spcPts val="600"/>
              </a:spcAft>
            </a:pPr>
            <a:r>
              <a:rPr lang="en-US" sz="2800" b="1" spc="-120" dirty="0">
                <a:solidFill>
                  <a:srgbClr val="FFFFFF"/>
                </a:solidFill>
                <a:latin typeface="Times New Roman" panose="02020603050405020304" pitchFamily="18" charset="0"/>
                <a:ea typeface="+mj-ea"/>
                <a:cs typeface="Times New Roman" panose="02020603050405020304" pitchFamily="18" charset="0"/>
              </a:rPr>
              <a:t>FINAL FEATURES FOR MODEL IMPLEMENTATION</a:t>
            </a:r>
          </a:p>
        </p:txBody>
      </p:sp>
      <p:pic>
        <p:nvPicPr>
          <p:cNvPr id="5" name="Picture 4">
            <a:extLst>
              <a:ext uri="{FF2B5EF4-FFF2-40B4-BE49-F238E27FC236}">
                <a16:creationId xmlns:a16="http://schemas.microsoft.com/office/drawing/2014/main" id="{CA773ACA-1E2B-7DE3-3A91-F3A501A7788B}"/>
              </a:ext>
            </a:extLst>
          </p:cNvPr>
          <p:cNvPicPr>
            <a:picLocks noChangeAspect="1"/>
          </p:cNvPicPr>
          <p:nvPr/>
        </p:nvPicPr>
        <p:blipFill>
          <a:blip r:embed="rId2"/>
          <a:stretch>
            <a:fillRect/>
          </a:stretch>
        </p:blipFill>
        <p:spPr>
          <a:xfrm>
            <a:off x="775513" y="1684292"/>
            <a:ext cx="6278529" cy="2939143"/>
          </a:xfrm>
          <a:prstGeom prst="rect">
            <a:avLst/>
          </a:prstGeom>
        </p:spPr>
      </p:pic>
      <p:sp>
        <p:nvSpPr>
          <p:cNvPr id="8" name="TextBox 7">
            <a:extLst>
              <a:ext uri="{FF2B5EF4-FFF2-40B4-BE49-F238E27FC236}">
                <a16:creationId xmlns:a16="http://schemas.microsoft.com/office/drawing/2014/main" id="{C6C17E1A-F1E6-5534-8B37-A2485DB51864}"/>
              </a:ext>
            </a:extLst>
          </p:cNvPr>
          <p:cNvSpPr txBox="1"/>
          <p:nvPr/>
        </p:nvSpPr>
        <p:spPr>
          <a:xfrm>
            <a:off x="8173212" y="2160270"/>
            <a:ext cx="3401568" cy="3712029"/>
          </a:xfrm>
          <a:prstGeom prst="rect">
            <a:avLst/>
          </a:prstGeom>
        </p:spPr>
        <p:txBody>
          <a:bodyPr vert="horz" lIns="91440" tIns="45720" rIns="91440" bIns="45720" rtlCol="0">
            <a:normAutofit fontScale="77500" lnSpcReduction="20000"/>
          </a:bodyPr>
          <a:lstStyle/>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300" b="1" dirty="0">
                <a:latin typeface="Times New Roman" panose="02020603050405020304" pitchFamily="18" charset="0"/>
                <a:cs typeface="Times New Roman" panose="02020603050405020304" pitchFamily="18" charset="0"/>
              </a:rPr>
              <a:t>Data Collection</a:t>
            </a:r>
            <a:r>
              <a:rPr lang="en-US" altLang="en-US" sz="2300" dirty="0">
                <a:latin typeface="Times New Roman" panose="02020603050405020304" pitchFamily="18" charset="0"/>
                <a:cs typeface="Times New Roman" panose="02020603050405020304" pitchFamily="18" charset="0"/>
              </a:rPr>
              <a:t>: Gathered student performance data from various datasets, including grades, attendance, and engagement metrics.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300" b="1" dirty="0">
                <a:latin typeface="Times New Roman" panose="02020603050405020304" pitchFamily="18" charset="0"/>
                <a:cs typeface="Times New Roman" panose="02020603050405020304" pitchFamily="18" charset="0"/>
              </a:rPr>
              <a:t>Data Merging</a:t>
            </a:r>
            <a:r>
              <a:rPr lang="en-US" altLang="en-US" sz="2300" dirty="0">
                <a:latin typeface="Times New Roman" panose="02020603050405020304" pitchFamily="18" charset="0"/>
                <a:cs typeface="Times New Roman" panose="02020603050405020304" pitchFamily="18" charset="0"/>
              </a:rPr>
              <a:t>: Merged multiple datasets (academic records, behavioral data) into a unified table for analysis.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300" b="1" dirty="0">
                <a:latin typeface="Times New Roman" panose="02020603050405020304" pitchFamily="18" charset="0"/>
                <a:cs typeface="Times New Roman" panose="02020603050405020304" pitchFamily="18" charset="0"/>
              </a:rPr>
              <a:t>Feature Engineering</a:t>
            </a:r>
            <a:r>
              <a:rPr lang="en-US" altLang="en-US" sz="2300" dirty="0">
                <a:latin typeface="Times New Roman" panose="02020603050405020304" pitchFamily="18" charset="0"/>
                <a:cs typeface="Times New Roman" panose="02020603050405020304" pitchFamily="18" charset="0"/>
              </a:rPr>
              <a:t>: Created new features like pass rate, weighted grade, and total clicks for better prediction.</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300" b="1" dirty="0">
                <a:latin typeface="Times New Roman" panose="02020603050405020304" pitchFamily="18" charset="0"/>
                <a:cs typeface="Times New Roman" panose="02020603050405020304" pitchFamily="18" charset="0"/>
              </a:rPr>
              <a:t>Data Preprocessing</a:t>
            </a:r>
            <a:r>
              <a:rPr lang="en-US" altLang="en-US" sz="2300" dirty="0">
                <a:latin typeface="Times New Roman" panose="02020603050405020304" pitchFamily="18" charset="0"/>
                <a:cs typeface="Times New Roman" panose="02020603050405020304" pitchFamily="18" charset="0"/>
              </a:rPr>
              <a:t>: Cleaned missing values, normalized numerical data, and encoded categorical variables for consistency.</a:t>
            </a:r>
          </a:p>
          <a:p>
            <a:pPr defTabSz="914400">
              <a:lnSpc>
                <a:spcPct val="85000"/>
              </a:lnSpc>
              <a:spcAft>
                <a:spcPts val="600"/>
              </a:spcAft>
              <a:buFont typeface="Arial" pitchFamily="34" charset="0"/>
              <a:buChar char=" "/>
            </a:pPr>
            <a:endParaRPr lang="en-US" sz="1400" dirty="0">
              <a:solidFill>
                <a:srgbClr val="FFFFFF"/>
              </a:solidFill>
            </a:endParaRPr>
          </a:p>
        </p:txBody>
      </p:sp>
    </p:spTree>
    <p:extLst>
      <p:ext uri="{BB962C8B-B14F-4D97-AF65-F5344CB8AC3E}">
        <p14:creationId xmlns:p14="http://schemas.microsoft.com/office/powerpoint/2010/main" val="2556303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45F3637-04C9-4ADB-85C4-905A4AA87AAB}"/>
              </a:ext>
            </a:extLst>
          </p:cNvPr>
          <p:cNvPicPr>
            <a:picLocks noChangeAspect="1"/>
          </p:cNvPicPr>
          <p:nvPr/>
        </p:nvPicPr>
        <p:blipFill>
          <a:blip r:embed="rId2"/>
          <a:stretch>
            <a:fillRect/>
          </a:stretch>
        </p:blipFill>
        <p:spPr>
          <a:xfrm>
            <a:off x="5861283" y="2703513"/>
            <a:ext cx="469433" cy="1450974"/>
          </a:xfrm>
          <a:prstGeom prst="rect">
            <a:avLst/>
          </a:prstGeom>
        </p:spPr>
      </p:pic>
      <p:sp>
        <p:nvSpPr>
          <p:cNvPr id="12" name="TextBox 11">
            <a:extLst>
              <a:ext uri="{FF2B5EF4-FFF2-40B4-BE49-F238E27FC236}">
                <a16:creationId xmlns:a16="http://schemas.microsoft.com/office/drawing/2014/main" id="{85729A2C-10AA-2962-588F-38D05A9EFD79}"/>
              </a:ext>
            </a:extLst>
          </p:cNvPr>
          <p:cNvSpPr txBox="1"/>
          <p:nvPr/>
        </p:nvSpPr>
        <p:spPr>
          <a:xfrm>
            <a:off x="1889463" y="2519982"/>
            <a:ext cx="8413073" cy="707886"/>
          </a:xfrm>
          <a:prstGeom prst="rect">
            <a:avLst/>
          </a:prstGeom>
          <a:noFill/>
        </p:spPr>
        <p:txBody>
          <a:bodyPr wrap="none" rtlCol="0">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METHDOLOGY &amp; MODELS USED</a:t>
            </a:r>
          </a:p>
        </p:txBody>
      </p:sp>
    </p:spTree>
    <p:extLst>
      <p:ext uri="{BB962C8B-B14F-4D97-AF65-F5344CB8AC3E}">
        <p14:creationId xmlns:p14="http://schemas.microsoft.com/office/powerpoint/2010/main" val="1274305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38A14E6-3BCE-182D-653F-8F2E7D396666}"/>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E7CFAA6-1DBB-43B0-BD82-2FB83CF4E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D976B4-EB88-35AD-EA8D-E94D1B5C38A6}"/>
              </a:ext>
            </a:extLst>
          </p:cNvPr>
          <p:cNvSpPr>
            <a:spLocks noGrp="1"/>
          </p:cNvSpPr>
          <p:nvPr>
            <p:ph type="title"/>
          </p:nvPr>
        </p:nvSpPr>
        <p:spPr>
          <a:xfrm>
            <a:off x="706298" y="639763"/>
            <a:ext cx="3997693" cy="5492750"/>
          </a:xfrm>
        </p:spPr>
        <p:txBody>
          <a:bodyPr vert="horz" lIns="91440" tIns="45720" rIns="91440" bIns="45720" rtlCol="0">
            <a:normAutofit/>
          </a:bodyPr>
          <a:lstStyle/>
          <a:p>
            <a:pPr algn="ctr"/>
            <a:r>
              <a:rPr lang="en-US" sz="3200" b="1" dirty="0">
                <a:solidFill>
                  <a:srgbClr val="FFFFFF"/>
                </a:solidFill>
                <a:latin typeface="Times New Roman" panose="02020603050405020304" pitchFamily="18" charset="0"/>
                <a:cs typeface="Times New Roman" panose="02020603050405020304" pitchFamily="18" charset="0"/>
              </a:rPr>
              <a:t>LOGISTIC REGRESSION:</a:t>
            </a:r>
          </a:p>
        </p:txBody>
      </p:sp>
      <p:graphicFrame>
        <p:nvGraphicFramePr>
          <p:cNvPr id="7" name="TextBox 4">
            <a:extLst>
              <a:ext uri="{FF2B5EF4-FFF2-40B4-BE49-F238E27FC236}">
                <a16:creationId xmlns:a16="http://schemas.microsoft.com/office/drawing/2014/main" id="{E36CE2EA-A082-39FA-B057-7AB476546D2B}"/>
              </a:ext>
            </a:extLst>
          </p:cNvPr>
          <p:cNvGraphicFramePr/>
          <p:nvPr>
            <p:extLst>
              <p:ext uri="{D42A27DB-BD31-4B8C-83A1-F6EECF244321}">
                <p14:modId xmlns:p14="http://schemas.microsoft.com/office/powerpoint/2010/main" val="898438550"/>
              </p:ext>
            </p:extLst>
          </p:nvPr>
        </p:nvGraphicFramePr>
        <p:xfrm>
          <a:off x="5288347" y="639763"/>
          <a:ext cx="6254724"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7069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D2BC-5E6A-F9A8-053E-1841E2A4E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0A86E-343A-5713-512C-2609638522CD}"/>
              </a:ext>
            </a:extLst>
          </p:cNvPr>
          <p:cNvSpPr>
            <a:spLocks noGrp="1"/>
          </p:cNvSpPr>
          <p:nvPr>
            <p:ph type="title"/>
          </p:nvPr>
        </p:nvSpPr>
        <p:spPr>
          <a:xfrm>
            <a:off x="596417" y="348342"/>
            <a:ext cx="8478552" cy="533401"/>
          </a:xfrm>
        </p:spPr>
        <p:txBody>
          <a:bodyPr>
            <a:normAutofit/>
          </a:bodyPr>
          <a:lstStyle/>
          <a:p>
            <a:r>
              <a:rPr lang="en-IN" sz="2400" b="1">
                <a:solidFill>
                  <a:schemeClr val="tx1"/>
                </a:solidFill>
                <a:latin typeface="Times New Roman" panose="02020603050405020304" pitchFamily="18" charset="0"/>
                <a:cs typeface="Times New Roman" panose="02020603050405020304" pitchFamily="18" charset="0"/>
              </a:rPr>
              <a:t>LOGISTIC REGRESSION EVALUATION:</a:t>
            </a: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87A617F-D00A-1CCB-AFE3-3F10326E9F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4359" y="1089189"/>
            <a:ext cx="10260530" cy="2339811"/>
          </a:xfrm>
          <a:prstGeom prst="rect">
            <a:avLst/>
          </a:prstGeom>
          <a:noFill/>
        </p:spPr>
      </p:pic>
      <p:graphicFrame>
        <p:nvGraphicFramePr>
          <p:cNvPr id="8" name="TextBox 5">
            <a:extLst>
              <a:ext uri="{FF2B5EF4-FFF2-40B4-BE49-F238E27FC236}">
                <a16:creationId xmlns:a16="http://schemas.microsoft.com/office/drawing/2014/main" id="{70A0F98C-1AEF-2949-34A0-9440E372A151}"/>
              </a:ext>
            </a:extLst>
          </p:cNvPr>
          <p:cNvGraphicFramePr/>
          <p:nvPr>
            <p:extLst>
              <p:ext uri="{D42A27DB-BD31-4B8C-83A1-F6EECF244321}">
                <p14:modId xmlns:p14="http://schemas.microsoft.com/office/powerpoint/2010/main" val="1559926775"/>
              </p:ext>
            </p:extLst>
          </p:nvPr>
        </p:nvGraphicFramePr>
        <p:xfrm>
          <a:off x="596417" y="3748529"/>
          <a:ext cx="10736414" cy="1631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9512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55C8-A394-A02D-3D36-5A03EF0653F0}"/>
              </a:ext>
            </a:extLst>
          </p:cNvPr>
          <p:cNvSpPr>
            <a:spLocks noGrp="1"/>
          </p:cNvSpPr>
          <p:nvPr>
            <p:ph type="title"/>
          </p:nvPr>
        </p:nvSpPr>
        <p:spPr>
          <a:xfrm>
            <a:off x="798375" y="482981"/>
            <a:ext cx="8405879" cy="490717"/>
          </a:xfrm>
        </p:spPr>
        <p:txBody>
          <a:bodyPr>
            <a:normAutofit/>
          </a:bodyPr>
          <a:lstStyle/>
          <a:p>
            <a:r>
              <a:rPr lang="en-US" sz="2400" b="1" dirty="0">
                <a:latin typeface="Times New Roman" panose="02020603050405020304" pitchFamily="18" charset="0"/>
                <a:cs typeface="Times New Roman" panose="02020603050405020304" pitchFamily="18" charset="0"/>
              </a:rPr>
              <a:t>XAI FOR LR:</a:t>
            </a:r>
          </a:p>
        </p:txBody>
      </p:sp>
      <p:pic>
        <p:nvPicPr>
          <p:cNvPr id="4" name="Picture 3">
            <a:extLst>
              <a:ext uri="{FF2B5EF4-FFF2-40B4-BE49-F238E27FC236}">
                <a16:creationId xmlns:a16="http://schemas.microsoft.com/office/drawing/2014/main" id="{32AEB0A6-BC1F-013E-DAEE-78B5A73B6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4146" y="2133199"/>
            <a:ext cx="4410027" cy="3048000"/>
          </a:xfrm>
          <a:prstGeom prst="rect">
            <a:avLst/>
          </a:prstGeom>
        </p:spPr>
      </p:pic>
      <p:pic>
        <p:nvPicPr>
          <p:cNvPr id="5" name="Picture 4">
            <a:extLst>
              <a:ext uri="{FF2B5EF4-FFF2-40B4-BE49-F238E27FC236}">
                <a16:creationId xmlns:a16="http://schemas.microsoft.com/office/drawing/2014/main" id="{722E1F4B-0435-029E-CEF9-AC723BDA6F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375" y="1196626"/>
            <a:ext cx="6705771" cy="2591602"/>
          </a:xfrm>
          <a:prstGeom prst="rect">
            <a:avLst/>
          </a:prstGeom>
        </p:spPr>
      </p:pic>
      <p:sp>
        <p:nvSpPr>
          <p:cNvPr id="6" name="Rectangle 1">
            <a:extLst>
              <a:ext uri="{FF2B5EF4-FFF2-40B4-BE49-F238E27FC236}">
                <a16:creationId xmlns:a16="http://schemas.microsoft.com/office/drawing/2014/main" id="{F1CC3705-101D-9086-61C7-9C7116E8BE0F}"/>
              </a:ext>
            </a:extLst>
          </p:cNvPr>
          <p:cNvSpPr>
            <a:spLocks noChangeArrowheads="1"/>
          </p:cNvSpPr>
          <p:nvPr/>
        </p:nvSpPr>
        <p:spPr bwMode="auto">
          <a:xfrm>
            <a:off x="1107893" y="3403631"/>
            <a:ext cx="6534802"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 graph visualizes feature contributions to predictions.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exam scores correlate with passing success.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Weighted grade positively impacts model's prediction outcome.</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Previous attempts negatively influence student success rates.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Interaction values reveal combined feature effect on predictions. </a:t>
            </a:r>
          </a:p>
        </p:txBody>
      </p:sp>
    </p:spTree>
    <p:extLst>
      <p:ext uri="{BB962C8B-B14F-4D97-AF65-F5344CB8AC3E}">
        <p14:creationId xmlns:p14="http://schemas.microsoft.com/office/powerpoint/2010/main" val="729968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C614E2-D3E6-9CF2-6BDC-8AAEACBA64E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19615-988A-B9A2-C1BB-E68697BF3A67}"/>
              </a:ext>
            </a:extLst>
          </p:cNvPr>
          <p:cNvSpPr>
            <a:spLocks noGrp="1"/>
          </p:cNvSpPr>
          <p:nvPr>
            <p:ph type="title"/>
          </p:nvPr>
        </p:nvSpPr>
        <p:spPr>
          <a:xfrm>
            <a:off x="304800" y="936711"/>
            <a:ext cx="3494314"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RANDOM FOREST:</a:t>
            </a:r>
          </a:p>
        </p:txBody>
      </p:sp>
      <p:sp>
        <p:nvSpPr>
          <p:cNvPr id="5" name="TextBox 4">
            <a:extLst>
              <a:ext uri="{FF2B5EF4-FFF2-40B4-BE49-F238E27FC236}">
                <a16:creationId xmlns:a16="http://schemas.microsoft.com/office/drawing/2014/main" id="{76561B12-57F9-4365-11FB-83A05C8F2A82}"/>
              </a:ext>
            </a:extLst>
          </p:cNvPr>
          <p:cNvSpPr txBox="1"/>
          <p:nvPr/>
        </p:nvSpPr>
        <p:spPr>
          <a:xfrm>
            <a:off x="4614389" y="936711"/>
            <a:ext cx="6478154" cy="4984578"/>
          </a:xfrm>
          <a:prstGeom prst="rect">
            <a:avLst/>
          </a:prstGeom>
        </p:spPr>
        <p:txBody>
          <a:bodyPr vert="horz" lIns="91440" tIns="45720" rIns="91440" bIns="45720" rtlCol="0" anchor="ctr">
            <a:normAutofit/>
          </a:bodyPr>
          <a:lstStyle/>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Predicts student performance using final_result, weighted_grade, and pass_rate.</a:t>
            </a:r>
          </a:p>
          <a:p>
            <a:pPr marL="285750" indent="-28575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Builds several decision trees on random data and merges results by majority voting.</a:t>
            </a:r>
          </a:p>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Handles complex data, gives feature importance, and resists outliers.</a:t>
            </a:r>
          </a:p>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Achieves high accuracy and highlights key factors affecting student outcomes. success.</a:t>
            </a:r>
          </a:p>
        </p:txBody>
      </p:sp>
    </p:spTree>
    <p:extLst>
      <p:ext uri="{BB962C8B-B14F-4D97-AF65-F5344CB8AC3E}">
        <p14:creationId xmlns:p14="http://schemas.microsoft.com/office/powerpoint/2010/main" val="3487378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A03BB-6E33-AB3A-6A02-4DB779325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D9E91-ACF6-AE64-27C4-5FC12D3A7521}"/>
              </a:ext>
            </a:extLst>
          </p:cNvPr>
          <p:cNvSpPr>
            <a:spLocks noGrp="1"/>
          </p:cNvSpPr>
          <p:nvPr>
            <p:ph type="title"/>
          </p:nvPr>
        </p:nvSpPr>
        <p:spPr>
          <a:xfrm>
            <a:off x="859971" y="348342"/>
            <a:ext cx="8214999" cy="555511"/>
          </a:xfrm>
        </p:spPr>
        <p:txBody>
          <a:bodyPr>
            <a:normAutofit/>
          </a:bodyPr>
          <a:lstStyle/>
          <a:p>
            <a:r>
              <a:rPr lang="en-IN" sz="2400" b="1" dirty="0">
                <a:solidFill>
                  <a:schemeClr val="tx1"/>
                </a:solidFill>
                <a:latin typeface="Times New Roman" panose="02020603050405020304" pitchFamily="18" charset="0"/>
                <a:cs typeface="Times New Roman" panose="02020603050405020304" pitchFamily="18" charset="0"/>
              </a:rPr>
              <a:t>RANDOM FOREST EVALUATION:</a:t>
            </a:r>
          </a:p>
        </p:txBody>
      </p:sp>
      <p:pic>
        <p:nvPicPr>
          <p:cNvPr id="4" name="Picture 3">
            <a:extLst>
              <a:ext uri="{FF2B5EF4-FFF2-40B4-BE49-F238E27FC236}">
                <a16:creationId xmlns:a16="http://schemas.microsoft.com/office/drawing/2014/main" id="{F75D8CDB-FFBD-4A27-80E9-1B22073810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1148" y="990939"/>
            <a:ext cx="9538636" cy="2196945"/>
          </a:xfrm>
          <a:prstGeom prst="rect">
            <a:avLst/>
          </a:prstGeom>
          <a:noFill/>
        </p:spPr>
      </p:pic>
      <p:graphicFrame>
        <p:nvGraphicFramePr>
          <p:cNvPr id="8" name="TextBox 5">
            <a:extLst>
              <a:ext uri="{FF2B5EF4-FFF2-40B4-BE49-F238E27FC236}">
                <a16:creationId xmlns:a16="http://schemas.microsoft.com/office/drawing/2014/main" id="{F66422C3-35CB-0CA2-2478-D04C9A645F65}"/>
              </a:ext>
            </a:extLst>
          </p:cNvPr>
          <p:cNvGraphicFramePr/>
          <p:nvPr>
            <p:extLst>
              <p:ext uri="{D42A27DB-BD31-4B8C-83A1-F6EECF244321}">
                <p14:modId xmlns:p14="http://schemas.microsoft.com/office/powerpoint/2010/main" val="1696504875"/>
              </p:ext>
            </p:extLst>
          </p:nvPr>
        </p:nvGraphicFramePr>
        <p:xfrm>
          <a:off x="957657" y="3429000"/>
          <a:ext cx="10276686" cy="25545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8641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6D032-2B66-90E9-CD1F-076B4C4446F9}"/>
              </a:ext>
            </a:extLst>
          </p:cNvPr>
          <p:cNvSpPr>
            <a:spLocks noGrp="1"/>
          </p:cNvSpPr>
          <p:nvPr>
            <p:ph type="title"/>
          </p:nvPr>
        </p:nvSpPr>
        <p:spPr>
          <a:xfrm>
            <a:off x="674913" y="365126"/>
            <a:ext cx="10678888" cy="592818"/>
          </a:xfrm>
        </p:spPr>
        <p:txBody>
          <a:bodyPr>
            <a:normAutofit/>
          </a:bodyPr>
          <a:lstStyle/>
          <a:p>
            <a:r>
              <a:rPr lang="en-US" sz="2400" b="1" dirty="0">
                <a:latin typeface="Times New Roman" panose="02020603050405020304" pitchFamily="18" charset="0"/>
                <a:cs typeface="Times New Roman" panose="02020603050405020304" pitchFamily="18" charset="0"/>
              </a:rPr>
              <a:t>XAI FOR RANDOM FOREST:</a:t>
            </a:r>
          </a:p>
        </p:txBody>
      </p:sp>
      <p:pic>
        <p:nvPicPr>
          <p:cNvPr id="4" name="Picture 3">
            <a:extLst>
              <a:ext uri="{FF2B5EF4-FFF2-40B4-BE49-F238E27FC236}">
                <a16:creationId xmlns:a16="http://schemas.microsoft.com/office/drawing/2014/main" id="{DEDC2BE9-B71D-C65F-BD11-8E56B2F8B0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8485" y="1861457"/>
            <a:ext cx="3701142" cy="3899131"/>
          </a:xfrm>
          <a:prstGeom prst="rect">
            <a:avLst/>
          </a:prstGeom>
        </p:spPr>
      </p:pic>
      <p:pic>
        <p:nvPicPr>
          <p:cNvPr id="5" name="Picture 4">
            <a:extLst>
              <a:ext uri="{FF2B5EF4-FFF2-40B4-BE49-F238E27FC236}">
                <a16:creationId xmlns:a16="http://schemas.microsoft.com/office/drawing/2014/main" id="{578B7B10-69B7-971F-0300-DCC24BF6A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12" y="1548003"/>
            <a:ext cx="6422571" cy="2500345"/>
          </a:xfrm>
          <a:prstGeom prst="rect">
            <a:avLst/>
          </a:prstGeom>
        </p:spPr>
      </p:pic>
      <p:sp>
        <p:nvSpPr>
          <p:cNvPr id="6" name="Rectangle 1">
            <a:extLst>
              <a:ext uri="{FF2B5EF4-FFF2-40B4-BE49-F238E27FC236}">
                <a16:creationId xmlns:a16="http://schemas.microsoft.com/office/drawing/2014/main" id="{AA974B6B-8945-29C7-D451-24D9927FDD12}"/>
              </a:ext>
            </a:extLst>
          </p:cNvPr>
          <p:cNvSpPr>
            <a:spLocks noChangeArrowheads="1"/>
          </p:cNvSpPr>
          <p:nvPr/>
        </p:nvSpPr>
        <p:spPr bwMode="auto">
          <a:xfrm rot="10800000" flipV="1">
            <a:off x="740229" y="4048348"/>
            <a:ext cx="673825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 values show feature contributions to predictions.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LIME approximates model behavior for interpretability.</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exam score indicates likelihood of success.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Weighted grade and pass rate influence outcomes.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LIME highlights influential features for specific predictions. </a:t>
            </a:r>
          </a:p>
        </p:txBody>
      </p:sp>
    </p:spTree>
    <p:extLst>
      <p:ext uri="{BB962C8B-B14F-4D97-AF65-F5344CB8AC3E}">
        <p14:creationId xmlns:p14="http://schemas.microsoft.com/office/powerpoint/2010/main" val="4142522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3B5993-58E1-D4B6-C64E-7314CF2B7ED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4D5B48-3F71-1A48-0CB8-52919255B41F}"/>
              </a:ext>
            </a:extLst>
          </p:cNvPr>
          <p:cNvSpPr>
            <a:spLocks noGrp="1"/>
          </p:cNvSpPr>
          <p:nvPr>
            <p:ph type="title"/>
          </p:nvPr>
        </p:nvSpPr>
        <p:spPr>
          <a:xfrm>
            <a:off x="657224" y="936711"/>
            <a:ext cx="2988265"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LDA</a:t>
            </a:r>
          </a:p>
        </p:txBody>
      </p:sp>
      <p:sp>
        <p:nvSpPr>
          <p:cNvPr id="3" name="Rectangle 1">
            <a:extLst>
              <a:ext uri="{FF2B5EF4-FFF2-40B4-BE49-F238E27FC236}">
                <a16:creationId xmlns:a16="http://schemas.microsoft.com/office/drawing/2014/main" id="{953F21D4-ACA3-1B03-F276-1FCE40B32BF2}"/>
              </a:ext>
            </a:extLst>
          </p:cNvPr>
          <p:cNvSpPr>
            <a:spLocks noChangeArrowheads="1"/>
          </p:cNvSpPr>
          <p:nvPr/>
        </p:nvSpPr>
        <p:spPr bwMode="auto">
          <a:xfrm>
            <a:off x="4614389" y="936711"/>
            <a:ext cx="6815992" cy="49845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algn="just" defTabSz="914400" fontAlgn="base">
              <a:lnSpc>
                <a:spcPct val="85000"/>
              </a:lnSpc>
              <a:spcBef>
                <a:spcPct val="0"/>
              </a:spcBef>
              <a:spcAft>
                <a:spcPts val="600"/>
              </a:spcAft>
              <a:buClrTx/>
              <a:buSzTx/>
              <a:buFont typeface="Arial" pitchFamily="34" charset="0"/>
              <a:buChar char=" "/>
              <a:tabLst/>
            </a:pPr>
            <a:endPar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endParaRP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LDA is a supervised algorithm for classifying linearly separable data across multiple classes. </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Maximizes the ratio of between-class variance to within-class variance for distinct boundaries. </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Assumes Gaussian distribution within each class, unlike ensemble-based methods like Random Forest. </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Analyzes features like grades to classify students as passing or failing effectively. </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Provides interpretable insights by highlighting key features contributing to class separation. </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Ideal for moderately sized datasets with straightforward relationships between predictors and outcomes. </a:t>
            </a:r>
          </a:p>
          <a:p>
            <a:pPr marL="0" marR="0" lvl="0" indent="0" defTabSz="914400" fontAlgn="base">
              <a:lnSpc>
                <a:spcPct val="85000"/>
              </a:lnSpc>
              <a:spcBef>
                <a:spcPct val="0"/>
              </a:spcBef>
              <a:spcAft>
                <a:spcPts val="600"/>
              </a:spcAft>
              <a:buClrTx/>
              <a:buSzTx/>
              <a:buFont typeface="Arial" pitchFamily="34" charset="0"/>
              <a:buChar char=" "/>
              <a:tabLst/>
            </a:pPr>
            <a:endParaRPr kumimoji="0" lang="en-US" altLang="en-US" b="0" i="0" u="none" strike="noStrike" cap="none" normalizeH="0" baseline="0" dirty="0">
              <a:ln>
                <a:noFill/>
              </a:ln>
              <a:solidFill>
                <a:schemeClr val="tx1">
                  <a:lumMod val="85000"/>
                  <a:lumOff val="15000"/>
                </a:schemeClr>
              </a:solidFill>
              <a:effectLst/>
            </a:endParaRPr>
          </a:p>
        </p:txBody>
      </p:sp>
    </p:spTree>
    <p:extLst>
      <p:ext uri="{BB962C8B-B14F-4D97-AF65-F5344CB8AC3E}">
        <p14:creationId xmlns:p14="http://schemas.microsoft.com/office/powerpoint/2010/main" val="1054396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2E895A-E460-2EBD-8843-BED52C1C78D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C832E3-9016-B60A-FD78-6DD7FD06364E}"/>
              </a:ext>
            </a:extLst>
          </p:cNvPr>
          <p:cNvSpPr>
            <a:spLocks noGrp="1"/>
          </p:cNvSpPr>
          <p:nvPr>
            <p:ph type="title"/>
          </p:nvPr>
        </p:nvSpPr>
        <p:spPr>
          <a:xfrm>
            <a:off x="8075241" y="185058"/>
            <a:ext cx="3401568" cy="1244116"/>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LDA EVALUATION:</a:t>
            </a:r>
          </a:p>
        </p:txBody>
      </p:sp>
      <p:pic>
        <p:nvPicPr>
          <p:cNvPr id="3" name="Picture 2">
            <a:extLst>
              <a:ext uri="{FF2B5EF4-FFF2-40B4-BE49-F238E27FC236}">
                <a16:creationId xmlns:a16="http://schemas.microsoft.com/office/drawing/2014/main" id="{ED712FA2-BF91-8932-F18B-2B18BDEAAF8C}"/>
              </a:ext>
            </a:extLst>
          </p:cNvPr>
          <p:cNvPicPr>
            <a:picLocks noChangeAspect="1"/>
          </p:cNvPicPr>
          <p:nvPr/>
        </p:nvPicPr>
        <p:blipFill>
          <a:blip r:embed="rId2"/>
          <a:stretch>
            <a:fillRect/>
          </a:stretch>
        </p:blipFill>
        <p:spPr>
          <a:xfrm>
            <a:off x="283029" y="2419773"/>
            <a:ext cx="6999514" cy="1956284"/>
          </a:xfrm>
          <a:prstGeom prst="rect">
            <a:avLst/>
          </a:prstGeom>
        </p:spPr>
      </p:pic>
      <p:sp>
        <p:nvSpPr>
          <p:cNvPr id="5" name="Rectangle 1">
            <a:extLst>
              <a:ext uri="{FF2B5EF4-FFF2-40B4-BE49-F238E27FC236}">
                <a16:creationId xmlns:a16="http://schemas.microsoft.com/office/drawing/2014/main" id="{D10F169F-B46D-040C-9246-AEE1572EA4B4}"/>
              </a:ext>
            </a:extLst>
          </p:cNvPr>
          <p:cNvSpPr>
            <a:spLocks noChangeArrowheads="1"/>
          </p:cNvSpPr>
          <p:nvPr/>
        </p:nvSpPr>
        <p:spPr bwMode="auto">
          <a:xfrm>
            <a:off x="8173212" y="1614232"/>
            <a:ext cx="3401568" cy="41636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marR="0" lvl="0" indent="0" algn="just" defTabSz="914400" fontAlgn="base">
              <a:lnSpc>
                <a:spcPct val="85000"/>
              </a:lnSpc>
              <a:spcBef>
                <a:spcPct val="0"/>
              </a:spcBef>
              <a:spcAft>
                <a:spcPts val="600"/>
              </a:spcAft>
              <a:buClrTx/>
              <a:buSzTx/>
              <a:buFont typeface="Arial" pitchFamily="34" charset="0"/>
              <a:buChar char=" "/>
              <a:tabLst/>
            </a:pPr>
            <a:endPar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endParaRP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Achieved 87% accuracy with final_result, and a Pass F1-score of 0.91.</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Distinction precision: 0.81, recall: 0.87; Fail precision: 0.74, recall: 0.78.</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Removing final_result improved accuracy to 88%, boosting overall precision and recall.</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Pass category stayed strong (Precision 0.93, Recall 0.90).</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Removing pass_rate kept accuracy at 88%, with minor drop in Distinction results.</a:t>
            </a:r>
            <a:endPar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975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F08B-B1AC-6E88-E489-5EFDB0019DB3}"/>
              </a:ext>
            </a:extLst>
          </p:cNvPr>
          <p:cNvSpPr>
            <a:spLocks noGrp="1"/>
          </p:cNvSpPr>
          <p:nvPr>
            <p:ph type="title"/>
          </p:nvPr>
        </p:nvSpPr>
        <p:spPr>
          <a:xfrm>
            <a:off x="838199" y="365126"/>
            <a:ext cx="10515601" cy="603704"/>
          </a:xfrm>
        </p:spPr>
        <p:txBody>
          <a:bodyPr>
            <a:normAutofit/>
          </a:bodyPr>
          <a:lstStyle/>
          <a:p>
            <a:r>
              <a:rPr lang="en-US" sz="2400" b="1" dirty="0">
                <a:latin typeface="Times New Roman" panose="02020603050405020304" pitchFamily="18" charset="0"/>
                <a:cs typeface="Times New Roman" panose="02020603050405020304" pitchFamily="18" charset="0"/>
              </a:rPr>
              <a:t>XAI FOR LDA:</a:t>
            </a:r>
          </a:p>
        </p:txBody>
      </p:sp>
      <p:pic>
        <p:nvPicPr>
          <p:cNvPr id="4" name="Picture 3">
            <a:extLst>
              <a:ext uri="{FF2B5EF4-FFF2-40B4-BE49-F238E27FC236}">
                <a16:creationId xmlns:a16="http://schemas.microsoft.com/office/drawing/2014/main" id="{4F7CBE64-519F-32CE-B9D7-D7235ADF23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8833" y="1194585"/>
            <a:ext cx="3765833" cy="4320095"/>
          </a:xfrm>
          <a:prstGeom prst="rect">
            <a:avLst/>
          </a:prstGeom>
        </p:spPr>
      </p:pic>
      <p:pic>
        <p:nvPicPr>
          <p:cNvPr id="5" name="Picture 4">
            <a:extLst>
              <a:ext uri="{FF2B5EF4-FFF2-40B4-BE49-F238E27FC236}">
                <a16:creationId xmlns:a16="http://schemas.microsoft.com/office/drawing/2014/main" id="{AE2DC3DA-984A-C8D7-C3C5-1CA00F8DB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490" y="1112485"/>
            <a:ext cx="6516161" cy="2688879"/>
          </a:xfrm>
          <a:prstGeom prst="rect">
            <a:avLst/>
          </a:prstGeom>
        </p:spPr>
      </p:pic>
      <p:sp>
        <p:nvSpPr>
          <p:cNvPr id="6" name="Rectangle 1">
            <a:extLst>
              <a:ext uri="{FF2B5EF4-FFF2-40B4-BE49-F238E27FC236}">
                <a16:creationId xmlns:a16="http://schemas.microsoft.com/office/drawing/2014/main" id="{9BD6D5A6-9571-393E-806F-86190A162AA1}"/>
              </a:ext>
            </a:extLst>
          </p:cNvPr>
          <p:cNvSpPr>
            <a:spLocks noChangeArrowheads="1"/>
          </p:cNvSpPr>
          <p:nvPr/>
        </p:nvSpPr>
        <p:spPr bwMode="auto">
          <a:xfrm rot="10800000" flipV="1">
            <a:off x="838200" y="3945019"/>
            <a:ext cx="6596743"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probability of "Distinction" (92%) predicted.</a:t>
            </a: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exam score and pass rate preferred.</a:t>
            </a: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Lower weighted grade indicates "Fall" outcome.</a:t>
            </a: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values: exam_score = 1.00, weighted_grade = 0.81.</a:t>
            </a: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pPr>
            <a:r>
              <a:rPr lang="en-US" altLang="en-US" dirty="0">
                <a:latin typeface="Times New Roman" panose="02020603050405020304" pitchFamily="18" charset="0"/>
                <a:cs typeface="Times New Roman" panose="02020603050405020304" pitchFamily="18" charset="0"/>
              </a:rPr>
              <a:t>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 model separates classes using feature combinations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40934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1C1055-3D8C-C692-E4E9-72AE36C8C99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D8E977-1FC3-3C9A-507C-B4C9508B2D8B}"/>
              </a:ext>
            </a:extLst>
          </p:cNvPr>
          <p:cNvSpPr>
            <a:spLocks noGrp="1"/>
          </p:cNvSpPr>
          <p:nvPr>
            <p:ph type="title"/>
          </p:nvPr>
        </p:nvSpPr>
        <p:spPr>
          <a:xfrm>
            <a:off x="657224" y="936711"/>
            <a:ext cx="2988265"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XGBOOST</a:t>
            </a:r>
          </a:p>
        </p:txBody>
      </p:sp>
      <p:sp>
        <p:nvSpPr>
          <p:cNvPr id="4" name="Rectangle 1">
            <a:extLst>
              <a:ext uri="{FF2B5EF4-FFF2-40B4-BE49-F238E27FC236}">
                <a16:creationId xmlns:a16="http://schemas.microsoft.com/office/drawing/2014/main" id="{BE21A686-2AF1-319E-24AB-2D7F7B296DFC}"/>
              </a:ext>
            </a:extLst>
          </p:cNvPr>
          <p:cNvSpPr>
            <a:spLocks noChangeArrowheads="1"/>
          </p:cNvSpPr>
          <p:nvPr/>
        </p:nvSpPr>
        <p:spPr bwMode="auto">
          <a:xfrm>
            <a:off x="4614388" y="936711"/>
            <a:ext cx="6920387" cy="49845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285750" marR="0" lvl="0" indent="-285750" algn="just" defTabSz="914400" fontAlgn="base">
              <a:lnSpc>
                <a:spcPct val="85000"/>
              </a:lnSpc>
              <a:spcBef>
                <a:spcPct val="0"/>
              </a:spcBef>
              <a:spcAft>
                <a:spcPts val="600"/>
              </a:spcAft>
              <a:buClrTx/>
              <a:buSzTx/>
              <a:buFont typeface="Arial" pitchFamily="34" charset="0"/>
              <a:buChar char=" "/>
              <a:tabLst/>
            </a:pPr>
            <a:endParaRPr kumimoji="0" lang="en-US" altLang="en-US" b="0" i="0" u="none" strike="noStrike" cap="none" normalizeH="0" baseline="0" dirty="0">
              <a:ln>
                <a:noFill/>
              </a:ln>
              <a:solidFill>
                <a:schemeClr val="tx1">
                  <a:lumMod val="85000"/>
                  <a:lumOff val="15000"/>
                </a:schemeClr>
              </a:solidFill>
              <a:effectLst/>
            </a:endParaRP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Powerful boosting algorithm for high accuracy and efficiency.</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Handles large, complex datasets and missing values well.</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Uses pass_rate, final_result, and weighted_grade to predict outcomes.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Boosts accuracy with regularization, tree pruning, and parallel processing.</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Achieves strong precision, recall, and F1-scores across all categories.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Shows key influencing features and supports fast, reliable predictions.</a:t>
            </a:r>
            <a:endParaRPr kumimoji="0" lang="en-US" altLang="en-US" sz="20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1416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1A103E7-D833-EA09-618C-D5EA6027D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7BB9A-DDE4-6151-A6A6-939B3F063D44}"/>
              </a:ext>
            </a:extLst>
          </p:cNvPr>
          <p:cNvSpPr>
            <a:spLocks noGrp="1"/>
          </p:cNvSpPr>
          <p:nvPr>
            <p:ph type="title"/>
          </p:nvPr>
        </p:nvSpPr>
        <p:spPr>
          <a:xfrm>
            <a:off x="864683" y="378418"/>
            <a:ext cx="8079658" cy="438009"/>
          </a:xfrm>
        </p:spPr>
        <p:txBody>
          <a:bodyPr>
            <a:normAutofit/>
          </a:bodyPr>
          <a:lstStyle/>
          <a:p>
            <a:r>
              <a:rPr lang="en-IN" sz="2400" b="1" dirty="0">
                <a:latin typeface="Times New Roman" panose="02020603050405020304" pitchFamily="18" charset="0"/>
                <a:cs typeface="Times New Roman" panose="02020603050405020304" pitchFamily="18" charset="0"/>
              </a:rPr>
              <a:t>XGBOOST EVALUATION:</a:t>
            </a:r>
          </a:p>
        </p:txBody>
      </p:sp>
      <p:pic>
        <p:nvPicPr>
          <p:cNvPr id="4" name="Picture 3">
            <a:extLst>
              <a:ext uri="{FF2B5EF4-FFF2-40B4-BE49-F238E27FC236}">
                <a16:creationId xmlns:a16="http://schemas.microsoft.com/office/drawing/2014/main" id="{3C3B3973-0523-6CAC-752C-A7381F9345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12" y="975674"/>
            <a:ext cx="9829799" cy="2290512"/>
          </a:xfrm>
          <a:prstGeom prst="rect">
            <a:avLst/>
          </a:prstGeom>
          <a:noFill/>
        </p:spPr>
      </p:pic>
      <p:sp>
        <p:nvSpPr>
          <p:cNvPr id="6" name="Rectangle 1">
            <a:extLst>
              <a:ext uri="{FF2B5EF4-FFF2-40B4-BE49-F238E27FC236}">
                <a16:creationId xmlns:a16="http://schemas.microsoft.com/office/drawing/2014/main" id="{D2C5E6B7-B7BE-86BC-4011-E75A37C93150}"/>
              </a:ext>
            </a:extLst>
          </p:cNvPr>
          <p:cNvSpPr>
            <a:spLocks noChangeArrowheads="1"/>
          </p:cNvSpPr>
          <p:nvPr/>
        </p:nvSpPr>
        <p:spPr bwMode="auto">
          <a:xfrm>
            <a:off x="995312" y="3033546"/>
            <a:ext cx="1096337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model shows strong performance across three test setups.</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First setup: 90% accuracy, with highest precision and recall for Pass (F1 = 0.93).</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Distinction scored precision 0.87, recall 0.80, F1 = 0.84; Fail performed slightly lower.</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Second setup: Accuracy dropped to 88%, mainly due to lower Distinction results.</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Pass and Fail stayed consistent with precision around 0.90 and 0.88.</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Third setup: 89% accuracy with balanced results, showing model robustness.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0943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41247-F520-C6BB-7AF4-35F8BAABB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19603-72EF-5691-945A-C9E3C5AF3F5D}"/>
              </a:ext>
            </a:extLst>
          </p:cNvPr>
          <p:cNvSpPr>
            <a:spLocks noGrp="1"/>
          </p:cNvSpPr>
          <p:nvPr>
            <p:ph type="title"/>
          </p:nvPr>
        </p:nvSpPr>
        <p:spPr>
          <a:xfrm>
            <a:off x="704406" y="204248"/>
            <a:ext cx="8370564" cy="660399"/>
          </a:xfrm>
        </p:spPr>
        <p:txBody>
          <a:bodyPr>
            <a:normAutofit/>
          </a:bodyPr>
          <a:lstStyle/>
          <a:p>
            <a:r>
              <a:rPr lang="en-IN" sz="2400" b="1" dirty="0">
                <a:latin typeface="Times New Roman" panose="02020603050405020304" pitchFamily="18" charset="0"/>
                <a:cs typeface="Times New Roman" panose="02020603050405020304" pitchFamily="18" charset="0"/>
              </a:rPr>
              <a:t>XAI FOR XGBOOST</a:t>
            </a:r>
          </a:p>
        </p:txBody>
      </p:sp>
      <p:pic>
        <p:nvPicPr>
          <p:cNvPr id="3" name="Picture 2">
            <a:extLst>
              <a:ext uri="{FF2B5EF4-FFF2-40B4-BE49-F238E27FC236}">
                <a16:creationId xmlns:a16="http://schemas.microsoft.com/office/drawing/2014/main" id="{6F9D3A14-A59D-80CB-B9FD-C13F82207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0612" y="1259638"/>
            <a:ext cx="4275114" cy="4338724"/>
          </a:xfrm>
          <a:prstGeom prst="rect">
            <a:avLst/>
          </a:prstGeom>
        </p:spPr>
      </p:pic>
      <p:pic>
        <p:nvPicPr>
          <p:cNvPr id="5" name="Picture 4">
            <a:extLst>
              <a:ext uri="{FF2B5EF4-FFF2-40B4-BE49-F238E27FC236}">
                <a16:creationId xmlns:a16="http://schemas.microsoft.com/office/drawing/2014/main" id="{C4D7A91C-83DF-D128-DC01-A19A2934D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405" y="909239"/>
            <a:ext cx="6514645" cy="2519761"/>
          </a:xfrm>
          <a:prstGeom prst="rect">
            <a:avLst/>
          </a:prstGeom>
        </p:spPr>
      </p:pic>
      <p:sp>
        <p:nvSpPr>
          <p:cNvPr id="7" name="Rectangle 1">
            <a:extLst>
              <a:ext uri="{FF2B5EF4-FFF2-40B4-BE49-F238E27FC236}">
                <a16:creationId xmlns:a16="http://schemas.microsoft.com/office/drawing/2014/main" id="{8DA8D880-FF66-C5EA-40C9-6814FCEB8048}"/>
              </a:ext>
            </a:extLst>
          </p:cNvPr>
          <p:cNvSpPr>
            <a:spLocks noChangeArrowheads="1"/>
          </p:cNvSpPr>
          <p:nvPr/>
        </p:nvSpPr>
        <p:spPr bwMode="auto">
          <a:xfrm rot="10800000" flipV="1">
            <a:off x="811441" y="3532807"/>
            <a:ext cx="788395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 values show feature contributions to predictions.</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predicts Class 2 with high certainty.</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exam score and weighted grade influence.</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 rate and sum_click also contribute.</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Thresholds for features guide the prediction outcome. </a:t>
            </a:r>
          </a:p>
        </p:txBody>
      </p:sp>
    </p:spTree>
    <p:extLst>
      <p:ext uri="{BB962C8B-B14F-4D97-AF65-F5344CB8AC3E}">
        <p14:creationId xmlns:p14="http://schemas.microsoft.com/office/powerpoint/2010/main" val="4161389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15FBAC-084C-61E1-B443-659C0607BD3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E09E17-1422-EDF7-3C9F-4D394FBAFA42}"/>
              </a:ext>
            </a:extLst>
          </p:cNvPr>
          <p:cNvSpPr>
            <a:spLocks noGrp="1"/>
          </p:cNvSpPr>
          <p:nvPr>
            <p:ph type="title"/>
          </p:nvPr>
        </p:nvSpPr>
        <p:spPr>
          <a:xfrm>
            <a:off x="657224" y="936711"/>
            <a:ext cx="2988265"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CNN</a:t>
            </a:r>
          </a:p>
        </p:txBody>
      </p:sp>
      <p:sp>
        <p:nvSpPr>
          <p:cNvPr id="3" name="Rectangle 1">
            <a:extLst>
              <a:ext uri="{FF2B5EF4-FFF2-40B4-BE49-F238E27FC236}">
                <a16:creationId xmlns:a16="http://schemas.microsoft.com/office/drawing/2014/main" id="{638427C7-98D3-4ED9-5DFC-4CEC28CB4C51}"/>
              </a:ext>
            </a:extLst>
          </p:cNvPr>
          <p:cNvSpPr>
            <a:spLocks noChangeArrowheads="1"/>
          </p:cNvSpPr>
          <p:nvPr/>
        </p:nvSpPr>
        <p:spPr bwMode="auto">
          <a:xfrm>
            <a:off x="4614389" y="936711"/>
            <a:ext cx="6815992" cy="49845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Used to analyze student performance by detecting complex data patterns.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Combines Distinction and Pass into one class to focus on predicting success or failure.</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Uses convolutional layers to extract trends from weighted_grade and pass_rate.</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Pooling layers reduce data size while preserving key features for better efficiency.</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Fully connected layers produce accurate results, even with noisy data.</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Helps educators identify at-risk students and strengthen learning outcomes.</a:t>
            </a:r>
            <a:endPar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668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ECFB8-266A-DE6A-38C3-434BC1699F42}"/>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702EF3A-A7D3-4C5B-1FBA-11A2C7AA35B0}"/>
              </a:ext>
            </a:extLst>
          </p:cNvPr>
          <p:cNvSpPr/>
          <p:nvPr/>
        </p:nvSpPr>
        <p:spPr>
          <a:xfrm>
            <a:off x="8597245" y="221530"/>
            <a:ext cx="3594755" cy="641494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7FB4D-9410-250F-5C90-6204F64975B9}"/>
              </a:ext>
            </a:extLst>
          </p:cNvPr>
          <p:cNvSpPr>
            <a:spLocks noGrp="1"/>
          </p:cNvSpPr>
          <p:nvPr>
            <p:ph type="title"/>
          </p:nvPr>
        </p:nvSpPr>
        <p:spPr>
          <a:xfrm>
            <a:off x="424544" y="592712"/>
            <a:ext cx="8505996" cy="741336"/>
          </a:xfrm>
        </p:spPr>
        <p:txBody>
          <a:bodyPr>
            <a:normAutofit/>
          </a:bodyPr>
          <a:lstStyle/>
          <a:p>
            <a:r>
              <a:rPr lang="en-IN" sz="2400" b="1" dirty="0">
                <a:latin typeface="Times New Roman" panose="02020603050405020304" pitchFamily="18" charset="0"/>
                <a:cs typeface="Times New Roman" panose="02020603050405020304" pitchFamily="18" charset="0"/>
              </a:rPr>
              <a:t>CNN EVALUATION:</a:t>
            </a:r>
          </a:p>
        </p:txBody>
      </p:sp>
      <p:pic>
        <p:nvPicPr>
          <p:cNvPr id="3" name="Picture 2">
            <a:extLst>
              <a:ext uri="{FF2B5EF4-FFF2-40B4-BE49-F238E27FC236}">
                <a16:creationId xmlns:a16="http://schemas.microsoft.com/office/drawing/2014/main" id="{AEEB4EC7-97C5-BF86-6E47-589F9B67C9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89643" y="1089678"/>
            <a:ext cx="3384550" cy="4193745"/>
          </a:xfrm>
          <a:prstGeom prst="rect">
            <a:avLst/>
          </a:prstGeom>
          <a:noFill/>
          <a:ln>
            <a:noFill/>
          </a:ln>
        </p:spPr>
      </p:pic>
      <p:sp>
        <p:nvSpPr>
          <p:cNvPr id="9" name="Rectangle 1">
            <a:extLst>
              <a:ext uri="{FF2B5EF4-FFF2-40B4-BE49-F238E27FC236}">
                <a16:creationId xmlns:a16="http://schemas.microsoft.com/office/drawing/2014/main" id="{BE70C2E2-0103-092B-3EFB-958EFE0D487C}"/>
              </a:ext>
            </a:extLst>
          </p:cNvPr>
          <p:cNvSpPr>
            <a:spLocks noChangeArrowheads="1"/>
          </p:cNvSpPr>
          <p:nvPr/>
        </p:nvSpPr>
        <p:spPr bwMode="auto">
          <a:xfrm>
            <a:off x="424544" y="1397454"/>
            <a:ext cx="750025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Tested under three setups: with final_result, without final_result, and without pass_rate.</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With final_result: Achieved 93% accuracy. Class 1 (Pass + Distinction) had precision 0.93, recall 0.99, F1 = 0.96, while Class 0 (Fail) had lower recall 0.52.</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Without final_result: Accuracy dropped to 86%; Class 0 performance fell to zero, but Class 1 kept strong recall 1.00 (F1 = 0.93).</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Without pass_rate: Similar 86% accuracy and weak Fail prediction.</a:t>
            </a:r>
          </a:p>
          <a:p>
            <a:pPr marL="285750" lvl="0" indent="-285750" algn="just"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Shows the key role of final_result and pass_rate in keeping balanced, reliable predictions.</a:t>
            </a:r>
            <a:endParaRPr kumimoji="0" lang="en-US" altLang="en-US"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0874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6EA1A26-163F-4F15-91F4-F2C51AC9C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432858-57C2-E32E-9F43-04AD428560BD}"/>
              </a:ext>
            </a:extLst>
          </p:cNvPr>
          <p:cNvSpPr>
            <a:spLocks noGrp="1"/>
          </p:cNvSpPr>
          <p:nvPr>
            <p:ph type="title"/>
          </p:nvPr>
        </p:nvSpPr>
        <p:spPr>
          <a:xfrm>
            <a:off x="8097012" y="-436638"/>
            <a:ext cx="3401568" cy="1920240"/>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XAI FOR CNN</a:t>
            </a:r>
          </a:p>
        </p:txBody>
      </p:sp>
      <p:pic>
        <p:nvPicPr>
          <p:cNvPr id="4" name="Picture 3">
            <a:extLst>
              <a:ext uri="{FF2B5EF4-FFF2-40B4-BE49-F238E27FC236}">
                <a16:creationId xmlns:a16="http://schemas.microsoft.com/office/drawing/2014/main" id="{338073AB-F7CB-4756-DD40-D2EE1AB05727}"/>
              </a:ext>
            </a:extLst>
          </p:cNvPr>
          <p:cNvPicPr>
            <a:picLocks noChangeAspect="1"/>
          </p:cNvPicPr>
          <p:nvPr/>
        </p:nvPicPr>
        <p:blipFill>
          <a:blip r:embed="rId3">
            <a:extLst>
              <a:ext uri="{28A0092B-C50C-407E-A947-70E740481C1C}">
                <a14:useLocalDpi xmlns:a14="http://schemas.microsoft.com/office/drawing/2010/main" val="0"/>
              </a:ext>
            </a:extLst>
          </a:blip>
          <a:srcRect t="15892" r="1" b="1"/>
          <a:stretch>
            <a:fillRect/>
          </a:stretch>
        </p:blipFill>
        <p:spPr>
          <a:xfrm>
            <a:off x="870858" y="1670957"/>
            <a:ext cx="5421086" cy="3516086"/>
          </a:xfrm>
          <a:prstGeom prst="rect">
            <a:avLst/>
          </a:prstGeom>
        </p:spPr>
      </p:pic>
      <p:sp>
        <p:nvSpPr>
          <p:cNvPr id="5" name="Rectangle 1">
            <a:extLst>
              <a:ext uri="{FF2B5EF4-FFF2-40B4-BE49-F238E27FC236}">
                <a16:creationId xmlns:a16="http://schemas.microsoft.com/office/drawing/2014/main" id="{895AFFB5-C3CE-7CB8-F18F-4A3904329477}"/>
              </a:ext>
            </a:extLst>
          </p:cNvPr>
          <p:cNvSpPr>
            <a:spLocks noChangeArrowheads="1"/>
          </p:cNvSpPr>
          <p:nvPr/>
        </p:nvSpPr>
        <p:spPr bwMode="auto">
          <a:xfrm>
            <a:off x="7717971" y="1670957"/>
            <a:ext cx="4321629" cy="41069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lnSpcReduction="10000"/>
          </a:bodyPr>
          <a:lstStyle/>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SHAP values assess feature contributions in CNN model predictions effectively.</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Weighted grade impacts CNN prediction, adjusting the final output.</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Previous attempts may negatively influence the prediction based on SHAP.</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Pass rate shows its influence on the model’s decision-making process.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SHAP interaction values explain how feature combinations affect model predictions.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SHAP value range (-5 to 5) indicates feature contribution strength.</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CNN uses convolutions to process spatial data for prediction insights.</a:t>
            </a:r>
          </a:p>
          <a:p>
            <a:pPr marL="285750" marR="0" lvl="0" indent="-285750" defTabSz="914400" fontAlgn="base">
              <a:lnSpc>
                <a:spcPct val="85000"/>
              </a:lnSpc>
              <a:spcBef>
                <a:spcPct val="0"/>
              </a:spcBef>
              <a:spcAft>
                <a:spcPts val="600"/>
              </a:spcAft>
              <a:buClrTx/>
              <a:buSzTx/>
              <a:buFont typeface="Arial" pitchFamily="34" charset="0"/>
              <a:buChar char=" "/>
              <a:tabLst/>
            </a:pPr>
            <a:endParaRPr kumimoji="0" lang="en-US" altLang="en-US" sz="1300" b="0" i="0" u="none" strike="noStrike" cap="none" normalizeH="0" baseline="0" dirty="0">
              <a:ln>
                <a:noFill/>
              </a:ln>
              <a:solidFill>
                <a:schemeClr val="tx1">
                  <a:lumMod val="85000"/>
                  <a:lumOff val="15000"/>
                </a:schemeClr>
              </a:solidFill>
              <a:effectLst/>
            </a:endParaRPr>
          </a:p>
        </p:txBody>
      </p:sp>
    </p:spTree>
    <p:extLst>
      <p:ext uri="{BB962C8B-B14F-4D97-AF65-F5344CB8AC3E}">
        <p14:creationId xmlns:p14="http://schemas.microsoft.com/office/powerpoint/2010/main" val="2858157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0EBAE0B-DD72-4094-8934-3B46A9142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61F9EF-8737-AEA8-5DFA-18CA80FE59EE}"/>
              </a:ext>
            </a:extLst>
          </p:cNvPr>
          <p:cNvSpPr txBox="1"/>
          <p:nvPr/>
        </p:nvSpPr>
        <p:spPr>
          <a:xfrm>
            <a:off x="704850" y="2564774"/>
            <a:ext cx="10782300" cy="864226"/>
          </a:xfrm>
          <a:prstGeom prst="rect">
            <a:avLst/>
          </a:prstGeom>
        </p:spPr>
        <p:txBody>
          <a:bodyPr vert="horz" lIns="91440" tIns="45720" rIns="91440" bIns="45720" rtlCol="0" anchor="b">
            <a:normAutofit/>
          </a:bodyPr>
          <a:lstStyle/>
          <a:p>
            <a:pPr algn="ctr" defTabSz="914400">
              <a:lnSpc>
                <a:spcPct val="80000"/>
              </a:lnSpc>
              <a:spcBef>
                <a:spcPct val="0"/>
              </a:spcBef>
              <a:spcAft>
                <a:spcPts val="600"/>
              </a:spcAft>
            </a:pPr>
            <a:r>
              <a:rPr lang="en-US" sz="4000" b="1" spc="-120" dirty="0">
                <a:solidFill>
                  <a:srgbClr val="FFFFFF"/>
                </a:solidFill>
                <a:latin typeface="Times New Roman" panose="02020603050405020304" pitchFamily="18" charset="0"/>
                <a:ea typeface="+mj-ea"/>
                <a:cs typeface="Times New Roman" panose="02020603050405020304" pitchFamily="18" charset="0"/>
              </a:rPr>
              <a:t>ADVANCED TECHNIQUES</a:t>
            </a:r>
          </a:p>
        </p:txBody>
      </p:sp>
    </p:spTree>
    <p:extLst>
      <p:ext uri="{BB962C8B-B14F-4D97-AF65-F5344CB8AC3E}">
        <p14:creationId xmlns:p14="http://schemas.microsoft.com/office/powerpoint/2010/main" val="459422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933E2-8D45-9E66-6191-6F3C0C52AE4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2FE83-27C5-B695-0920-2B3E09099B56}"/>
              </a:ext>
            </a:extLst>
          </p:cNvPr>
          <p:cNvSpPr>
            <a:spLocks noGrp="1"/>
          </p:cNvSpPr>
          <p:nvPr>
            <p:ph type="title"/>
          </p:nvPr>
        </p:nvSpPr>
        <p:spPr>
          <a:xfrm>
            <a:off x="657224" y="936711"/>
            <a:ext cx="2988265"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SOCIAL NETWORK ANALYSIS (SNA):</a:t>
            </a:r>
          </a:p>
        </p:txBody>
      </p:sp>
      <p:sp>
        <p:nvSpPr>
          <p:cNvPr id="4" name="Rectangle 1">
            <a:extLst>
              <a:ext uri="{FF2B5EF4-FFF2-40B4-BE49-F238E27FC236}">
                <a16:creationId xmlns:a16="http://schemas.microsoft.com/office/drawing/2014/main" id="{AA2E8B5A-A8A9-D639-4C22-060A355CDC38}"/>
              </a:ext>
            </a:extLst>
          </p:cNvPr>
          <p:cNvSpPr>
            <a:spLocks noChangeArrowheads="1"/>
          </p:cNvSpPr>
          <p:nvPr/>
        </p:nvSpPr>
        <p:spPr bwMode="auto">
          <a:xfrm>
            <a:off x="4614389" y="936711"/>
            <a:ext cx="6815992" cy="49845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Purpose:</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 Understand relationships among individuals, groups, or entities and how they influence behavior and decisions.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Method:</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 Uses data from surveys, social media, or databases analyzed through graph theory, centrality, and community detection.</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Key Measures:</a:t>
            </a:r>
          </a:p>
          <a:p>
            <a:pPr lvl="0" algn="just" defTabSz="914400" fontAlgn="base">
              <a:lnSpc>
                <a:spcPct val="85000"/>
              </a:lnSpc>
              <a:spcBef>
                <a:spcPct val="0"/>
              </a:spcBef>
              <a:spcAft>
                <a:spcPts val="600"/>
              </a:spcAft>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      Degree Centrality : finds highly connected individuals.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Betweenness Centrality : identifies bridge nodes.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Clustering : detects close-knit communities.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Applications: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Organizations: Improve communication and identify leaders.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Public Health: Track disease spread and target interventions.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Marketing: Find key influencers shaping opinions.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Academia: Study social dynamics and network evolution.</a:t>
            </a:r>
          </a:p>
          <a:p>
            <a:pPr marL="285750" marR="0" lvl="0" indent="-285750" defTabSz="914400" fontAlgn="base">
              <a:lnSpc>
                <a:spcPct val="85000"/>
              </a:lnSpc>
              <a:spcBef>
                <a:spcPct val="0"/>
              </a:spcBef>
              <a:spcAft>
                <a:spcPts val="600"/>
              </a:spcAft>
              <a:buClrTx/>
              <a:buSzTx/>
              <a:buFont typeface="Arial" pitchFamily="34" charset="0"/>
              <a:buChar char=" "/>
              <a:tabLst/>
            </a:pPr>
            <a:endParaRPr kumimoji="0" lang="en-US" altLang="en-US" b="0" i="0" u="none" strike="noStrike" cap="none" normalizeH="0" baseline="0" dirty="0">
              <a:ln>
                <a:noFill/>
              </a:ln>
              <a:solidFill>
                <a:schemeClr val="tx1">
                  <a:lumMod val="85000"/>
                  <a:lumOff val="15000"/>
                </a:schemeClr>
              </a:solidFill>
              <a:effectLst/>
            </a:endParaRPr>
          </a:p>
        </p:txBody>
      </p:sp>
    </p:spTree>
    <p:extLst>
      <p:ext uri="{BB962C8B-B14F-4D97-AF65-F5344CB8AC3E}">
        <p14:creationId xmlns:p14="http://schemas.microsoft.com/office/powerpoint/2010/main" val="1432703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C85AC3-A848-A59F-0E0D-F01F1F8E2F5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2A40D-2FFE-FC82-9B74-7B37D8C83558}"/>
              </a:ext>
            </a:extLst>
          </p:cNvPr>
          <p:cNvSpPr>
            <a:spLocks noGrp="1"/>
          </p:cNvSpPr>
          <p:nvPr>
            <p:ph type="title"/>
          </p:nvPr>
        </p:nvSpPr>
        <p:spPr>
          <a:xfrm>
            <a:off x="8156433" y="375409"/>
            <a:ext cx="3401568" cy="892629"/>
          </a:xfrm>
        </p:spPr>
        <p:txBody>
          <a:bodyPr vert="horz" lIns="91440" tIns="45720" rIns="91440" bIns="45720" rtlCol="0" anchor="b">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NETWORK PROPERTIES:</a:t>
            </a:r>
          </a:p>
        </p:txBody>
      </p:sp>
      <p:pic>
        <p:nvPicPr>
          <p:cNvPr id="3" name="Picture 2">
            <a:extLst>
              <a:ext uri="{FF2B5EF4-FFF2-40B4-BE49-F238E27FC236}">
                <a16:creationId xmlns:a16="http://schemas.microsoft.com/office/drawing/2014/main" id="{5BCAC83D-7E9E-5FF0-F5A1-180E183DF627}"/>
              </a:ext>
            </a:extLst>
          </p:cNvPr>
          <p:cNvPicPr>
            <a:picLocks noChangeAspect="1"/>
          </p:cNvPicPr>
          <p:nvPr/>
        </p:nvPicPr>
        <p:blipFill>
          <a:blip r:embed="rId2"/>
          <a:stretch>
            <a:fillRect/>
          </a:stretch>
        </p:blipFill>
        <p:spPr>
          <a:xfrm>
            <a:off x="633999" y="1093867"/>
            <a:ext cx="6278529" cy="4332184"/>
          </a:xfrm>
          <a:prstGeom prst="rect">
            <a:avLst/>
          </a:prstGeom>
        </p:spPr>
      </p:pic>
      <p:sp>
        <p:nvSpPr>
          <p:cNvPr id="4" name="Rectangle 1">
            <a:extLst>
              <a:ext uri="{FF2B5EF4-FFF2-40B4-BE49-F238E27FC236}">
                <a16:creationId xmlns:a16="http://schemas.microsoft.com/office/drawing/2014/main" id="{11D230D8-AD3E-2FE5-BB5A-D10CAE21C66A}"/>
              </a:ext>
            </a:extLst>
          </p:cNvPr>
          <p:cNvSpPr>
            <a:spLocks noChangeArrowheads="1"/>
          </p:cNvSpPr>
          <p:nvPr/>
        </p:nvSpPr>
        <p:spPr bwMode="auto">
          <a:xfrm>
            <a:off x="7750831" y="1643447"/>
            <a:ext cx="4212771" cy="412568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342900" indent="-342900" algn="just"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network contains 965 nodes and 15,259 edges, showing dense connectivity.</a:t>
            </a:r>
          </a:p>
          <a:p>
            <a:pPr marL="342900" indent="-342900" algn="just"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Top 5 nodes by degree centrality: 65002, 268733, 2358969, 52130, 58873 these have high direct connections and strong influence.</a:t>
            </a:r>
          </a:p>
          <a:p>
            <a:pPr marL="342900" indent="-342900" algn="just"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Top 5 nodes by betweenness centrality: 52130, 58873, 65002, 74372, 116692 all have zero values, meaning they don’t act as bridges.</a:t>
            </a:r>
          </a:p>
          <a:p>
            <a:pPr marL="342900" indent="-342900" algn="just" defTabSz="914400">
              <a:lnSpc>
                <a:spcPct val="85000"/>
              </a:lnSpc>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Indicates redundancy in their roles and strong intra-group connections but limited inter-group influence within the network.</a:t>
            </a:r>
            <a:endParaRPr lang="en-US"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963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238930B-FAAC-B1B8-A11E-3BF0B480F35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87AB319-64C0-4E2D-B1CD-0A970301B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DAFA9A5-03CC-4F94-B964-70682CDB0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EA9490-86F9-2469-3D94-B366D80EA189}"/>
              </a:ext>
            </a:extLst>
          </p:cNvPr>
          <p:cNvSpPr>
            <a:spLocks noGrp="1"/>
          </p:cNvSpPr>
          <p:nvPr>
            <p:ph type="title"/>
          </p:nvPr>
        </p:nvSpPr>
        <p:spPr>
          <a:xfrm>
            <a:off x="586003" y="2613002"/>
            <a:ext cx="3467051" cy="694266"/>
          </a:xfrm>
        </p:spPr>
        <p:txBody>
          <a:bodyPr vert="horz" lIns="91440" tIns="45720" rIns="91440" bIns="45720" rtlCol="0" anchor="b">
            <a:normAutofit/>
          </a:bodyPr>
          <a:lstStyle/>
          <a:p>
            <a:pPr algn="ctr">
              <a:lnSpc>
                <a:spcPct val="80000"/>
              </a:lnSpc>
            </a:pPr>
            <a:r>
              <a:rPr lang="en-US" sz="2800" b="1" dirty="0">
                <a:solidFill>
                  <a:srgbClr val="FFFFFF"/>
                </a:solidFill>
                <a:latin typeface="Times New Roman" panose="02020603050405020304" pitchFamily="18" charset="0"/>
                <a:cs typeface="Times New Roman" panose="02020603050405020304" pitchFamily="18" charset="0"/>
              </a:rPr>
              <a:t>COMMUNITY</a:t>
            </a:r>
            <a:endParaRPr lang="en-US" sz="2800" dirty="0">
              <a:solidFill>
                <a:srgbClr val="FFFFFF"/>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3B36B60-731F-409B-A240-BBF521AB7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93F3D4E-2CE0-2DFA-C6B4-8A34F4716EC4}"/>
              </a:ext>
            </a:extLst>
          </p:cNvPr>
          <p:cNvPicPr>
            <a:picLocks noChangeAspect="1"/>
          </p:cNvPicPr>
          <p:nvPr/>
        </p:nvPicPr>
        <p:blipFill>
          <a:blip r:embed="rId2"/>
          <a:stretch>
            <a:fillRect/>
          </a:stretch>
        </p:blipFill>
        <p:spPr>
          <a:xfrm>
            <a:off x="5282520" y="1091064"/>
            <a:ext cx="6266016" cy="4323550"/>
          </a:xfrm>
          <a:prstGeom prst="rect">
            <a:avLst/>
          </a:prstGeom>
        </p:spPr>
      </p:pic>
    </p:spTree>
    <p:extLst>
      <p:ext uri="{BB962C8B-B14F-4D97-AF65-F5344CB8AC3E}">
        <p14:creationId xmlns:p14="http://schemas.microsoft.com/office/powerpoint/2010/main" val="40637039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7224" y="936711"/>
            <a:ext cx="2988265" cy="4984578"/>
          </a:xfrm>
        </p:spPr>
        <p:txBody>
          <a:bodyPr vert="horz" lIns="91440" tIns="45720" rIns="91440" bIns="45720" rtlCol="0" anchor="ctr">
            <a:normAutofit/>
          </a:bodyPr>
          <a:lstStyle/>
          <a:p>
            <a:pPr algn="ctr"/>
            <a:r>
              <a:rPr lang="en-US" sz="2800" b="1" dirty="0">
                <a:solidFill>
                  <a:srgbClr val="FFFFFF"/>
                </a:solidFill>
                <a:latin typeface="Times New Roman" panose="02020603050405020304" pitchFamily="18" charset="0"/>
                <a:cs typeface="Times New Roman" panose="02020603050405020304" pitchFamily="18" charset="0"/>
              </a:rPr>
              <a:t>FEDERATED LEARNING</a:t>
            </a:r>
          </a:p>
        </p:txBody>
      </p:sp>
      <p:sp>
        <p:nvSpPr>
          <p:cNvPr id="4" name="Rectangle 1"/>
          <p:cNvSpPr>
            <a:spLocks noChangeArrowheads="1"/>
          </p:cNvSpPr>
          <p:nvPr/>
        </p:nvSpPr>
        <p:spPr bwMode="auto">
          <a:xfrm>
            <a:off x="4614389" y="936711"/>
            <a:ext cx="6815992" cy="49845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fontScale="92500" lnSpcReduction="20000"/>
          </a:bodyPr>
          <a:lstStyle/>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Definition</a:t>
            </a: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FL is a decentralized machine learning technique where clients collaboratively train a model without sharing raw data.</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Process</a:t>
            </a: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L="800100" lvl="1" indent="-342900" algn="just" defTabSz="914400" fontAlgn="base">
              <a:lnSpc>
                <a:spcPct val="85000"/>
              </a:lnSpc>
              <a:spcBef>
                <a:spcPct val="0"/>
              </a:spcBef>
              <a:spcAft>
                <a:spcPts val="600"/>
              </a:spcAft>
              <a:buFont typeface="Wingdings" panose="05000000000000000000" pitchFamily="2" charset="2"/>
              <a:buChar char="q"/>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Each client updates the model with its local data.</a:t>
            </a:r>
          </a:p>
          <a:p>
            <a:pPr marL="800100" lvl="1" indent="-342900" algn="just" defTabSz="914400" fontAlgn="base">
              <a:lnSpc>
                <a:spcPct val="85000"/>
              </a:lnSpc>
              <a:spcBef>
                <a:spcPct val="0"/>
              </a:spcBef>
              <a:spcAft>
                <a:spcPts val="600"/>
              </a:spcAft>
              <a:buFont typeface="Wingdings" panose="05000000000000000000" pitchFamily="2" charset="2"/>
              <a:buChar char="q"/>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Clients send only updated weights to the central server.</a:t>
            </a:r>
          </a:p>
          <a:p>
            <a:pPr marL="800100" lvl="1" indent="-342900" algn="just" defTabSz="914400" fontAlgn="base">
              <a:lnSpc>
                <a:spcPct val="85000"/>
              </a:lnSpc>
              <a:spcBef>
                <a:spcPct val="0"/>
              </a:spcBef>
              <a:spcAft>
                <a:spcPts val="600"/>
              </a:spcAft>
              <a:buFont typeface="Wingdings" panose="05000000000000000000" pitchFamily="2" charset="2"/>
              <a:buChar char="q"/>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The server aggregates weights (using Federated Averaging) and distributes them back to clients for the next training round.</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Study Setup</a:t>
            </a: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L="800100" lvl="1" indent="-342900" algn="just" defTabSz="914400" fontAlgn="base">
              <a:lnSpc>
                <a:spcPct val="85000"/>
              </a:lnSpc>
              <a:spcBef>
                <a:spcPct val="0"/>
              </a:spcBef>
              <a:spcAft>
                <a:spcPts val="600"/>
              </a:spcAft>
              <a:buFont typeface="Wingdings" panose="05000000000000000000" pitchFamily="2" charset="2"/>
              <a:buChar char="q"/>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Training of a fully connected neural network in a simulated FL environment.</a:t>
            </a:r>
          </a:p>
          <a:p>
            <a:pPr marL="800100" lvl="1" indent="-342900" algn="just" defTabSz="914400" fontAlgn="base">
              <a:lnSpc>
                <a:spcPct val="85000"/>
              </a:lnSpc>
              <a:spcBef>
                <a:spcPct val="0"/>
              </a:spcBef>
              <a:spcAft>
                <a:spcPts val="600"/>
              </a:spcAft>
              <a:buFont typeface="Wingdings" panose="05000000000000000000" pitchFamily="2" charset="2"/>
              <a:buChar char="q"/>
            </a:pP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5 clients involved in local training, with 8 federated rounds of weight aggregation.</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Results</a:t>
            </a: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q"/>
              <a:tabLst/>
            </a:pPr>
            <a:r>
              <a:rPr kumimoji="0" lang="en-US" altLang="en-US" sz="190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Model Performance</a:t>
            </a: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Accuracy ranged from 56% to 83.3% across federated rounds.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sz="1900"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Variability in Accuracy due to</a:t>
            </a:r>
            <a:r>
              <a:rPr kumimoji="0" lang="en-US" altLang="en-US" sz="19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L="800100" marR="0" lvl="1" indent="-342900" algn="just" defTabSz="914400" fontAlgn="base">
              <a:lnSpc>
                <a:spcPct val="85000"/>
              </a:lnSpc>
              <a:spcBef>
                <a:spcPct val="0"/>
              </a:spcBef>
              <a:spcAft>
                <a:spcPts val="600"/>
              </a:spcAft>
              <a:buClrTx/>
              <a:buSzTx/>
              <a:buFont typeface="Wingdings" panose="05000000000000000000" pitchFamily="2" charset="2"/>
              <a:buChar char="q"/>
              <a:tabLst/>
            </a:pPr>
            <a:r>
              <a:rPr kumimoji="0" lang="en-US" altLang="en-US" sz="190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Non-IID data distribution among clients.</a:t>
            </a:r>
          </a:p>
          <a:p>
            <a:pPr marL="800100" marR="0" lvl="1" indent="-342900" algn="just" defTabSz="914400" fontAlgn="base">
              <a:lnSpc>
                <a:spcPct val="85000"/>
              </a:lnSpc>
              <a:spcBef>
                <a:spcPct val="0"/>
              </a:spcBef>
              <a:spcAft>
                <a:spcPts val="600"/>
              </a:spcAft>
              <a:buClrTx/>
              <a:buSzTx/>
              <a:buFont typeface="Wingdings" panose="05000000000000000000" pitchFamily="2" charset="2"/>
              <a:buChar char="q"/>
              <a:tabLst/>
            </a:pPr>
            <a:r>
              <a:rPr kumimoji="0" lang="en-US" altLang="en-US" sz="190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Scarcity of local training data.</a:t>
            </a:r>
          </a:p>
          <a:p>
            <a:pPr marL="800100" marR="0" lvl="1" indent="-342900" algn="just" defTabSz="914400" fontAlgn="base">
              <a:lnSpc>
                <a:spcPct val="85000"/>
              </a:lnSpc>
              <a:spcBef>
                <a:spcPct val="0"/>
              </a:spcBef>
              <a:spcAft>
                <a:spcPts val="600"/>
              </a:spcAft>
              <a:buClrTx/>
              <a:buSzTx/>
              <a:buFont typeface="Wingdings" panose="05000000000000000000" pitchFamily="2" charset="2"/>
              <a:buChar char="q"/>
              <a:tabLst/>
            </a:pPr>
            <a:r>
              <a:rPr kumimoji="0" lang="en-US" altLang="en-US" sz="190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Randomness in parameter initialization.</a:t>
            </a:r>
          </a:p>
          <a:p>
            <a:pPr marL="0" marR="0" lvl="0" indent="0" defTabSz="914400" fontAlgn="base">
              <a:lnSpc>
                <a:spcPct val="85000"/>
              </a:lnSpc>
              <a:spcBef>
                <a:spcPct val="0"/>
              </a:spcBef>
              <a:spcAft>
                <a:spcPts val="600"/>
              </a:spcAft>
              <a:buClrTx/>
              <a:buSzTx/>
              <a:buFont typeface="Arial" pitchFamily="34" charset="0"/>
              <a:buChar char=" "/>
              <a:tabLst/>
            </a:pPr>
            <a:endParaRPr kumimoji="0" lang="en-US" altLang="en-US" sz="1500" b="0" i="0" u="none" strike="noStrike" cap="none" normalizeH="0" baseline="0" dirty="0">
              <a:ln>
                <a:noFill/>
              </a:ln>
              <a:solidFill>
                <a:schemeClr val="tx1">
                  <a:lumMod val="85000"/>
                  <a:lumOff val="15000"/>
                </a:schemeClr>
              </a:solidFill>
              <a:effectLst/>
            </a:endParaRPr>
          </a:p>
        </p:txBody>
      </p:sp>
    </p:spTree>
    <p:extLst>
      <p:ext uri="{BB962C8B-B14F-4D97-AF65-F5344CB8AC3E}">
        <p14:creationId xmlns:p14="http://schemas.microsoft.com/office/powerpoint/2010/main" val="1428822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405399" y="1414206"/>
            <a:ext cx="5690601" cy="4252301"/>
          </a:xfrm>
          <a:prstGeom prst="rect">
            <a:avLst/>
          </a:prstGeom>
        </p:spPr>
      </p:pic>
      <p:sp>
        <p:nvSpPr>
          <p:cNvPr id="5" name="Rectangle 1"/>
          <p:cNvSpPr>
            <a:spLocks noChangeArrowheads="1"/>
          </p:cNvSpPr>
          <p:nvPr/>
        </p:nvSpPr>
        <p:spPr bwMode="auto">
          <a:xfrm>
            <a:off x="6535473" y="1141127"/>
            <a:ext cx="5022528" cy="47984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285750" marR="0" lvl="0" indent="-285750"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Challenges</a:t>
            </a: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R="0" lvl="0" defTabSz="914400" fontAlgn="base">
              <a:lnSpc>
                <a:spcPct val="85000"/>
              </a:lnSpc>
              <a:spcBef>
                <a:spcPct val="0"/>
              </a:spcBef>
              <a:spcAft>
                <a:spcPts val="600"/>
              </a:spcAft>
              <a:buClrTx/>
              <a:buSzTx/>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Slower convergence and less stability compared to centralized training.</a:t>
            </a:r>
          </a:p>
          <a:p>
            <a:pPr marL="285750" marR="0" lvl="0" indent="-285750"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Advantages</a:t>
            </a: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L="0" marR="0" lvl="0" indent="0" defTabSz="914400" fontAlgn="base">
              <a:lnSpc>
                <a:spcPct val="85000"/>
              </a:lnSpc>
              <a:spcBef>
                <a:spcPct val="0"/>
              </a:spcBef>
              <a:spcAft>
                <a:spcPts val="600"/>
              </a:spcAft>
              <a:buClrTx/>
              <a:buSzTx/>
              <a:tabLst/>
            </a:pPr>
            <a:r>
              <a:rPr kumimoji="0" lang="en-US" altLang="en-US"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Privacy-preserving</a:t>
            </a: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model training.</a:t>
            </a:r>
          </a:p>
          <a:p>
            <a:pPr marL="0" marR="0" lvl="0" indent="0" defTabSz="914400" fontAlgn="base">
              <a:lnSpc>
                <a:spcPct val="85000"/>
              </a:lnSpc>
              <a:spcBef>
                <a:spcPct val="0"/>
              </a:spcBef>
              <a:spcAft>
                <a:spcPts val="600"/>
              </a:spcAft>
              <a:buClrTx/>
              <a:buSzTx/>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Enables learning from geographically distributed data without sharing raw data.</a:t>
            </a:r>
          </a:p>
          <a:p>
            <a:pPr marL="285750" marR="0" lvl="0" indent="-285750"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Future Enhancements</a:t>
            </a: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t>
            </a:r>
          </a:p>
          <a:p>
            <a:pPr marL="0" marR="0" lvl="0" indent="0" defTabSz="914400" fontAlgn="base">
              <a:lnSpc>
                <a:spcPct val="85000"/>
              </a:lnSpc>
              <a:spcBef>
                <a:spcPct val="0"/>
              </a:spcBef>
              <a:spcAft>
                <a:spcPts val="600"/>
              </a:spcAft>
              <a:buClrTx/>
              <a:buSzTx/>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High local epochs, learning rate tuning, regularization, and advanced aggregation methods can improve accuracy and convergence.</a:t>
            </a:r>
          </a:p>
          <a:p>
            <a:pPr marL="285750" marR="0" lvl="0" indent="-285750" defTabSz="914400" fontAlgn="base">
              <a:lnSpc>
                <a:spcPct val="85000"/>
              </a:lnSpc>
              <a:spcBef>
                <a:spcPct val="0"/>
              </a:spcBef>
              <a:spcAft>
                <a:spcPts val="600"/>
              </a:spcAft>
              <a:buClrTx/>
              <a:buSzTx/>
              <a:buFont typeface="Wingdings" panose="05000000000000000000" pitchFamily="2" charset="2"/>
              <a:buChar char="Ø"/>
              <a:tabLst/>
            </a:pPr>
            <a:r>
              <a:rPr kumimoji="0" lang="en-US" altLang="en-US" b="1"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Conclusion</a:t>
            </a: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a:t>
            </a:r>
          </a:p>
          <a:p>
            <a:pPr marL="0" marR="0" lvl="0" indent="0" defTabSz="914400" fontAlgn="base">
              <a:lnSpc>
                <a:spcPct val="85000"/>
              </a:lnSpc>
              <a:spcBef>
                <a:spcPct val="0"/>
              </a:spcBef>
              <a:spcAft>
                <a:spcPts val="600"/>
              </a:spcAft>
              <a:buClrTx/>
              <a:buSzTx/>
              <a:tabLst/>
            </a:pPr>
            <a:r>
              <a:rPr kumimoji="0" lang="en-US" altLang="en-US"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FL shows promise for privacy-preserving training in scenarios where centralization of data is challenging. However, there is potential for improving model performance and stability with further refinements.</a:t>
            </a:r>
          </a:p>
        </p:txBody>
      </p:sp>
    </p:spTree>
    <p:extLst>
      <p:ext uri="{BB962C8B-B14F-4D97-AF65-F5344CB8AC3E}">
        <p14:creationId xmlns:p14="http://schemas.microsoft.com/office/powerpoint/2010/main" val="645952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7CEFFDD-605F-41E2-8017-6484074C5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table">
            <a:extLst>
              <a:ext uri="{FF2B5EF4-FFF2-40B4-BE49-F238E27FC236}">
                <a16:creationId xmlns:a16="http://schemas.microsoft.com/office/drawing/2014/main" id="{40C1239C-B200-58BB-4983-F08393334379}"/>
              </a:ext>
            </a:extLst>
          </p:cNvPr>
          <p:cNvPicPr>
            <a:picLocks noChangeAspect="1"/>
          </p:cNvPicPr>
          <p:nvPr/>
        </p:nvPicPr>
        <p:blipFill>
          <a:blip r:embed="rId2"/>
          <a:stretch>
            <a:fillRect/>
          </a:stretch>
        </p:blipFill>
        <p:spPr>
          <a:xfrm>
            <a:off x="228600" y="1447800"/>
            <a:ext cx="7097485" cy="3809999"/>
          </a:xfrm>
          <a:prstGeom prst="rect">
            <a:avLst/>
          </a:prstGeom>
        </p:spPr>
      </p:pic>
      <p:sp>
        <p:nvSpPr>
          <p:cNvPr id="10" name="TextBox 9">
            <a:extLst>
              <a:ext uri="{FF2B5EF4-FFF2-40B4-BE49-F238E27FC236}">
                <a16:creationId xmlns:a16="http://schemas.microsoft.com/office/drawing/2014/main" id="{F510B911-AFE3-ED48-0E2F-9928BFC4BDFF}"/>
              </a:ext>
            </a:extLst>
          </p:cNvPr>
          <p:cNvSpPr txBox="1"/>
          <p:nvPr/>
        </p:nvSpPr>
        <p:spPr>
          <a:xfrm>
            <a:off x="8131629" y="2909630"/>
            <a:ext cx="3831771" cy="1030999"/>
          </a:xfrm>
          <a:prstGeom prst="rect">
            <a:avLst/>
          </a:prstGeom>
        </p:spPr>
        <p:txBody>
          <a:bodyPr vert="horz" lIns="91440" tIns="45720" rIns="91440" bIns="45720" rtlCol="0">
            <a:normAutofit/>
          </a:bodyPr>
          <a:lstStyle/>
          <a:p>
            <a:pPr algn="ctr" defTabSz="914400">
              <a:lnSpc>
                <a:spcPct val="85000"/>
              </a:lnSpc>
              <a:spcAft>
                <a:spcPts val="600"/>
              </a:spcAft>
              <a:buFont typeface="Arial" pitchFamily="34" charset="0"/>
              <a:buChar char=" "/>
            </a:pPr>
            <a:r>
              <a:rPr lang="en-US" sz="2800" b="1" dirty="0">
                <a:solidFill>
                  <a:srgbClr val="FFFFFF"/>
                </a:solidFill>
                <a:latin typeface="Times New Roman" panose="02020603050405020304" pitchFamily="18" charset="0"/>
                <a:cs typeface="Times New Roman" panose="02020603050405020304" pitchFamily="18" charset="0"/>
              </a:rPr>
              <a:t>MODEL COMPARISON</a:t>
            </a:r>
          </a:p>
        </p:txBody>
      </p:sp>
    </p:spTree>
    <p:extLst>
      <p:ext uri="{BB962C8B-B14F-4D97-AF65-F5344CB8AC3E}">
        <p14:creationId xmlns:p14="http://schemas.microsoft.com/office/powerpoint/2010/main" val="26964213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853423C-BFF9-A342-D38E-3330045254E1}"/>
              </a:ext>
            </a:extLst>
          </p:cNvPr>
          <p:cNvSpPr txBox="1"/>
          <p:nvPr/>
        </p:nvSpPr>
        <p:spPr>
          <a:xfrm>
            <a:off x="657224" y="936711"/>
            <a:ext cx="2988265" cy="4984578"/>
          </a:xfrm>
          <a:prstGeom prst="rect">
            <a:avLst/>
          </a:prstGeom>
        </p:spPr>
        <p:txBody>
          <a:bodyPr vert="horz" lIns="91440" tIns="45720" rIns="91440" bIns="45720" rtlCol="0" anchor="ctr">
            <a:normAutofit/>
          </a:bodyPr>
          <a:lstStyle/>
          <a:p>
            <a:pPr algn="ctr" defTabSz="914400">
              <a:lnSpc>
                <a:spcPct val="85000"/>
              </a:lnSpc>
              <a:spcBef>
                <a:spcPct val="0"/>
              </a:spcBef>
              <a:spcAft>
                <a:spcPts val="600"/>
              </a:spcAft>
            </a:pPr>
            <a:r>
              <a:rPr lang="en-US" sz="2800" b="1" spc="-120" dirty="0">
                <a:solidFill>
                  <a:srgbClr val="FFFFFF"/>
                </a:solidFill>
                <a:latin typeface="Times New Roman" panose="02020603050405020304" pitchFamily="18" charset="0"/>
                <a:ea typeface="+mj-ea"/>
                <a:cs typeface="Times New Roman" panose="02020603050405020304" pitchFamily="18" charset="0"/>
              </a:rPr>
              <a:t>MODEL COMPARISON</a:t>
            </a:r>
          </a:p>
        </p:txBody>
      </p:sp>
      <p:sp>
        <p:nvSpPr>
          <p:cNvPr id="5" name="TextBox 4">
            <a:extLst>
              <a:ext uri="{FF2B5EF4-FFF2-40B4-BE49-F238E27FC236}">
                <a16:creationId xmlns:a16="http://schemas.microsoft.com/office/drawing/2014/main" id="{ED00C5C2-BF41-EA00-CFD8-03D5A0F8A4E4}"/>
              </a:ext>
            </a:extLst>
          </p:cNvPr>
          <p:cNvSpPr txBox="1"/>
          <p:nvPr/>
        </p:nvSpPr>
        <p:spPr>
          <a:xfrm>
            <a:off x="4614389" y="936711"/>
            <a:ext cx="6815992" cy="4984578"/>
          </a:xfrm>
          <a:prstGeom prst="rect">
            <a:avLst/>
          </a:prstGeom>
        </p:spPr>
        <p:txBody>
          <a:bodyPr vert="horz" lIns="91440" tIns="45720" rIns="91440" bIns="45720" rtlCol="0" anchor="ctr">
            <a:normAutofit/>
          </a:bodyPr>
          <a:lstStyle/>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Logistic Regression: Simple and interpretable; best for binary outcomes.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Random Forest: Strong accuracy; robust against overfitting and outliers.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XGBoost: High performance; excels with complex, non-linear interactions.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LDA: Best for linearly separable datasets; offers good interpretability.</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CNN: Excellent for complex, noisy data; requires large resources.</a:t>
            </a:r>
          </a:p>
          <a:p>
            <a:pPr marL="342900" marR="0" lvl="0" indent="-342900" algn="just" defTabSz="914400" fontAlgn="base">
              <a:lnSpc>
                <a:spcPct val="85000"/>
              </a:lnSpc>
              <a:spcBef>
                <a:spcPct val="0"/>
              </a:spcBef>
              <a:spcAft>
                <a:spcPts val="600"/>
              </a:spcAft>
              <a:buClrTx/>
              <a:buSzTx/>
              <a:buFont typeface="Wingdings" panose="05000000000000000000" pitchFamily="2" charset="2"/>
              <a:buChar char="Ø"/>
              <a:tabLst/>
            </a:pPr>
            <a:r>
              <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Federated Learning: Prioritizes privacy; decentralized learning but less stable.</a:t>
            </a:r>
          </a:p>
        </p:txBody>
      </p:sp>
    </p:spTree>
    <p:extLst>
      <p:ext uri="{BB962C8B-B14F-4D97-AF65-F5344CB8AC3E}">
        <p14:creationId xmlns:p14="http://schemas.microsoft.com/office/powerpoint/2010/main" val="34265735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8FA52F-675E-4661-BA16-455C939430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A1C69D-913D-1132-6C8B-28C706C655F5}"/>
              </a:ext>
            </a:extLst>
          </p:cNvPr>
          <p:cNvSpPr>
            <a:spLocks noGrp="1"/>
          </p:cNvSpPr>
          <p:nvPr>
            <p:ph type="title"/>
          </p:nvPr>
        </p:nvSpPr>
        <p:spPr>
          <a:xfrm>
            <a:off x="1362456" y="896684"/>
            <a:ext cx="2979252" cy="4979728"/>
          </a:xfrm>
        </p:spPr>
        <p:txBody>
          <a:bodyPr vert="horz" lIns="91440" tIns="45720" rIns="91440" bIns="45720" rtlCol="0" anchor="ctr">
            <a:normAutofit/>
          </a:bodyPr>
          <a:lstStyle/>
          <a:p>
            <a:pPr algn="ctr"/>
            <a:r>
              <a:rPr lang="en-US" sz="2800" b="1" dirty="0">
                <a:latin typeface="Times New Roman" panose="02020603050405020304" pitchFamily="18" charset="0"/>
                <a:cs typeface="Times New Roman" panose="02020603050405020304" pitchFamily="18" charset="0"/>
              </a:rPr>
              <a:t>CONCLUSION</a:t>
            </a:r>
          </a:p>
        </p:txBody>
      </p:sp>
      <p:cxnSp>
        <p:nvCxnSpPr>
          <p:cNvPr id="10" name="Straight Connector 9">
            <a:extLst>
              <a:ext uri="{FF2B5EF4-FFF2-40B4-BE49-F238E27FC236}">
                <a16:creationId xmlns:a16="http://schemas.microsoft.com/office/drawing/2014/main" id="{07BC4E14-913C-46C0-ABF7-BDDAEC08A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3440" y="2071116"/>
            <a:ext cx="0" cy="2715768"/>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985172" y="896684"/>
            <a:ext cx="5484707" cy="5064633"/>
          </a:xfrm>
          <a:prstGeom prst="rect">
            <a:avLst/>
          </a:prstGeom>
        </p:spPr>
        <p:txBody>
          <a:bodyPr vert="horz" lIns="91440" tIns="45720" rIns="91440" bIns="45720" rtlCol="0" anchor="ctr">
            <a:normAutofit/>
          </a:bodyPr>
          <a:lstStyle/>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The study explored multiple ML models for predicting student performance with focus on accuracy, interpretability, and privacy.</a:t>
            </a:r>
          </a:p>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CNN achieved the highest accuracy (93%), handling complex interactions between weighted grade and pass rate.</a:t>
            </a:r>
          </a:p>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Federated Learning (FL) offered strong data privacy, enabling collaboration without sharing sensitive information.</a:t>
            </a:r>
          </a:p>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Logistic Regression, Random Forest, CNN, XGBoost, and LDA each showed unique strengths in handling different data types.</a:t>
            </a:r>
          </a:p>
          <a:p>
            <a:pPr marL="342900" indent="-342900" algn="just" defTabSz="914400">
              <a:lnSpc>
                <a:spcPct val="85000"/>
              </a:lnSpc>
              <a:spcAft>
                <a:spcPts val="600"/>
              </a:spcAft>
              <a:buFont typeface="Wingdings" panose="05000000000000000000" pitchFamily="2" charset="2"/>
              <a:buChar char="Ø"/>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Overall, CNN was the most accurate, while Federated Learning proved ideal for balancing privacy and performance in educational systems.</a:t>
            </a:r>
          </a:p>
        </p:txBody>
      </p:sp>
    </p:spTree>
    <p:extLst>
      <p:ext uri="{BB962C8B-B14F-4D97-AF65-F5344CB8AC3E}">
        <p14:creationId xmlns:p14="http://schemas.microsoft.com/office/powerpoint/2010/main" val="3304853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8FA52F-675E-4661-BA16-455C939430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679085-6726-98DA-56D4-290B611DD6B0}"/>
              </a:ext>
            </a:extLst>
          </p:cNvPr>
          <p:cNvSpPr>
            <a:spLocks noGrp="1"/>
          </p:cNvSpPr>
          <p:nvPr>
            <p:ph type="title"/>
          </p:nvPr>
        </p:nvSpPr>
        <p:spPr>
          <a:xfrm>
            <a:off x="1362456" y="896684"/>
            <a:ext cx="2979252" cy="4979728"/>
          </a:xfrm>
        </p:spPr>
        <p:txBody>
          <a:bodyPr vert="horz" lIns="91440" tIns="45720" rIns="91440" bIns="45720" rtlCol="0" anchor="ctr">
            <a:normAutofit/>
          </a:bodyPr>
          <a:lstStyle/>
          <a:p>
            <a:pPr algn="ctr"/>
            <a:r>
              <a:rPr lang="en-US" sz="2800" b="1" dirty="0">
                <a:latin typeface="Times New Roman" panose="02020603050405020304" pitchFamily="18" charset="0"/>
                <a:cs typeface="Times New Roman" panose="02020603050405020304" pitchFamily="18" charset="0"/>
              </a:rPr>
              <a:t>FUTURE SCOPE</a:t>
            </a:r>
          </a:p>
        </p:txBody>
      </p:sp>
      <p:cxnSp>
        <p:nvCxnSpPr>
          <p:cNvPr id="10" name="Straight Connector 9">
            <a:extLst>
              <a:ext uri="{FF2B5EF4-FFF2-40B4-BE49-F238E27FC236}">
                <a16:creationId xmlns:a16="http://schemas.microsoft.com/office/drawing/2014/main" id="{07BC4E14-913C-46C0-ABF7-BDDAEC08A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3440" y="2071116"/>
            <a:ext cx="0" cy="2715768"/>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 name="Rectangle 1"/>
          <p:cNvSpPr>
            <a:spLocks noChangeArrowheads="1"/>
          </p:cNvSpPr>
          <p:nvPr/>
        </p:nvSpPr>
        <p:spPr bwMode="auto">
          <a:xfrm>
            <a:off x="4985172" y="896684"/>
            <a:ext cx="5484707" cy="50646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Enhancing Privacy: </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Combine Differential Privacy and Secure Multi-Party Computation (SMPC) with Federated Learning to protect data while keeping model performance strong.</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Expanding Predictive Models: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Predict dropout rates for early student support.</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Create individual learning plans through analytics.</a:t>
            </a:r>
          </a:p>
          <a:p>
            <a:pPr marL="342900" lvl="0" indent="-342900" algn="just" defTabSz="914400" fontAlgn="base">
              <a:lnSpc>
                <a:spcPct val="85000"/>
              </a:lnSpc>
              <a:spcBef>
                <a:spcPct val="0"/>
              </a:spcBef>
              <a:spcAft>
                <a:spcPts val="600"/>
              </a:spcAft>
              <a:buFont typeface="Arial" pitchFamily="34" charset="0"/>
              <a:buChar char=" "/>
            </a:pP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Forecast student engagement to improve teaching.</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Advanced Techniques: </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Use Transformer Models and Reinforcement Learning (RL) for smarter, personalized predictions.</a:t>
            </a:r>
          </a:p>
          <a:p>
            <a:pPr marL="342900" lvl="0" indent="-342900" algn="just" defTabSz="914400" fontAlgn="base">
              <a:lnSpc>
                <a:spcPct val="85000"/>
              </a:lnSpc>
              <a:spcBef>
                <a:spcPct val="0"/>
              </a:spcBef>
              <a:spcAft>
                <a:spcPts val="600"/>
              </a:spcAft>
              <a:buFont typeface="Wingdings" panose="05000000000000000000" pitchFamily="2" charset="2"/>
              <a:buChar char="Ø"/>
            </a:pPr>
            <a:r>
              <a:rPr lang="en-US" altLang="en-US" b="1" dirty="0">
                <a:solidFill>
                  <a:schemeClr val="tx1">
                    <a:lumMod val="85000"/>
                    <a:lumOff val="15000"/>
                  </a:schemeClr>
                </a:solidFill>
                <a:latin typeface="Times New Roman" panose="02020603050405020304" pitchFamily="18" charset="0"/>
                <a:cs typeface="Times New Roman" panose="02020603050405020304" pitchFamily="18" charset="0"/>
              </a:rPr>
              <a:t>Privacy-Preserving Integration: </a:t>
            </a:r>
            <a:r>
              <a:rPr lang="en-US" altLang="en-US" dirty="0">
                <a:solidFill>
                  <a:schemeClr val="tx1">
                    <a:lumMod val="85000"/>
                    <a:lumOff val="15000"/>
                  </a:schemeClr>
                </a:solidFill>
                <a:latin typeface="Times New Roman" panose="02020603050405020304" pitchFamily="18" charset="0"/>
                <a:cs typeface="Times New Roman" panose="02020603050405020304" pitchFamily="18" charset="0"/>
              </a:rPr>
              <a:t>Improve Federated Learning with Deep Learning to achieve high accuracy while ensuring privacy and adaptability.</a:t>
            </a:r>
            <a:endParaRPr kumimoji="0" lang="en-US" altLang="en-US"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11812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E2FE3A7B-DDFF-4F81-8AAE-11D96D138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9825ADD-F95C-4747-9B41-5DB21C28E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7" y="643467"/>
            <a:ext cx="10905065" cy="5571066"/>
          </a:xfrm>
          <a:prstGeom prst="rect">
            <a:avLst/>
          </a:prstGeom>
          <a:noFill/>
          <a:ln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791A8E-B2BA-467D-BB87-8CFBFB13A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900" y="726948"/>
            <a:ext cx="10744200" cy="5404104"/>
          </a:xfrm>
          <a:prstGeom prst="rect">
            <a:avLst/>
          </a:prstGeom>
          <a:noFill/>
          <a:ln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9E31AAF-7D84-A1F5-D032-22685DEBF739}"/>
              </a:ext>
            </a:extLst>
          </p:cNvPr>
          <p:cNvSpPr txBox="1"/>
          <p:nvPr/>
        </p:nvSpPr>
        <p:spPr>
          <a:xfrm>
            <a:off x="1286503" y="1285196"/>
            <a:ext cx="9607160" cy="2779429"/>
          </a:xfrm>
          <a:prstGeom prst="rect">
            <a:avLst/>
          </a:prstGeom>
        </p:spPr>
        <p:txBody>
          <a:bodyPr vert="horz" lIns="91440" tIns="45720" rIns="91440" bIns="45720" rtlCol="0" anchor="b">
            <a:normAutofit/>
          </a:bodyPr>
          <a:lstStyle/>
          <a:p>
            <a:pPr algn="ctr" defTabSz="914400">
              <a:lnSpc>
                <a:spcPct val="80000"/>
              </a:lnSpc>
              <a:spcBef>
                <a:spcPct val="0"/>
              </a:spcBef>
              <a:spcAft>
                <a:spcPts val="600"/>
              </a:spcAft>
            </a:pPr>
            <a:r>
              <a:rPr lang="en-US" sz="4400" spc="-120" dirty="0">
                <a:solidFill>
                  <a:srgbClr val="FFFFFF"/>
                </a:solidFill>
                <a:latin typeface="Times New Roman" panose="02020603050405020304" pitchFamily="18" charset="0"/>
                <a:ea typeface="+mj-ea"/>
                <a:cs typeface="Times New Roman" panose="02020603050405020304" pitchFamily="18" charset="0"/>
              </a:rPr>
              <a:t>THANK YOU</a:t>
            </a:r>
          </a:p>
        </p:txBody>
      </p:sp>
    </p:spTree>
    <p:extLst>
      <p:ext uri="{BB962C8B-B14F-4D97-AF65-F5344CB8AC3E}">
        <p14:creationId xmlns:p14="http://schemas.microsoft.com/office/powerpoint/2010/main" val="127681030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12797</TotalTime>
  <Words>3028</Words>
  <Application>Microsoft Office PowerPoint</Application>
  <PresentationFormat>Widescreen</PresentationFormat>
  <Paragraphs>295</Paragraphs>
  <Slides>48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Times New Roman</vt:lpstr>
      <vt:lpstr>Wingdings</vt:lpstr>
      <vt:lpstr>Metropolitan</vt:lpstr>
      <vt:lpstr>ENHANCING EDUCATION THROUGH PREDICTIVE ANALYTICS: A STUDY ON STUDENT PERFORMANCE PREDICTION</vt:lpstr>
      <vt:lpstr>PowerPoint Presentation</vt:lpstr>
      <vt:lpstr>PowerPoint Presentation</vt:lpstr>
      <vt:lpstr>PowerPoint Presentation</vt:lpstr>
      <vt:lpstr>PROBLEM STATEMENT:</vt:lpstr>
      <vt:lpstr>OBJECTIVES:</vt:lpstr>
      <vt:lpstr>SCOPE:</vt:lpstr>
      <vt:lpstr>PROPOSED PROCESS:</vt:lpstr>
      <vt:lpstr>PowerPoint Presentation</vt:lpstr>
      <vt:lpstr>DATA DESCRIPTION:</vt:lpstr>
      <vt:lpstr>FEATURE DESCRIPTION:</vt:lpstr>
      <vt:lpstr>INFORMATION OF DATASET: </vt:lpstr>
      <vt:lpstr>STATISTICAL DESCRIPTION:</vt:lpstr>
      <vt:lpstr>PowerPoint Presentation</vt:lpstr>
      <vt:lpstr>GENDER DISTRIBUTION:</vt:lpstr>
      <vt:lpstr>DISTRIBUTION OF FINAL RESULT:</vt:lpstr>
      <vt:lpstr>MISSING VALUE INSPECTION:</vt:lpstr>
      <vt:lpstr>DISTRIBUTION OF HIGHEST EDUCATION:</vt:lpstr>
      <vt:lpstr>FINAL RESULT VS GENDER COMPARISON:</vt:lpstr>
      <vt:lpstr>FINAL RESULT VS REGION COMPARISON:</vt:lpstr>
      <vt:lpstr>PowerPoint Presentation</vt:lpstr>
      <vt:lpstr>PowerPoint Presentation</vt:lpstr>
      <vt:lpstr>LOGISTIC REGRESSION:</vt:lpstr>
      <vt:lpstr>LOGISTIC REGRESSION EVALUATION:</vt:lpstr>
      <vt:lpstr>XAI FOR LR:</vt:lpstr>
      <vt:lpstr>RANDOM FOREST:</vt:lpstr>
      <vt:lpstr>RANDOM FOREST EVALUATION:</vt:lpstr>
      <vt:lpstr>XAI FOR RANDOM FOREST:</vt:lpstr>
      <vt:lpstr>LDA</vt:lpstr>
      <vt:lpstr>LDA EVALUATION:</vt:lpstr>
      <vt:lpstr>XAI FOR LDA:</vt:lpstr>
      <vt:lpstr>XGBOOST</vt:lpstr>
      <vt:lpstr>XGBOOST EVALUATION:</vt:lpstr>
      <vt:lpstr>XAI FOR XGBOOST</vt:lpstr>
      <vt:lpstr>CNN</vt:lpstr>
      <vt:lpstr>CNN EVALUATION:</vt:lpstr>
      <vt:lpstr>XAI FOR CNN</vt:lpstr>
      <vt:lpstr>PowerPoint Presentation</vt:lpstr>
      <vt:lpstr>SOCIAL NETWORK ANALYSIS (SNA):</vt:lpstr>
      <vt:lpstr>NETWORK PROPERTIES:</vt:lpstr>
      <vt:lpstr>COMMUNITY</vt:lpstr>
      <vt:lpstr>FEDERATED LEARNING</vt:lpstr>
      <vt:lpstr>PowerPoint Presentation</vt:lpstr>
      <vt:lpstr>PowerPoint Presentation</vt:lpstr>
      <vt:lpstr>PowerPoint Presentation</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Leveraging Predictive Analytics and Social Network Analysis for Enhanced Student Performance in Education</dc:title>
  <dc:creator>Balaram Panigrahy</dc:creator>
  <cp:lastModifiedBy>Bethina, Sandya</cp:lastModifiedBy>
  <cp:revision>32</cp:revision>
  <dcterms:created xsi:type="dcterms:W3CDTF">2024-10-17T06:32:38Z</dcterms:created>
  <dcterms:modified xsi:type="dcterms:W3CDTF">2025-11-27T22:14:19Z</dcterms:modified>
</cp:coreProperties>
</file>